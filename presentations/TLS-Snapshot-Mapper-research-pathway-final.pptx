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109702ddcc413c" /><Relationship Type="http://schemas.openxmlformats.org/officeDocument/2006/relationships/extended-properties" Target="/docProps/app.xml" Id="R9ae215171abb409f" /><Relationship Type="http://schemas.openxmlformats.org/officeDocument/2006/relationships/officeDocument" Target="/ppt/presentation.xml" Id="R0b6f157beb654f0a" /></Relationships>
</file>

<file path=ppt/presentation.xml><?xml version="1.0" encoding="utf-8"?>
<p:presentation xmlns:p="http://schemas.openxmlformats.org/presentationml/2006/main">
  <p:sldMasterIdLst>
    <p:sldMasterId xmlns:r="http://schemas.openxmlformats.org/officeDocument/2006/relationships" id="2147483648" r:id="R17bc67437c3842cc"/>
  </p:sldMasterIdLst>
  <p:notesMasterIdLst>
    <p:notesMasterId xmlns:r="http://schemas.openxmlformats.org/officeDocument/2006/relationships" r:id="Rb6d8760b956c4ade"/>
  </p:notesMasterIdLst>
  <p:sldIdLst>
    <p:sldId xmlns:r="http://schemas.openxmlformats.org/officeDocument/2006/relationships" id="256" r:id="R07b8307b3817485c"/>
    <p:sldId xmlns:r="http://schemas.openxmlformats.org/officeDocument/2006/relationships" id="257" r:id="R95406497a3094018"/>
    <p:sldId xmlns:r="http://schemas.openxmlformats.org/officeDocument/2006/relationships" id="258" r:id="R895143f30832411b"/>
    <p:sldId xmlns:r="http://schemas.openxmlformats.org/officeDocument/2006/relationships" id="259" r:id="Rfe7c6f63ca08420a"/>
    <p:sldId xmlns:r="http://schemas.openxmlformats.org/officeDocument/2006/relationships" id="260" r:id="Re1ca4891c53a47f6"/>
    <p:sldId xmlns:r="http://schemas.openxmlformats.org/officeDocument/2006/relationships" id="261" r:id="R47fe6bd1d53b4a5d"/>
    <p:sldId xmlns:r="http://schemas.openxmlformats.org/officeDocument/2006/relationships" id="262" r:id="R1a51416946ed47c1"/>
    <p:sldId xmlns:r="http://schemas.openxmlformats.org/officeDocument/2006/relationships" id="263" r:id="Rc9398777ac4844ab"/>
    <p:sldId xmlns:r="http://schemas.openxmlformats.org/officeDocument/2006/relationships" id="264" r:id="Rb645fbb8aa454ae8"/>
    <p:sldId xmlns:r="http://schemas.openxmlformats.org/officeDocument/2006/relationships" id="265" r:id="R766f0f03e4814e06"/>
    <p:sldId xmlns:r="http://schemas.openxmlformats.org/officeDocument/2006/relationships" id="266" r:id="Racc906614c214ca7"/>
    <p:sldId xmlns:r="http://schemas.openxmlformats.org/officeDocument/2006/relationships" id="267" r:id="R9ce25eca3ca8411f"/>
    <p:sldId xmlns:r="http://schemas.openxmlformats.org/officeDocument/2006/relationships" id="268" r:id="R6a6a31c2edf840d7"/>
    <p:sldId xmlns:r="http://schemas.openxmlformats.org/officeDocument/2006/relationships" id="269" r:id="R51e41d95ea544e5d"/>
    <p:sldId xmlns:r="http://schemas.openxmlformats.org/officeDocument/2006/relationships" id="270" r:id="Rdf775abe6c4041c6"/>
    <p:sldId xmlns:r="http://schemas.openxmlformats.org/officeDocument/2006/relationships" id="271" r:id="Rf95fcfa6581c4035"/>
    <p:sldId xmlns:r="http://schemas.openxmlformats.org/officeDocument/2006/relationships" id="272" r:id="R54e1afc4d18d4c49"/>
    <p:sldId xmlns:r="http://schemas.openxmlformats.org/officeDocument/2006/relationships" id="273" r:id="Rd53cb1dc11e544fa"/>
    <p:sldId xmlns:r="http://schemas.openxmlformats.org/officeDocument/2006/relationships" id="274" r:id="Rd7faadf8f2d94f31"/>
    <p:sldId xmlns:r="http://schemas.openxmlformats.org/officeDocument/2006/relationships" id="275" r:id="R915c49d227424fdc"/>
    <p:sldId xmlns:r="http://schemas.openxmlformats.org/officeDocument/2006/relationships" id="276" r:id="R36d73eb739b44479"/>
    <p:sldId xmlns:r="http://schemas.openxmlformats.org/officeDocument/2006/relationships" id="277" r:id="R0ce10a1389984bf5"/>
    <p:sldId xmlns:r="http://schemas.openxmlformats.org/officeDocument/2006/relationships" id="278" r:id="Rdaea42e57c184ccc"/>
    <p:sldId xmlns:r="http://schemas.openxmlformats.org/officeDocument/2006/relationships" id="279" r:id="R9cb839bc22604fc3"/>
    <p:sldId xmlns:r="http://schemas.openxmlformats.org/officeDocument/2006/relationships" id="280" r:id="Ra59dc3df85d74a8e"/>
    <p:sldId xmlns:r="http://schemas.openxmlformats.org/officeDocument/2006/relationships" id="281" r:id="R75c98946844148e2"/>
    <p:sldId xmlns:r="http://schemas.openxmlformats.org/officeDocument/2006/relationships" id="282" r:id="R09c1a0bbb6dc4435"/>
    <p:sldId xmlns:r="http://schemas.openxmlformats.org/officeDocument/2006/relationships" id="283" r:id="Rd42d50556dd14f14"/>
    <p:sldId xmlns:r="http://schemas.openxmlformats.org/officeDocument/2006/relationships" id="284" r:id="Rbd5f2df89bb54ee5"/>
    <p:sldId xmlns:r="http://schemas.openxmlformats.org/officeDocument/2006/relationships" id="285" r:id="R54e25b0d19b04de4"/>
    <p:sldId xmlns:r="http://schemas.openxmlformats.org/officeDocument/2006/relationships" id="286" r:id="Rce0e9bf55b4b4ae4"/>
    <p:sldId xmlns:r="http://schemas.openxmlformats.org/officeDocument/2006/relationships" id="287" r:id="R2c7cc211abae4105"/>
    <p:sldId xmlns:r="http://schemas.openxmlformats.org/officeDocument/2006/relationships" id="288" r:id="Rf22c46d66dba455d"/>
    <p:sldId xmlns:r="http://schemas.openxmlformats.org/officeDocument/2006/relationships" id="289" r:id="R7f6b5fb582384e68"/>
    <p:sldId xmlns:r="http://schemas.openxmlformats.org/officeDocument/2006/relationships" id="290" r:id="R72de5922ff394c44"/>
    <p:sldId xmlns:r="http://schemas.openxmlformats.org/officeDocument/2006/relationships" id="291" r:id="R8b893acbe8cf4814"/>
    <p:sldId xmlns:r="http://schemas.openxmlformats.org/officeDocument/2006/relationships" id="292" r:id="R974c4e9cbe00489e"/>
    <p:sldId xmlns:r="http://schemas.openxmlformats.org/officeDocument/2006/relationships" id="293" r:id="Rde60d5bfa8234318"/>
    <p:sldId xmlns:r="http://schemas.openxmlformats.org/officeDocument/2006/relationships" id="294" r:id="Rd651a82e1b6f4cef"/>
    <p:sldId xmlns:r="http://schemas.openxmlformats.org/officeDocument/2006/relationships" id="295" r:id="R9aeb83f89a854b96"/>
    <p:sldId xmlns:r="http://schemas.openxmlformats.org/officeDocument/2006/relationships" id="296" r:id="Rd0d7d1492c774312"/>
    <p:sldId xmlns:r="http://schemas.openxmlformats.org/officeDocument/2006/relationships" id="297" r:id="Ra83d10d652cc40e9"/>
    <p:sldId xmlns:r="http://schemas.openxmlformats.org/officeDocument/2006/relationships" id="298" r:id="R3cda5234997e45f7"/>
    <p:sldId xmlns:r="http://schemas.openxmlformats.org/officeDocument/2006/relationships" id="299" r:id="R3a3675ea96884f59"/>
    <p:sldId xmlns:r="http://schemas.openxmlformats.org/officeDocument/2006/relationships" id="300" r:id="Rbdaf06884cc949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3352a97bb448e8" /><Relationship Type="http://schemas.openxmlformats.org/officeDocument/2006/relationships/slideMaster" Target="/ppt/slideMasters/slideMaster1.xml" Id="R17bc67437c3842cc" /><Relationship Type="http://schemas.openxmlformats.org/officeDocument/2006/relationships/notesMaster" Target="/ppt/notesMasters/notesMaster1.xml" Id="Rb6d8760b956c4ade" /><Relationship Type="http://schemas.openxmlformats.org/officeDocument/2006/relationships/presProps" Target="/ppt/presProps.xml" Id="Raaecf8f3a84b4e9a" /><Relationship Type="http://schemas.openxmlformats.org/officeDocument/2006/relationships/tableStyles" Target="/ppt/tableStyles.xml" Id="R6b6022b4f9d84729" /><Relationship Type="http://schemas.openxmlformats.org/officeDocument/2006/relationships/slide" Target="/ppt/slides/slide1.xml" Id="R07b8307b3817485c" /><Relationship Type="http://schemas.openxmlformats.org/officeDocument/2006/relationships/slide" Target="/ppt/slides/slide2.xml" Id="R95406497a3094018" /><Relationship Type="http://schemas.openxmlformats.org/officeDocument/2006/relationships/slide" Target="/ppt/slides/slide3.xml" Id="R895143f30832411b" /><Relationship Type="http://schemas.openxmlformats.org/officeDocument/2006/relationships/slide" Target="/ppt/slides/slide4.xml" Id="Rfe7c6f63ca08420a" /><Relationship Type="http://schemas.openxmlformats.org/officeDocument/2006/relationships/slide" Target="/ppt/slides/slide5.xml" Id="Re1ca4891c53a47f6" /><Relationship Type="http://schemas.openxmlformats.org/officeDocument/2006/relationships/slide" Target="/ppt/slides/slide6.xml" Id="R47fe6bd1d53b4a5d" /><Relationship Type="http://schemas.openxmlformats.org/officeDocument/2006/relationships/slide" Target="/ppt/slides/slide7.xml" Id="R1a51416946ed47c1" /><Relationship Type="http://schemas.openxmlformats.org/officeDocument/2006/relationships/slide" Target="/ppt/slides/slide8.xml" Id="Rc9398777ac4844ab" /><Relationship Type="http://schemas.openxmlformats.org/officeDocument/2006/relationships/slide" Target="/ppt/slides/slide9.xml" Id="Rb645fbb8aa454ae8" /><Relationship Type="http://schemas.openxmlformats.org/officeDocument/2006/relationships/slide" Target="/ppt/slides/slide10.xml" Id="R766f0f03e4814e06" /><Relationship Type="http://schemas.openxmlformats.org/officeDocument/2006/relationships/slide" Target="/ppt/slides/slide11.xml" Id="Racc906614c214ca7" /><Relationship Type="http://schemas.openxmlformats.org/officeDocument/2006/relationships/slide" Target="/ppt/slides/slide12.xml" Id="R9ce25eca3ca8411f" /><Relationship Type="http://schemas.openxmlformats.org/officeDocument/2006/relationships/slide" Target="/ppt/slides/slide13.xml" Id="R6a6a31c2edf840d7" /><Relationship Type="http://schemas.openxmlformats.org/officeDocument/2006/relationships/slide" Target="/ppt/slides/slide14.xml" Id="R51e41d95ea544e5d" /><Relationship Type="http://schemas.openxmlformats.org/officeDocument/2006/relationships/slide" Target="/ppt/slides/slide15.xml" Id="Rdf775abe6c4041c6" /><Relationship Type="http://schemas.openxmlformats.org/officeDocument/2006/relationships/slide" Target="/ppt/slides/slide16.xml" Id="Rf95fcfa6581c4035" /><Relationship Type="http://schemas.openxmlformats.org/officeDocument/2006/relationships/slide" Target="/ppt/slides/slide17.xml" Id="R54e1afc4d18d4c49" /><Relationship Type="http://schemas.openxmlformats.org/officeDocument/2006/relationships/slide" Target="/ppt/slides/slide18.xml" Id="Rd53cb1dc11e544fa" /><Relationship Type="http://schemas.openxmlformats.org/officeDocument/2006/relationships/slide" Target="/ppt/slides/slide19.xml" Id="Rd7faadf8f2d94f31" /><Relationship Type="http://schemas.openxmlformats.org/officeDocument/2006/relationships/slide" Target="/ppt/slides/slide20.xml" Id="R915c49d227424fdc" /><Relationship Type="http://schemas.openxmlformats.org/officeDocument/2006/relationships/slide" Target="/ppt/slides/slide21.xml" Id="R36d73eb739b44479" /><Relationship Type="http://schemas.openxmlformats.org/officeDocument/2006/relationships/slide" Target="/ppt/slides/slide22.xml" Id="R0ce10a1389984bf5" /><Relationship Type="http://schemas.openxmlformats.org/officeDocument/2006/relationships/slide" Target="/ppt/slides/slide23.xml" Id="Rdaea42e57c184ccc" /><Relationship Type="http://schemas.openxmlformats.org/officeDocument/2006/relationships/slide" Target="/ppt/slides/slide24.xml" Id="R9cb839bc22604fc3" /><Relationship Type="http://schemas.openxmlformats.org/officeDocument/2006/relationships/slide" Target="/ppt/slides/slide25.xml" Id="Ra59dc3df85d74a8e" /><Relationship Type="http://schemas.openxmlformats.org/officeDocument/2006/relationships/slide" Target="/ppt/slides/slide26.xml" Id="R75c98946844148e2" /><Relationship Type="http://schemas.openxmlformats.org/officeDocument/2006/relationships/slide" Target="/ppt/slides/slide27.xml" Id="R09c1a0bbb6dc4435" /><Relationship Type="http://schemas.openxmlformats.org/officeDocument/2006/relationships/slide" Target="/ppt/slides/slide28.xml" Id="Rd42d50556dd14f14" /><Relationship Type="http://schemas.openxmlformats.org/officeDocument/2006/relationships/slide" Target="/ppt/slides/slide29.xml" Id="Rbd5f2df89bb54ee5" /><Relationship Type="http://schemas.openxmlformats.org/officeDocument/2006/relationships/slide" Target="/ppt/slides/slide30.xml" Id="R54e25b0d19b04de4" /><Relationship Type="http://schemas.openxmlformats.org/officeDocument/2006/relationships/slide" Target="/ppt/slides/slide31.xml" Id="Rce0e9bf55b4b4ae4" /><Relationship Type="http://schemas.openxmlformats.org/officeDocument/2006/relationships/slide" Target="/ppt/slides/slide32.xml" Id="R2c7cc211abae4105" /><Relationship Type="http://schemas.openxmlformats.org/officeDocument/2006/relationships/slide" Target="/ppt/slides/slide33.xml" Id="Rf22c46d66dba455d" /><Relationship Type="http://schemas.openxmlformats.org/officeDocument/2006/relationships/slide" Target="/ppt/slides/slide34.xml" Id="R7f6b5fb582384e68" /><Relationship Type="http://schemas.openxmlformats.org/officeDocument/2006/relationships/slide" Target="/ppt/slides/slide35.xml" Id="R72de5922ff394c44" /><Relationship Type="http://schemas.openxmlformats.org/officeDocument/2006/relationships/slide" Target="/ppt/slides/slide36.xml" Id="R8b893acbe8cf4814" /><Relationship Type="http://schemas.openxmlformats.org/officeDocument/2006/relationships/slide" Target="/ppt/slides/slide37.xml" Id="R974c4e9cbe00489e" /><Relationship Type="http://schemas.openxmlformats.org/officeDocument/2006/relationships/slide" Target="/ppt/slides/slide38.xml" Id="Rde60d5bfa8234318" /><Relationship Type="http://schemas.openxmlformats.org/officeDocument/2006/relationships/slide" Target="/ppt/slides/slide39.xml" Id="Rd651a82e1b6f4cef" /><Relationship Type="http://schemas.openxmlformats.org/officeDocument/2006/relationships/slide" Target="/ppt/slides/slide40.xml" Id="R9aeb83f89a854b96" /><Relationship Type="http://schemas.openxmlformats.org/officeDocument/2006/relationships/slide" Target="/ppt/slides/slide41.xml" Id="Rd0d7d1492c774312" /><Relationship Type="http://schemas.openxmlformats.org/officeDocument/2006/relationships/slide" Target="/ppt/slides/slide42.xml" Id="Ra83d10d652cc40e9" /><Relationship Type="http://schemas.openxmlformats.org/officeDocument/2006/relationships/slide" Target="/ppt/slides/slide43.xml" Id="R3cda5234997e45f7" /><Relationship Type="http://schemas.openxmlformats.org/officeDocument/2006/relationships/slide" Target="/ppt/slides/slide44.xml" Id="R3a3675ea96884f59" /><Relationship Type="http://schemas.openxmlformats.org/officeDocument/2006/relationships/slide" Target="/ppt/slides/slide45.xml" Id="Rbdaf06884cc949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dcd3243a7f48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2443d9582f4393" /><Relationship Type="http://schemas.openxmlformats.org/officeDocument/2006/relationships/notesMaster" Target="/ppt/notesMasters/notesMaster1.xml" Id="R1d9146c5c66646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619183a67b48aa" /><Relationship Type="http://schemas.openxmlformats.org/officeDocument/2006/relationships/notesMaster" Target="/ppt/notesMasters/notesMaster1.xml" Id="R70da1a8d18be4b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cfa739bb2d48d4" /><Relationship Type="http://schemas.openxmlformats.org/officeDocument/2006/relationships/notesMaster" Target="/ppt/notesMasters/notesMaster1.xml" Id="R9c4c1363ec0045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7aadb272c242d2" /><Relationship Type="http://schemas.openxmlformats.org/officeDocument/2006/relationships/notesMaster" Target="/ppt/notesMasters/notesMaster1.xml" Id="Rbbbc9dd7daa240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f8ffe6e22d4361" /><Relationship Type="http://schemas.openxmlformats.org/officeDocument/2006/relationships/notesMaster" Target="/ppt/notesMasters/notesMaster1.xml" Id="R64e072cfe53e4c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b74f46bb86447b" /><Relationship Type="http://schemas.openxmlformats.org/officeDocument/2006/relationships/notesMaster" Target="/ppt/notesMasters/notesMaster1.xml" Id="R4a44ec99a67e46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a47f6cf6994d59" /><Relationship Type="http://schemas.openxmlformats.org/officeDocument/2006/relationships/notesMaster" Target="/ppt/notesMasters/notesMaster1.xml" Id="Rbe205e9f07e441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cc48037b8f461c" /><Relationship Type="http://schemas.openxmlformats.org/officeDocument/2006/relationships/notesMaster" Target="/ppt/notesMasters/notesMaster1.xml" Id="R10a8d12709e543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827a6c3c2a347ed" /><Relationship Type="http://schemas.openxmlformats.org/officeDocument/2006/relationships/notesMaster" Target="/ppt/notesMasters/notesMaster1.xml" Id="R8a94950bf520422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6f50ce7af543cf" /><Relationship Type="http://schemas.openxmlformats.org/officeDocument/2006/relationships/notesMaster" Target="/ppt/notesMasters/notesMaster1.xml" Id="Rd1cefc0a86ba4a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ebb38239564141" /><Relationship Type="http://schemas.openxmlformats.org/officeDocument/2006/relationships/notesMaster" Target="/ppt/notesMasters/notesMaster1.xml" Id="R26baad4c7e69438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1f10e2484284f6f" /><Relationship Type="http://schemas.openxmlformats.org/officeDocument/2006/relationships/notesMaster" Target="/ppt/notesMasters/notesMaster1.xml" Id="R119d58300a0643d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8f6053ccd19444a" /><Relationship Type="http://schemas.openxmlformats.org/officeDocument/2006/relationships/notesMaster" Target="/ppt/notesMasters/notesMaster1.xml" Id="Rfc1e1429bed846f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8eb41cd54fe4ed4" /><Relationship Type="http://schemas.openxmlformats.org/officeDocument/2006/relationships/notesMaster" Target="/ppt/notesMasters/notesMaster1.xml" Id="R59363ae0d0354cb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be15d0b14241a6" /><Relationship Type="http://schemas.openxmlformats.org/officeDocument/2006/relationships/notesMaster" Target="/ppt/notesMasters/notesMaster1.xml" Id="R28b6a8ec1afc41e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1b5014c8aae43b7" /><Relationship Type="http://schemas.openxmlformats.org/officeDocument/2006/relationships/notesMaster" Target="/ppt/notesMasters/notesMaster1.xml" Id="R48530f1dcac046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bcc8c7c9e60405a" /><Relationship Type="http://schemas.openxmlformats.org/officeDocument/2006/relationships/notesMaster" Target="/ppt/notesMasters/notesMaster1.xml" Id="Rc9c43d09fa9a4e9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da3054993e442b8" /><Relationship Type="http://schemas.openxmlformats.org/officeDocument/2006/relationships/notesMaster" Target="/ppt/notesMasters/notesMaster1.xml" Id="R38bb2587872e4bb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01529cca30b431b" /><Relationship Type="http://schemas.openxmlformats.org/officeDocument/2006/relationships/notesMaster" Target="/ppt/notesMasters/notesMaster1.xml" Id="Rd4673c246951464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cf05cc978d34717" /><Relationship Type="http://schemas.openxmlformats.org/officeDocument/2006/relationships/notesMaster" Target="/ppt/notesMasters/notesMaster1.xml" Id="Re434c6b8c5dd4ff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ffa9efa05ce4137" /><Relationship Type="http://schemas.openxmlformats.org/officeDocument/2006/relationships/notesMaster" Target="/ppt/notesMasters/notesMaster1.xml" Id="Red7d5bf178224f7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27d979738b94a0e" /><Relationship Type="http://schemas.openxmlformats.org/officeDocument/2006/relationships/notesMaster" Target="/ppt/notesMasters/notesMaster1.xml" Id="Re56484535ec2478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a12fa9929e841b8" /><Relationship Type="http://schemas.openxmlformats.org/officeDocument/2006/relationships/notesMaster" Target="/ppt/notesMasters/notesMaster1.xml" Id="R930a4b69818340d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778a22a6f7f4b56" /><Relationship Type="http://schemas.openxmlformats.org/officeDocument/2006/relationships/notesMaster" Target="/ppt/notesMasters/notesMaster1.xml" Id="R154534e96868417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012268549d24612" /><Relationship Type="http://schemas.openxmlformats.org/officeDocument/2006/relationships/notesMaster" Target="/ppt/notesMasters/notesMaster1.xml" Id="R071120afd6bb4aa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95bec424bfa4ed4" /><Relationship Type="http://schemas.openxmlformats.org/officeDocument/2006/relationships/notesMaster" Target="/ppt/notesMasters/notesMaster1.xml" Id="Rd33f598c69a7457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0f02d38c1744bac" /><Relationship Type="http://schemas.openxmlformats.org/officeDocument/2006/relationships/notesMaster" Target="/ppt/notesMasters/notesMaster1.xml" Id="Rde1d4c0e8cc8442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b0673629e5b4f66" /><Relationship Type="http://schemas.openxmlformats.org/officeDocument/2006/relationships/notesMaster" Target="/ppt/notesMasters/notesMaster1.xml" Id="R49158dddec48401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dd7328a074146f4" /><Relationship Type="http://schemas.openxmlformats.org/officeDocument/2006/relationships/notesMaster" Target="/ppt/notesMasters/notesMaster1.xml" Id="Rb8b6a72037ab42c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9454abdbe0a456a" /><Relationship Type="http://schemas.openxmlformats.org/officeDocument/2006/relationships/notesMaster" Target="/ppt/notesMasters/notesMaster1.xml" Id="R75a4ce2b57464d4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999f9f0604642f8" /><Relationship Type="http://schemas.openxmlformats.org/officeDocument/2006/relationships/notesMaster" Target="/ppt/notesMasters/notesMaster1.xml" Id="R3f806346ad5d4b6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b32710bbd9547d8" /><Relationship Type="http://schemas.openxmlformats.org/officeDocument/2006/relationships/notesMaster" Target="/ppt/notesMasters/notesMaster1.xml" Id="R22d48fc3799f4d6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1030c4740a04efb" /><Relationship Type="http://schemas.openxmlformats.org/officeDocument/2006/relationships/notesMaster" Target="/ppt/notesMasters/notesMaster1.xml" Id="Raebb7d9d91ac4b2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a22c242182b446c" /><Relationship Type="http://schemas.openxmlformats.org/officeDocument/2006/relationships/notesMaster" Target="/ppt/notesMasters/notesMaster1.xml" Id="R3947e5251042447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51f2c836a9346bc" /><Relationship Type="http://schemas.openxmlformats.org/officeDocument/2006/relationships/notesMaster" Target="/ppt/notesMasters/notesMaster1.xml" Id="Rbb1f888855bb471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645328fe5154cd5" /><Relationship Type="http://schemas.openxmlformats.org/officeDocument/2006/relationships/notesMaster" Target="/ppt/notesMasters/notesMaster1.xml" Id="Rb4fed259c15b40e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01bf92b000d4e72" /><Relationship Type="http://schemas.openxmlformats.org/officeDocument/2006/relationships/notesMaster" Target="/ppt/notesMasters/notesMaster1.xml" Id="Rbbcf1b2a6f854a5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a60abe1868d4ee9" /><Relationship Type="http://schemas.openxmlformats.org/officeDocument/2006/relationships/notesMaster" Target="/ppt/notesMasters/notesMaster1.xml" Id="R1b2d8f5e72f5450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7d0e0839d6f4a0a" /><Relationship Type="http://schemas.openxmlformats.org/officeDocument/2006/relationships/notesMaster" Target="/ppt/notesMasters/notesMaster1.xml" Id="R7e066d279c9048a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d24fe5449da4747" /><Relationship Type="http://schemas.openxmlformats.org/officeDocument/2006/relationships/notesMaster" Target="/ppt/notesMasters/notesMaster1.xml" Id="R7478757ab686451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fb31735f49f4e5b" /><Relationship Type="http://schemas.openxmlformats.org/officeDocument/2006/relationships/notesMaster" Target="/ppt/notesMasters/notesMaster1.xml" Id="R1bfb2d5177f5468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1215862bfce418a" /><Relationship Type="http://schemas.openxmlformats.org/officeDocument/2006/relationships/notesMaster" Target="/ppt/notesMasters/notesMaster1.xml" Id="R55c151da139b4f9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da18fa1cb584ffe" /><Relationship Type="http://schemas.openxmlformats.org/officeDocument/2006/relationships/notesMaster" Target="/ppt/notesMasters/notesMaster1.xml" Id="Refdfa17621d7456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595fde0e8ba4335" /><Relationship Type="http://schemas.openxmlformats.org/officeDocument/2006/relationships/notesMaster" Target="/ppt/notesMasters/notesMaster1.xml" Id="R53f6e30dffde46b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b9649838932465b" /><Relationship Type="http://schemas.openxmlformats.org/officeDocument/2006/relationships/notesMaster" Target="/ppt/notesMasters/notesMaster1.xml" Id="R8b3856a094924e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this as a research story: an initial idea, an experiment, an unexpected result, a narrower question, and a plan to test that question properly. The title uses TLS memory research because the active contribution is saved-memory recovery and its evaluation. Original TLSKeyHunter belongs to Baier and Lambertz. This deck describes the documented local evidence reviewed on 3 October 2026, including results recorded on 2 October; it is not a live server dashboard. Sources: output/SAVED_MEMORY_WORK_LOG.md; output/offline-memory/REPEATABILITY_RESULTS.md; tls13-extended-validation/docs/offline-memory/TLS13_EXTENDED_RESULTS.md; TLS13_EXTENDED_WORK_LOG.md (same directory); tls13-extended-validation/docs/offline-memory/TLS13_BLIND_STUDY_RESULTS.md; lab/blind_tls13/README.md; tls13-extended-validation/docs/offline-memory/TLS13_ISOLATED_VALIDATION_PLAN.md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working name: TLS Snapshot Mapper. Descriptive title: Blind TLS 1.3 Secret Recovery and Role Assignment from Saved Firefox Memory. The aim is to recover the correct application traffic secret for each connection and direction from one saved Firefox/NSS core and its complete PCAP, without known payload markers or reference-secret access during recovery. The current blind experiments target generation-zero 48-byte application secrets for TLS_AES_256_GCM_SHA384. They do not establish recovery of all TLS keys, every browser, or arbitrary incomplete captures. Earlier KeyUpdate and resumption evidence belongs to a separate controlled study. Sources: TLS13_BLIND_STUDY_RESULTS.md; TLS13_ISOLATED_VALIDATION_PLAN.md; TLS13_PRIOR_WORK_MATRIX.md. The name is a proposal, not a novelty or naming-availability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path is not a claim that each step invented a new technique. We first learned how to capture and analyze memory independently, then checked whether the idea was already established. TLS 1.3 scenario experiments showed feasibility but still used controlled markers. The later blind study removed these hints. The current phases address stronger comparisons, isolation and transfer. The isolated replay reuses the blind study data. Sources: output/SAVED_MEMORY_WORK_LOG.md; output/offline-memory/REPEATABILITY_RESULTS.md; tls13-extended-validation/docs/offline-memory/TLS13_EXTENDED_RESULTS.md; TLS13_EXTENDED_WORK_LOG.md (same directory); tls13-extended-validation/docs/offline-memory/TLS13_BLIND_STUDY_RESULTS.md; lab/blind_tls13/README.md; tls13-extended-validation/docs/offline-memory/TLS13_ISOLATED_VALIDATION_PLAN.md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TLS protects traffic while it travels. A running endpoint must hold usable cryptographic material for its own traffic. A core is a saved image of one process, not necessarily the entire machine's RAM. A PCAP is saved network traffic. A candidate is a possible secret, and the reference is the independent answer held by the evaluator. Possessing privileged access to endpoint memory is essential to this lab method. We are not breaking the cryptographic algorithm. Sources: Attached papers: Baier et al. (2024), doi:10.1016/j.fsidi.2024.301766; Moriconi et al. (2024), X-Ray-TLS, publi-7588.pdf; Baier &amp; Lambertz (2025), doi:10.1016/j.fsidi.2025.301975; Baier &amp; Lengersdorff (2026), doi:10.1145/3785318.3785321.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used a controlled Firefox session, saved its process memory and traffic, and analyzed the saved copy later. The server separately recorded a reference secret. Recovery did not receive that reference. Only after selecting and sealing a candidate did the evaluator compare it with the answer. This separation is like taking a test before looking at the marking scheme. Capturing the right process required checking actual connection ownership. Source: output/SAVED_MEMORY_WORK_LOG.md; output/offline-memory/REPEATABILITY_RESULTS.md.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simplified full TLS 1.3 handshake and application-data diagram, with no 0-RTT or client certificate. ClientHello and ServerHello carry negotiation and public key shares, not plaintext application secrets. Both endpoints derive the matching directional application secrets. After ServerHello, most handshake messages are encrypted. The certificate authenticates the server in normal TLS; the temporary certificate exception in the early localhost lab is documented separately. A client application secret derives a key and IV for client-to-server records, and the server application secret does the same for the reverse direction. Sources: https://www.rfc-editor.org/rfc/rfc8446 sections 2, 5, 7; lab/offline_memory/README.md. The graphic omits record sequence numbers and detailed handshake messages for readability.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row is the live controlled session. Privileged acquisition saves the Firefox process core and the encrypted packet capture. Offline candidate discovery reads the core. Assignment reads the PCAP and derives traffic keys and IVs from candidates to authenticate records. The server separately saves an answer record for the evaluator. That answer is withheld from both discovery and assignment, and is opened after controller sealing. Arrows from memory and wire are evidence capture, not transmission of a secret across the network. Source: lab/offline_memory/capture_firefox.py; lab/blind_tls13/recover.py; lab/blind_tls13/evaluate.py; lab/isolated_tls13/README.md.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Cases 001–006 failed before a useful capture with certificate alerts and sandbox-related problems. The root cause of Firefox's trust rejection remained unresolved, so do not describe a proven certificate-generation bug. Explicit temporary localhost profile exceptions allowed development to continue; these are experimental conditions. Case 007 completed a handshake but the assumed socket process did not own the connection. The acquisition code was changed to verify ownership rather than trust a process name. Sources: output/SAVED_MEMORY_WORK_LOG.md; output/offline-memory/REPEATABILITY_RESULTS.md.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SECItem-shaped scan produced 98 eligible candidates, with 68 tied at the top, and missed the true reference. A post-selection audit showed the secret existed in the saved memory, which proved presence but not successful blind extraction. A revised CKA_VALUE layout found five tied candidates including the correct secret. The saved traffic selected one unique winner. This was method development on case 008. A fresh frozen-method case 009 was therefore required and passed separately. Source: output/SAVED_MEMORY_WORK_LOG.md; output/offline-memory/REPEATABILITY_RESULTS.md; lab/offline_memory/README.md.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Candidate discovery reads saved memory and emits possible values. Packet-assisted selection uses saved encrypted records to choose the correct value and role. Independent verification opens the protected reference after outputs are fixed, compares exact bytes, and checks negative controls. A match found by searching for a known reference does not count as independent recovery. Neither does a tied memory ranking count as unique selection. This separation carries through the later TLS 1.3 work. Source: lab/offline_memory/README.md; tls13-extended-validation/docs/offline-memory/TLS13_BLIND_STUDY_RESULTS.md; lab/blind_tls13/README.md.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TLS 1.2, there were twenty captures. The first attempt hit a permissions problem when launching ranking. The remaining nineteen completed automatically. Reanalysis of the original failed core succeeded after repair. Report 19/20 initial unattended completion separately from 20/20 eventual recovery. Memory-only ranking abstained in all nineteen continuation cases. The separate initial TLS 1.3 campaign completed twenty fresh sessions with correct client and server secrets. These controlled campaigns do not establish universal recovery. Sources: output/SAVED_MEMORY_WORK_LOG.md; output/offline-memory/REPEATABILITY_RESULTS.md; tls13-extended-validation/docs/offline-memory/TLS13_REPEATABILITY_RESULTS.md.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literature did not prove there were no gaps anywhere. It showed that broad claims such as extracting TLS secrets or studying memory timing were already established. The 2024 survey maps techniques and challenges. X-Ray-TLS uses live event timing and before/after memory changes. TLSKeyHunter finds derivation functions and uses live hooks. Keys in Flux investigates implementation-dependent secret lifetimes. These inputs and objectives differ from blind recovery from a single saved image. Sources: Attached papers: Baier et al. (2024), doi:10.1016/j.fsidi.2024.301766; Moriconi et al. (2024), X-Ray-TLS, publi-7588.pdf; Baier &amp; Lambertz (2025), doi:10.1016/j.fsidi.2025.301975; Baier &amp; Lengersdorff (2026), doi:10.1145/3785318.3785321; TLS13_PRIOR_WORK_MATRIX.md.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redraw of the published TLSKeyHunter workflow. Static analysis uses Ghidra and TLS label references to locate PRF/HKDF derivation functions, then emits Key-Derivation Fingerprints. A library-specific Frida script locates the corresponding function in a live target and intercepts its output. Argument positions and structures depend on the library. Extracted secrets and client-random association support traffic decryption. TLS-KeyGround is the authors' validation dataset, not a module of our saved-image recovery. The original Java analyzer, Frida extraction and network_decryption/randomInverse.py remain upstream attribution. Our active recovery does not call this live-hook path. Earlier local live-hook ranker benchmarks are retired provenance and excluded from the active thesis. Sources: supplied TLSKeyHunter paper sections 4–5, https://doi.org/10.1016/j.fsidi.2025.301975; docs/UPSTREAM_README.md; root README.md and active THESIS_SCOPE.md.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redraw of Keys in Flux's measurement method, not a reproduction of its experiments. A KDF hook records key creation, value, address, length and context. Hardware watchpoints observe writes to the original buffer. Protocol-state-triggered full process dumps are searched for every copy of the already-observed secret. Watchpoint overwrite alone is insufficient to establish complete removal. Peer-exported keys validate the observed key, and PCAPs align observations with protocol states. Together these measurements reconstruct start/end of life. This study concerns presence and lifetime with instrumentation, not blind discovery of unknown values from one saved image. We use it to motivate explicit acquisition state and restrained generalization. Source: supplied Keys in Flux PDF §4, https://doi.org/10.1145/3785318.3785321.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redraw of the full X-Ray-TLS method. eBPF maps traffic/socket events to a process and triggers acquisition around the TLS handshake. The process is paused for writable-memory snapshots near handshake start and completion, then resumed. The memory difference narrows the search space. Aligned high-entropy candidate values in the difference are tried against captured traffic using the project's patched TShark. For TLS 1.3 the target is application traffic. Our single retained ELF core cannot supply those live events and paired snapshots. We adapted only the separate full-snapshot entropy baseline in the authors' source, adding our shared assignment stage. Its result must never be labelled a result for full X-Ray-TLS. Source: supplied publi-7588.pdf §3, https://www.eurecom.edu/publication/7588/download/data-publi-7588.pdf; TLS13_PRIOR_WORK_MATRIX.md.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distinguishes research influence, repository provenance and executable reuse. TLSKeyHunter supplies the original project foundation and the lesson that derived secrets support decryption. Its static/live path remains credited and outside active saved-image recovery. Keys in Flux informs questions about acquisition state and implementation-specific persistence. We did not import its lifetime-measurement system into our extractor. X-Ray-TLS shows the value of narrowing memory and verifying candidates with traffic. Its full-snapshot baseline is explicitly adapted as one comparator; the main memory-difference pipeline is not reproduced. Our own active implementation adds saved-core enumeration, blind flow/direction assignment, abstention, controller isolation/seals and paired evaluation. A new file count alone is not a research contribution. Sources: supplied three papers; TLS13_PRIOR_WORK_MATRIX.md; active lab directories and THESIS_SCOPE.md.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papers establish overlapping broad research directions, so simply repeating one is not a sufficient novelty claim. TLSKeyHunter identifies derivation functions and uses live hooks. X-Ray-TLS acquires timed memory snapshots and searches their changes. Keys in Flux measures secret lifetimes across implementations and protocol states. Our decision rationale is synthesized from those published input requirements and the local research scope. It does not claim these papers leave no research gaps. The selected input contract is a single already-saved Firefox image plus its traffic, followed by blind assignment, abstention and measured comparison. Original framework credit remains with its authors.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path was driven by evidence, not just by searching for an untouched topic. Memory scores tied, so traffic authentication became necessary. The five-scenario study used controlled markers, so a separate blind study removed known-message hints. The first entropy baseline was bounded and weak, so stronger baselines and a resource grid are needed. Unix permissions were weaker than the intended isolation claim, so the retained data was replayed inside stricter boundaries. Transfer and confirmation remain planned. These connections are an interpretation supported by the documented results and amendments, not an assertion that every decision has a dated quotation in the work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lane is the original published static-to-dynamic TLSKeyHunter method. The bottom is the active saved-image recovery implementation added in the thesis workspace. The lanes share the research objective of recovered secret material supporting traffic analysis, but the bottom does not need to invoke Ghidra or attach a Frida hook during recovery. Privileged capture happens earlier. The new blind assignment stage tests unknown candidates against saved encrypted records, then evaluator-only references check sealed outputs. Old argument-ranking and live-hook experiments were retired on 28 September and remain provenance only. Sources: /Users/shanilka/Documents/TLS Key Thesis/README.md; TLK-Key-Hunter-v2-publish/thesis-governance/THESIS_SCOPE.md; TLS13_PRIOR_WORK_MATRIX.md; active lab/offline_memory, lab/blind_tls13 and lab/isolated_tls13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module map verified against the current source tree. offline_memory/capture_firefox.py acquires the controlled session evidence; core_memory.py reads captured ELF memory and rank_tls13.py enumerates candidates. blind_tls13/recover.py discovers candidates and assigns roles using record_auth.py. evaluate.py compares decisions to private references after sealing. isolated_tls13/sandbox.py and probe.py establish/test the boundary; seals.py protects output integrity. replay.py and audit.py replicate and audit old evidence. comparators.py and compare_recovery.py provide additional saved-image arms. comparison_study.py/audit_comparison.py and sensitivity_study.py/audit_sensitivity.py run and verify campaigns. budget_recovery.py supplies declared limits to the historical algorithms. independent_verify.py performs an explicitly supported TShark check. Frozen historical snapshots remain unchanged. This is a module responsibility map, not a line-by-line Git diff or a verified total count of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tested SHA-384 cipher suite, each application traffic secret is 48 bytes. The client and server have separate secrets. KeyUpdate changes the secret generation, so the test must identify the correct direction and generation for each connection. Resumption creates a new connection with new traffic secrets; it is not simply reuse of the first connection's traffic key. The implementation can enumerate 32- and 48-byte candidates, but these reported campaigns establish results only for TLS_AES_256_GCM_SHA384. Sources: tls13-extended-validation/docs/offline-memory/TLS13_REPEATABILITY_RESULTS.md; tls13-extended-validation/docs/offline-memory/TLS13_EXTENDED_RESULTS.md; TLS13_EXTENDED_WORK_LOG.md (same directory).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study added one hundred controlled cases beyond the initial twenty-case TLS 1.3 baseline. Each of five scenarios had twenty repeats with at least ten minutes between starts. Pilots preceded these frozen campaigns and are separate. Every repeated case passed its scenario condition, unique packet authentication, exact reference comparison, relevant wrong-secret controls and cleanup. Results apply to the fixed Firefox/host builds, localhost workload and TLS_AES_256_GCM_SHA384. Sources: tls13-extended-validation/docs/offline-memory/TLS13_EXTENDED_RESULTS.md; TLS13_EXTENDED_WORK_LOG.md (same directory).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Resumption pilot A stopped on an incomplete third handshake. Pilot B recovered the resumed connection but failed the original four-target requirement because the first, closed setup connection had no validating candidates. Before C, the target changed to the second resumed connection; A and B remain unsuccessful under their original rules. KeyUpdate A exposed an OpenSSL label mismatch and absent updated values. B exposed request/update ordering: the redirect arrived too soon. C flushed the update before the redirect and recovered both generation-one secrets. These are documented amendments before the repeats, not retrospective conversion of failures into successes. Source: tls13-extended-validation/docs/offline-memory/TLS13_EXTENDED_RESULTS.md; TLS13_EXTENDED_WORK_LOG.md (same directory).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hundred scenario cases show recovery under controlled conditions. They do not establish a novel method by themselves, and marker-driven selection has more help than a blind forensic task. Our narrower question is whether one saved Firefox image plus its complete traffic is enough to identify the correct connection and direction without known payloads or reference access. The evidence must also show when to abstain and compare relevant alternatives fairly. This is a candidate research contribution whose novelty remains to be established against prior work and transfer tests. Sources: tls13-extended-validation/docs/offline-memory/TLS13_BLIND_STUDY_RESULTS.md; lab/blind_tls13/README.md; tls13-extended-validation/docs/offline-memory/TLS13_ISOLATED_VALIDATION_PLAN.md (2 October 2026); TLS13_PRIOR_WORK_MATRIX.md.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second, separate hundred-case study, not another label for the five-scenario study. There are seventy positive cases, half with two flows and half with three. The thirty controls include mismatched traffic, unrelated traffic and artificially redacted memory. Recovery receives one core, complete PCAP and pinned metadata. It discovers flows and directions itself, and authenticates at least two application records without reading known plaintext markers. A separate evaluator holds references and case types. Resumption and KeyUpdate are outside this blind study. Source: tls13-extended-validation/docs/offline-memory/TLS13_BLIND_STUDY_RESULTS.md; lab/blind_tls13/README.md.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Structured recovery completed all seventy positives and all three hundred fifty positive role targets, with zero false assignments. The historical entropy-only arm completed zero positive cases and one positive target. Both methods used a 180-second search budget and a 100-candidate cap, followed by the same assignment stage. Entropy search hit the time limit in all cases, while structural enumeration completed. Median wall times include case processing. These results establish an advantage against this bounded baseline only. They do not establish superiority over all entropy methods or over full X-Ray-TLS. Source: tls13-extended-validation/docs/offline-memory/TLS13_BLIND_STUDY_RESULTS.md; lab/blind_tls13/README.md.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forensic extractor must sometimes say that it cannot decide. Ten mismatched and ten unrelated cases produced complete abstention for structured recovery. In the ten redacted cases, the method recovered forty still-available direction targets and left the ten removed targets unresolved. These redactions are artificial controls, not evidence that real secrets naturally disappeared. Across all cases, zero false assignments were observed. We do not claim a universal zero-error guarantee. The entropy arm passed the twenty abstention controls but did not recover available directions in the redacted controls. Source: tls13-extended-validation/docs/offline-memory/TLS13_BLIND_STUDY_RESULTS.md; lab/blind_tls13/README.md.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blind run separated the reference using Unix accounts and permissions. It did not create a filesystem exposing only the declared inputs. A second method could potentially inspect the first method's sealed output directory. The frozen code did not do so, but the stronger impossibility claim was unsupported. The repair uses isolated namespaces, an access probe for every method, controller-owned signed outputs and verification before reference scoring. The full replay matched all one hundred original cases with zero differences or failed final cases. This is replication on the same data; earlier failed and interrupted attempts remain separately preserved. Sources: tls13-extended-validation/docs/offline-memory/TLS13_BLIND_STUDY_RESULTS.md; lab/blind_tls13/README.md; tls13-extended-validation/docs/offline-memory/TLS13_ISOLATED_VALIDATION_PLAN.md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Early campaigns deleted cores after verification to control storage, which meant those cores could not later support a head-to-head comparison. The blind study retained originals and derivative controls. Sparse files need copying that preserves holes: about thirty GiB allocated corresponded to roughly eight hundred fifty-nine GiB logical size for original retained cores. Later replay failures included deployment directory access and a preserved interrupted partial attempt; its exact overlap cause was not established. A comparison pilot also failed because JSON changed a tuple to a list. These failures caused operational fixes and new attempts with preserved evidence, not alteration of historical results. Sources: output/SAVED_MEMORY_WORK_LOG.md; output/offline-memory/REPEATABILITY_RESULTS.md; tls13-extended-validation/docs/offline-memory/TLS13_ISOLATED_VALIDATION_PLAN.md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 completed an audited isolated replay of the retained hundred cases. Phase 2 completed its hundred-case retained-input primary comparison. The signed campaign and handoff audit passed, then the sensitivity pilot passed and the grid started. These are recorded milestones in the latest local plan and primary result report, not a live server progress claim. Phase 3 has two new build identities and files pinned, but no transfer results. Phase 4 is a planned fresh hundred-case confirmation. Phase 5 has one independent decoding check as an integration pilot, while representative verification and final claims remain. Source: tls13-extended-validation/docs/offline-memory/TLS13_ISOLATED_VALIDATION_PLAN.md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research question for the new experiment: Under the same saved-image input contract and traffic-authentication test, which candidate-discovery choices improve correct and complete role assignment, at what resource cost, while avoiding false assignments? The five arms separate structure, entropy filtering, adjacency, scan regions and ordering. The resource grid tests whether observations depend on the 180-second and 100-candidate primary choice. Important implementation differences include enumeration order and partial-result timeout semantics, so the structural ablation is not solely a one-switch entropy causal experiment. The shared generation-zero SHA-384 target, references hidden until sealing and case accounting remain fixed. Transfer and fresh-case phases separately test generalization. Sources: TLS13_ISOLATED_VALIDATION_PLAN.md, TLS13_PRIOR_WORK_MATRIX.md and comparator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historical structured and entropy-only arms remain fixed. Structure-only removes the entropy filter and tests whether structure alone explains recovery. The Anderson adjacency pattern is explicitly adapted from its published master-secret setting to forty-eight-byte TLS 1.3 application secrets. The X-Ray-TLS arm adapts its full-snapshot entropy baseline, not its live memory-difference method. Every arm gets the same saved inputs and assignment stage. The primary budget is 180 seconds and 100 candidates on all hundred retained cases. A preselected twenty-case subset receives the nine combinations of three time budgets and three candidate caps. The primary results are now recorded in TLS13_PRIMARY_COMPARISON_RESULTS.md. Grid outcomes are still pending in the reviewed local records. Source: tls13-extended-validation/docs/offline-memory/TLS13_ISOLATED_VALIDATION_PLAN.md (2 October 2026); TLS13_PRIOR_WORK_MATRIX.md.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NSS is Firefox's TLS library. In this implementation, the scanner searches an aligned CKA_VALUE attribute with type 0x11, a pointer, and a length field. It reads the buffer through that pointer. The historical ranker scans 32- and 48-byte layouts, and the blind study retains only the 48-byte candidates for its SHA-384 suite. Entropy is a randomness score, not a probability that the candidate is correct. The ranker requires empirical byte entropy of at least 4 bits/byte. A zero-byte count of at most length/8 adds a ranking preference; it is not a mandatory rejection rule in this arm. Values are deduplicated, sorted by score and deterministic ID, and capped before assignment. The frozen wrapper returns no candidates if structured enumeration times out. This behavior differs from arms that retain partial candidates. Sources: lab/offline_memory/rank_tls13.py rank(); lab/blind_tls13/recover.py bounded_structured_rank().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ablation removes entropy admission while preserving a 48-byte CKA_VALUE pointer/length layout. It checks alignment, type 0x11, a plausible readable pointer and the required length. It reads the pointed-to buffer, deduplicates equal values and retains candidates in enumeration order up to the cap. It makes no entropy or zero-byte admission decision. It keeps candidates found before a timeout, whereas the historical structured wrapper currently returns none on timeout. Thus differences must be attributed to filtering, ordering and timeout behavior as well as discovery. Compare post-seal reference candidate recall to count true secrets removed by the historical filter. This is a diagnostic comparison, not a claim that structure-only search is new.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published NSS adjacency pattern targets a 48-byte master secret, primarily for TLS 1.2. Our implementation explicitly adapts its candidate pattern to 48-byte TLS 1.3 application traffic secrets. It scans for marker bytes 11 00 00 00, checks a 0x30 length at one of two offsets, and reads the following 48 bytes in the pattern. It does not dereference an NSS pointer and does not use entropy admission. Relative to the marker, alternative one has length at offset 12 and value at 16; alternative two has length at 16 and value at 24. Repeated values are deduplicated, and enumeration stops at K or the time budget, retaining partial results. Role assignment is our common stage. Source: TLS13_PRIOR_WORK_MATRIX.md; lab/isolated_tls13/comparators.py anderson_nss_adjacent(); https://arxiv.org/html/1805.11544. This is not a reproduced published TLS 1.3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adaptation of X-Ray-TLS's separate full-snapshot entropy baseline, not its main live memory-difference method. It visits writable captured memory, inside 4096-byte pages, using 48-byte windows at 8-byte steps. The original boundary excludes the final possible window in each page and the adaptation preserves that behavior. For each value it computes entropy of 96 hexadecimal characters, requiring at least 3.6 bits per hex character. It deduplicates qualifying values and keeps the best K by that entropy score and digest, replacing lower-ranked values as scanning continues. The original baseline counts candidates; our adaptation retains candidates and adds our shared role-assignment stage. These 3.6 units are not directly comparable to raw-byte entropy 4 in the historical arm. Sources: local X-Ray src/baseline/entropy_filter.py as inspected in TLS13_PRIOR_WORK_MATRIX.md; lab/isolated_tls13/comparators.py xray_full_snapshot_entropy().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historical baseline visits every readable captured ELF load segment, regardless of the writable flag. It examines 48-byte windows at one-byte steps in address order, skipping provably ineligible windows in all-zero pages. A candidate must have at most six zero bytes and empirical raw-byte entropy of at least 4 bits/byte. Deduplication and a bounded top-K heap keep the highest-entropy candidates found so far, with a digest tie-break. It scans until completion or the time limit and then tests retained values. It uses no NSS structure, pointer or adjacency clue. Comparing its outcome with X-Ray's adapted full-snapshot baseline distinguishes regions, scan step, scoring representation and cost; it is not solely a test of one numerical threshold. Source: lab/blind_tls13/recover.py entropy_rank().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Candidate generation is blind to packets and references. The common stage discovers completed TLS 1.3 handshakes and connection directions from the PCAP. For each candidate and role, it derives the suite-specific record key and IV using HKDF, then checks AEAD record authentication with the appropriate nonce and sequence context. Selection requires one unique candidate to authenticate at least two consecutive application records in the declared generation-zero epoch. Ambiguity, timeout, missing evidence or repeated candidate use across roles produces unresolved decisions. Known payload content is not a selector. Outputs are sealed before the root-only evaluator checks exact reference equality and false assignments. The authentication stage has a separate 300-second budget. Sources: lab/blind_tls13/recover.py assign(); lab/blind_tls13/record_auth.py; lab/isolated_tls13/compare_recovery.py.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new primary comparison finished on all 100 retained BLIND-FINAL-20260930-A cases. Signed summary and read-only handoff audit account for 100 scored, zero failed, zero partial and zero unattempted cases. These are existing data, not a fresh independent sample. Positive complete counts: historical structured70/70, structure-only70/70, adapted Anderson69/70, historical entropy0/70, adapted X-Ray full-snapshot baseline0/70. Correct positive targets respectively350/350,350/350,347/350,1/350,0/350. Median positive wall times22.7,17.3,20.3,187.7,187.4seconds. Every arm had zero false assignments. All passed20/20 mismatch/unrelated abstention controls. The two structural methods and Anderson passed10/10 withheld controls; the entropy arms passed0/10. These counts do not establish equal performance in a broader population or infer statistical significance. X-Ray is only an adapted baseline. The plan reports the resource grid started after the audit and pilot. No completed grid result is claimed. Source: tls13-extended-validation/docs/offline-memory/TLS13_PRIMARY_COMPARISON_RESULTS.md.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resource grid predeclares three search-time limits and three candidate caps, making nine settings per method per selected case. The same twenty preselected retained case IDs are used for all settings and all five methods. The full planned grid therefore has 20 × 9 × 5 = 900 method runs, reusing twenty cases; it is not nine hundred new independent cases. The primary retained-corpus comparison uses 180 seconds and 100 candidates. The packet-authentication stage separately allows 300 seconds, so search seconds do not equal end-to-end time. Structural enumeration can stop at K; the historical structured arm enumerates/ranks before trimming, while entropy arms maintain the top K and continue scanning. Preserve the actual cap/timeout behavior in analysis. Historical structured timeout returns no candidates; other arms can retain partial sets. The comparison must record recovery, false assignments, abstention, timeouts, CPU/wall time and memory. No grid outcome is claimed here. Source: TLS13_SENSITIVITY_MANIFEST.json; TLS13_ISOLATED_VALIDATION_PLAN.md; lab/isolated_tls13/sensitivity_study.py.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comparison establishes that entropy admission did not improve complete positive recovery over structure-only on the retained sample at the primary budget. It does not prove entropy is universally unnecessary, and wall-time medians alone are not a significance test. Next we need the sealed resource-grid analysis: candidate recall, which genuine values the filter discards, cap effects, timeouts, ordering, authentication trials and cost. If entropy provides no measured benefit, simplify the method and report that conclusion rather than defend a preferred ranker. Any change becomes a newly declared method; historical evidence remains frozen. Unseen builds and fresh confirmation separately test transfer and repeatability. Final success is a defensible rule with explicit limits and correct abstention, not a forced claim of universal superiority. Sources: TLS13_PRIMARY_COMPARISON_RESULTS.md; TLS13_ISOLATED_VALIDATION_PLAN.md.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unseen builds are Firefox 135.0.1 and 137.0.2, with twenty planned cases each: fourteen positives and six controls. Archives and build hashes were pinned before inspecting any transfer outcome. Discovery and assignment rules stay frozen; adaptations become new methods. Fresh confirmation proposes one hundred newly generated cases with seventy positives and thirty controls, separate from development and transfer. Independent verification has one completed integration case that checked twelve payload hashes using recovered application secrets plus reference handshake-only decoder support. That support must be disclosed and a representative subset is still planned. Source: tls13-extended-validation/docs/offline-memory/TLS13_ISOLATED_VALIDATION_PLAN.md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evidence supports controlled saved-memory recovery and role assignment for the named Firefox/NSS build and cipher suite, documented failed pilots and repairs, a paired five-arm retained-case comparison, and replication on retained data with stricter isolation. The broader novelty and generalization case is unfinished. Do not say TLS is broken, all browsers are supported, memory ranking alone identifies secrets, or the study beats full X-Ray-TLS. Acquisition requires privileged endpoint access, the workload is controlled, complete PCAPs are assumed in the blind study, and temporary lab compatibility exceptions limit the early experiments. Sources: tls13-extended-validation/docs/offline-memory/TLS13_EXTENDED_RESULTS.md; TLS13_EXTENDED_WORK_LOG.md (same directory); tls13-extended-validation/docs/offline-memory/TLS13_BLIND_STUDY_RESULTS.md; lab/blind_tls13/README.md; tls13-extended-validation/docs/offline-memory/TLS13_ISOLATED_VALIDATION_PLAN.md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Daniel Baier, Alexander Basse, Jan-Niclas Hilgert and Martin Lambertz. 2024. TLS key material identification and extraction in memory: Current state and future challenges. Forensic Science International: Digital Investigation 49, 301766. https://doi.org/10.1016/j.fsidi.2024.301766. Supplied PDF: /Users/shanilka/Downloads/TLS - Current state and future challenges.pdf.</a:t>
            </a:r>
          </a:p>
          <a:p xmlns:a="http://schemas.openxmlformats.org/drawingml/2006/main">
            <a:r>
              <a:t>2. Florent Moriconi, Olivier Levillain, Aurélien Francillon and Raphael Troncy. 2024. X-Ray-TLS: Transparent Decryption of TLS Sessions by Extracting Session Keys from Memory. ACM ASIACCS. Supplied author manuscript has placeholder DOI metadata; use https://www.eurecom.edu/publication/7588/download/data-publi-7588.pdf rather than inventing a DOI.</a:t>
            </a:r>
          </a:p>
          <a:p xmlns:a="http://schemas.openxmlformats.org/drawingml/2006/main">
            <a:r>
              <a:t>3. Daniel Baier and Martin Lambertz. 2025. All your TLS keys are belong to Us: A novel approach to live memory forensic key extraction. Forensic Science International: Digital Investigation 54, 301975. https://doi.org/10.1016/j.fsidi.2025.301975.</a:t>
            </a:r>
          </a:p>
          <a:p xmlns:a="http://schemas.openxmlformats.org/drawingml/2006/main">
            <a:r>
              <a:t>4. Daniel Baier and Julian Lengersdorff. 2026. Keys in Flux: A Forensic Perspective on Implementation Diversity in Cryptographic Protocols. DFDS '26. https://doi.org/10.1145/3785318.3785321.</a:t>
            </a:r>
          </a:p>
          <a:p xmlns:a="http://schemas.openxmlformats.org/drawingml/2006/main">
            <a:r>
              <a:t>The method comparison also refers to Anderson et al.'s NSS adjacency pattern, https://arxiv.org/html/1805.11544, as documented in TLS13_PRIOR_WORK_MATRIX.md. Its TLS 1.3 use is our adaptation, not their published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for questions about where the numbers come from. The twenty TLS 1.2 cases, twenty initial TLS 1.3 cases, hundred extended scenario cases and hundred blind cases are different experiments with different designs. Do not pool their success percentages. The isolated replay uses the same blind hundred and adds no independent sample. Pilots and retries are separate preserved records. The roadmap is documented status, not a live completion claim. Sources relative to workspace: output/offline-memory/REPEATABILITY_RESULTS.md; tls13-extended-validation/docs/offline-memory/TLS13_REPEATABILITY_RESULTS.md; TLS13_EXTENDED_RESULTS.md; TLS13_EXTENDED_WORK_LOG.md; TLS13_BLIND_STUDY_RESULTS.md; TLS13_ISOLATED_VALIDATION_PLAN.md; TLS13_PRIOR_WORK_MATRIX.md.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ecfae2c33e4d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a12408b64c4217" /><Relationship Type="http://schemas.openxmlformats.org/officeDocument/2006/relationships/slideLayout" Target="/ppt/slideLayouts/slideLayout1.xml" Id="Rd541e91c33cd47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41e91c33cd47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9e4f733ef044a4" /><Relationship Type="http://schemas.openxmlformats.org/officeDocument/2006/relationships/notesSlide" Target="/ppt/notesSlides/notesSlide1.xml" Id="R2d502de2719143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06bf74885f444b2" /><Relationship Type="http://schemas.openxmlformats.org/officeDocument/2006/relationships/notesSlide" Target="/ppt/notesSlides/notesSlide2.xml" Id="R28abb3350a6349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6788df8e024009" /><Relationship Type="http://schemas.openxmlformats.org/officeDocument/2006/relationships/notesSlide" Target="/ppt/notesSlides/notesSlide3.xml" Id="R17be2729710245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3649dece174321" /><Relationship Type="http://schemas.openxmlformats.org/officeDocument/2006/relationships/notesSlide" Target="/ppt/notesSlides/notesSlide4.xml" Id="Rccd2afc54aa74f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bf7e49f1e346e6" /><Relationship Type="http://schemas.openxmlformats.org/officeDocument/2006/relationships/notesSlide" Target="/ppt/notesSlides/notesSlide5.xml" Id="R30a55b97113247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5753a4a1c04831" /><Relationship Type="http://schemas.openxmlformats.org/officeDocument/2006/relationships/notesSlide" Target="/ppt/notesSlides/notesSlide6.xml" Id="R1b42e28e5fdd4c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b9700af251443da" /><Relationship Type="http://schemas.openxmlformats.org/officeDocument/2006/relationships/notesSlide" Target="/ppt/notesSlides/notesSlide7.xml" Id="Re65629141bcd45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fa5cc937a9a4a8e" /><Relationship Type="http://schemas.openxmlformats.org/officeDocument/2006/relationships/notesSlide" Target="/ppt/notesSlides/notesSlide8.xml" Id="R5f9b6c554cc249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8ee5393516b4f1d" /><Relationship Type="http://schemas.openxmlformats.org/officeDocument/2006/relationships/notesSlide" Target="/ppt/notesSlides/notesSlide9.xml" Id="R6af590fa1c9744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980383101854cc8" /><Relationship Type="http://schemas.openxmlformats.org/officeDocument/2006/relationships/notesSlide" Target="/ppt/notesSlides/notesSlide10.xml" Id="Ra673c56075fd450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f306685284e4a5d" /><Relationship Type="http://schemas.openxmlformats.org/officeDocument/2006/relationships/notesSlide" Target="/ppt/notesSlides/notesSlide11.xml" Id="Rd2ec9f9f3aec4a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4df6977809a47e8" /><Relationship Type="http://schemas.openxmlformats.org/officeDocument/2006/relationships/notesSlide" Target="/ppt/notesSlides/notesSlide12.xml" Id="Rff4358ad964e427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e4a87f694404e0f" /><Relationship Type="http://schemas.openxmlformats.org/officeDocument/2006/relationships/notesSlide" Target="/ppt/notesSlides/notesSlide13.xml" Id="Raf0785a9b3784c2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e4d73ab06a24a8c" /><Relationship Type="http://schemas.openxmlformats.org/officeDocument/2006/relationships/notesSlide" Target="/ppt/notesSlides/notesSlide14.xml" Id="R7ac799a5ec08491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217362fd11b4918" /><Relationship Type="http://schemas.openxmlformats.org/officeDocument/2006/relationships/notesSlide" Target="/ppt/notesSlides/notesSlide15.xml" Id="R97fa1cedd6e94d8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4c4c3720d634c58" /><Relationship Type="http://schemas.openxmlformats.org/officeDocument/2006/relationships/notesSlide" Target="/ppt/notesSlides/notesSlide16.xml" Id="R6e8f230561a34be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6d6b3d71bcd48b2" /><Relationship Type="http://schemas.openxmlformats.org/officeDocument/2006/relationships/notesSlide" Target="/ppt/notesSlides/notesSlide17.xml" Id="R9c9d4f7c5b034c2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684b3ece5fc4b72" /><Relationship Type="http://schemas.openxmlformats.org/officeDocument/2006/relationships/notesSlide" Target="/ppt/notesSlides/notesSlide18.xml" Id="R09af05dddfac4d8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6e566bf4ace40c1" /><Relationship Type="http://schemas.openxmlformats.org/officeDocument/2006/relationships/notesSlide" Target="/ppt/notesSlides/notesSlide19.xml" Id="Rb0d8ea8a66a6453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eb83fd656514cf3" /><Relationship Type="http://schemas.openxmlformats.org/officeDocument/2006/relationships/notesSlide" Target="/ppt/notesSlides/notesSlide20.xml" Id="R8f8d566f4ec34f3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291a9dd92094526" /><Relationship Type="http://schemas.openxmlformats.org/officeDocument/2006/relationships/notesSlide" Target="/ppt/notesSlides/notesSlide21.xml" Id="R91461bf2fde9472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6ec0231a4af4f28" /><Relationship Type="http://schemas.openxmlformats.org/officeDocument/2006/relationships/notesSlide" Target="/ppt/notesSlides/notesSlide22.xml" Id="R9231741a9a2b481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0bfd7baab2d45ae" /><Relationship Type="http://schemas.openxmlformats.org/officeDocument/2006/relationships/notesSlide" Target="/ppt/notesSlides/notesSlide23.xml" Id="R8830828710b1471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9503f03b73741fd" /><Relationship Type="http://schemas.openxmlformats.org/officeDocument/2006/relationships/notesSlide" Target="/ppt/notesSlides/notesSlide24.xml" Id="R5947422792bc4e0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1b511bbb6ac434d" /><Relationship Type="http://schemas.openxmlformats.org/officeDocument/2006/relationships/notesSlide" Target="/ppt/notesSlides/notesSlide25.xml" Id="R43816e36cba9456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35829f5e00548ba" /><Relationship Type="http://schemas.openxmlformats.org/officeDocument/2006/relationships/notesSlide" Target="/ppt/notesSlides/notesSlide26.xml" Id="R59e5ad5f2c57434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a1e008e014f4be2" /><Relationship Type="http://schemas.openxmlformats.org/officeDocument/2006/relationships/notesSlide" Target="/ppt/notesSlides/notesSlide27.xml" Id="R536032178f81447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ebc07c05ed74ca7" /><Relationship Type="http://schemas.openxmlformats.org/officeDocument/2006/relationships/notesSlide" Target="/ppt/notesSlides/notesSlide28.xml" Id="R0d25ff0d35fe41a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4e390d65d514c69" /><Relationship Type="http://schemas.openxmlformats.org/officeDocument/2006/relationships/notesSlide" Target="/ppt/notesSlides/notesSlide29.xml" Id="R9e52897db2454aa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1ccf1fc0f4e408a" /><Relationship Type="http://schemas.openxmlformats.org/officeDocument/2006/relationships/notesSlide" Target="/ppt/notesSlides/notesSlide30.xml" Id="Rae4ed24a3674479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e876cac41fe498d" /><Relationship Type="http://schemas.openxmlformats.org/officeDocument/2006/relationships/notesSlide" Target="/ppt/notesSlides/notesSlide31.xml" Id="R076a8b7dd4874a9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62741992d7e4d90" /><Relationship Type="http://schemas.openxmlformats.org/officeDocument/2006/relationships/notesSlide" Target="/ppt/notesSlides/notesSlide32.xml" Id="Rb17ec28423ef490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410016f812f40b0" /><Relationship Type="http://schemas.openxmlformats.org/officeDocument/2006/relationships/notesSlide" Target="/ppt/notesSlides/notesSlide33.xml" Id="R42aff2726e44490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7aa01671cb646e4" /><Relationship Type="http://schemas.openxmlformats.org/officeDocument/2006/relationships/notesSlide" Target="/ppt/notesSlides/notesSlide34.xml" Id="R63099ad35ecf41f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b623915e37e4079" /><Relationship Type="http://schemas.openxmlformats.org/officeDocument/2006/relationships/notesSlide" Target="/ppt/notesSlides/notesSlide35.xml" Id="R01beb105f68a4a5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3bb1ffcd7bd4dba" /><Relationship Type="http://schemas.openxmlformats.org/officeDocument/2006/relationships/notesSlide" Target="/ppt/notesSlides/notesSlide36.xml" Id="Rcedbe4791a574a5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735757d13874188" /><Relationship Type="http://schemas.openxmlformats.org/officeDocument/2006/relationships/notesSlide" Target="/ppt/notesSlides/notesSlide37.xml" Id="R1e3b406f8b21409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983e1cd1b7094cfe" /><Relationship Type="http://schemas.openxmlformats.org/officeDocument/2006/relationships/notesSlide" Target="/ppt/notesSlides/notesSlide38.xml" Id="Rf0811839afd94a3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501c3bbd27c45eb" /><Relationship Type="http://schemas.openxmlformats.org/officeDocument/2006/relationships/notesSlide" Target="/ppt/notesSlides/notesSlide39.xml" Id="Rbce046926c3b441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2567078e96f748ee" /><Relationship Type="http://schemas.openxmlformats.org/officeDocument/2006/relationships/notesSlide" Target="/ppt/notesSlides/notesSlide40.xml" Id="R0bf48b9404d6405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a597ff8fbce24c65" /><Relationship Type="http://schemas.openxmlformats.org/officeDocument/2006/relationships/notesSlide" Target="/ppt/notesSlides/notesSlide41.xml" Id="Rb0a00df32fe843c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e54daa8a01024618" /><Relationship Type="http://schemas.openxmlformats.org/officeDocument/2006/relationships/notesSlide" Target="/ppt/notesSlides/notesSlide42.xml" Id="R8e371fc25870411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5d66c30fe1424d1c" /><Relationship Type="http://schemas.openxmlformats.org/officeDocument/2006/relationships/notesSlide" Target="/ppt/notesSlides/notesSlide43.xml" Id="Reaca86f0ad8a408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8b1069f6317241a1" /><Relationship Type="http://schemas.openxmlformats.org/officeDocument/2006/relationships/notesSlide" Target="/ppt/notesSlides/notesSlide44.xml" Id="Rd00efae75f084ee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d4cc3d4f581446b5" /><Relationship Type="http://schemas.openxmlformats.org/officeDocument/2006/relationships/notesSlide" Target="/ppt/notesSlides/notesSlide45.xml" Id="R9a943e080c084cc5" /></Relationships>
</file>

<file path=ppt/slides/slide1.xml><?xml version="1.0" encoding="utf-8"?>
<p:sld xmlns:p="http://schemas.openxmlformats.org/presentationml/2006/main">
  <p:cSld>
    <p:bg>
      <p:bgPr>
        <a:solidFill xmlns:a="http://schemas.openxmlformats.org/drawingml/2006/main">
          <a:srgbClr val="142E3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BCF58B-92F3-40DB-B4FF-C73EA8F341BC}"/>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Our TLS memory research journey</a:t>
            </a:r>
          </a:p>
        </p:txBody>
      </p:sp>
      <p:sp>
        <p:nvSpPr>
          <p:cNvPr id="2" name="">
            <a:extLst xmlns:a="http://schemas.openxmlformats.org/drawingml/2006/main">
              <a:ext uri="{FF2B5EF4-FFF2-40B4-BE49-F238E27FC236}">
                <a16:creationId xmlns:a16="http://schemas.microsoft.com/office/drawing/2014/main" id="{3AEA39BD-F579-44CE-A925-1B8DADC4D37B}"/>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007F79"/>
            </a:solidFill>
          </a:ln>
        </p:spPr>
      </p:sp>
      <p:sp>
        <p:nvSpPr>
          <p:cNvPr id="3" name="">
            <a:extLst xmlns:a="http://schemas.openxmlformats.org/drawingml/2006/main">
              <a:ext uri="{FF2B5EF4-FFF2-40B4-BE49-F238E27FC236}">
                <a16:creationId xmlns:a16="http://schemas.microsoft.com/office/drawing/2014/main" id="{0F28E07B-BAFC-43A9-86F1-26788F83E73A}"/>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C6D8DA"/>
                </a:solidFill>
                <a:latin typeface="Arial"/>
                <a:ea typeface="Arial"/>
                <a:cs typeface="Arial"/>
              </a:defRPr>
            </a:pPr>
            <a:r>
              <a:rPr sz="1125" b="0">
                <a:solidFill>
                  <a:srgbClr val="C6D8DA"/>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33532407-43EA-4354-9C96-1C8A59EF93E6}"/>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C6D8DA"/>
                </a:solidFill>
                <a:latin typeface="Arial"/>
                <a:ea typeface="Arial"/>
                <a:cs typeface="Arial"/>
              </a:defRPr>
            </a:pPr>
            <a:r>
              <a:rPr sz="1050" b="0">
                <a:solidFill>
                  <a:srgbClr val="C6D8DA"/>
                </a:solidFill>
                <a:latin typeface="Arial"/>
                <a:ea typeface="Arial"/>
                <a:cs typeface="Arial"/>
              </a:rPr>
              <a:t>Research pathway, reviewed 3 October 2026</a:t>
            </a:r>
          </a:p>
        </p:txBody>
      </p:sp>
      <p:sp>
        <p:nvSpPr>
          <p:cNvPr id="5" name="">
            <a:extLst xmlns:a="http://schemas.openxmlformats.org/drawingml/2006/main">
              <a:ext uri="{FF2B5EF4-FFF2-40B4-BE49-F238E27FC236}">
                <a16:creationId xmlns:a16="http://schemas.microsoft.com/office/drawing/2014/main" id="{E7015E19-8DC8-4D72-A35E-0637BC6BD21C}"/>
              </a:ext>
            </a:extLst>
          </p:cNvPr>
          <p:cNvSpPr>
            <a:spLocks xmlns:a="http://schemas.openxmlformats.org/drawingml/2006/main" noGrp="1"/>
          </p:cNvSpPr>
          <p:nvPr/>
        </p:nvSpPr>
        <p:spPr>
          <a:xfrm xmlns:a="http://schemas.openxmlformats.org/drawingml/2006/main">
            <a:off x="609600" y="2238375"/>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What we tried. What failed.</a:t>
            </a:r>
          </a:p>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What changed. What comes next.</a:t>
            </a:r>
          </a:p>
        </p:txBody>
      </p:sp>
      <p:sp>
        <p:nvSpPr>
          <p:cNvPr id="6" name="">
            <a:extLst xmlns:a="http://schemas.openxmlformats.org/drawingml/2006/main">
              <a:ext uri="{FF2B5EF4-FFF2-40B4-BE49-F238E27FC236}">
                <a16:creationId xmlns:a16="http://schemas.microsoft.com/office/drawing/2014/main" id="{150CD52D-EFF3-47A5-9A16-5D72E588E31A}"/>
              </a:ext>
            </a:extLst>
          </p:cNvPr>
          <p:cNvSpPr>
            <a:spLocks xmlns:a="http://schemas.openxmlformats.org/drawingml/2006/main" noGrp="1"/>
          </p:cNvSpPr>
          <p:nvPr/>
        </p:nvSpPr>
        <p:spPr>
          <a:xfrm xmlns:a="http://schemas.openxmlformats.org/drawingml/2006/main">
            <a:off x="609600" y="44386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9DCD6"/>
                </a:solidFill>
                <a:latin typeface="Arial"/>
                <a:ea typeface="Arial"/>
                <a:cs typeface="Arial"/>
              </a:defRPr>
            </a:pPr>
            <a:r>
              <a:rPr sz="2175" b="0">
                <a:solidFill>
                  <a:srgbClr val="B9DCD6"/>
                </a:solidFill>
                <a:latin typeface="Arial"/>
                <a:ea typeface="Arial"/>
                <a:cs typeface="Arial"/>
              </a:rPr>
              <a:t>A student-friendly account of saved-memory secret recovery</a:t>
            </a:r>
          </a:p>
        </p:txBody>
      </p:sp>
    </p:spTree>
    <p:extLst>
      <p:ext uri="{BB962C8B-B14F-4D97-AF65-F5344CB8AC3E}">
        <p14:creationId xmlns:p14="http://schemas.microsoft.com/office/powerpoint/2010/main" val="1444715525"/>
      </p:ext>
    </p:extLst>
  </p:cSld>
</p:sld>
</file>

<file path=ppt/slides/slide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7856DC5-1F94-4F47-A4FE-AE6A9BA90F89}"/>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Proposed name and research aim</a:t>
            </a:r>
          </a:p>
        </p:txBody>
      </p:sp>
      <p:sp>
        <p:nvSpPr>
          <p:cNvPr id="2" name="">
            <a:extLst xmlns:a="http://schemas.openxmlformats.org/drawingml/2006/main">
              <a:ext uri="{FF2B5EF4-FFF2-40B4-BE49-F238E27FC236}">
                <a16:creationId xmlns:a16="http://schemas.microsoft.com/office/drawing/2014/main" id="{0B105803-B0B9-46BF-9E55-EBD23B076287}"/>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1B410D3B-5376-4B02-9B77-B5FACD732B3D}"/>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DBE258D-7056-49C6-971E-B3465CBFBC7D}"/>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Working name proposed for discussion, not a finalized thesis title</a:t>
            </a:r>
          </a:p>
        </p:txBody>
      </p:sp>
      <p:sp>
        <p:nvSpPr>
          <p:cNvPr id="5" name="">
            <a:extLst xmlns:a="http://schemas.openxmlformats.org/drawingml/2006/main">
              <a:ext uri="{FF2B5EF4-FFF2-40B4-BE49-F238E27FC236}">
                <a16:creationId xmlns:a16="http://schemas.microsoft.com/office/drawing/2014/main" id="{70CD320F-9DA7-43D2-A549-097D02D44CF5}"/>
              </a:ext>
            </a:extLst>
          </p:cNvPr>
          <p:cNvSpPr>
            <a:spLocks xmlns:a="http://schemas.openxmlformats.org/drawingml/2006/main" noGrp="1"/>
          </p:cNvSpPr>
          <p:nvPr/>
        </p:nvSpPr>
        <p:spPr>
          <a:xfrm xmlns:a="http://schemas.openxmlformats.org/drawingml/2006/main">
            <a:off x="609600" y="19812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007F79"/>
                </a:solidFill>
                <a:latin typeface="Arial"/>
                <a:ea typeface="Arial"/>
                <a:cs typeface="Arial"/>
              </a:defRPr>
            </a:pPr>
            <a:r>
              <a:rPr sz="3975" b="1">
                <a:solidFill>
                  <a:srgbClr val="007F79"/>
                </a:solidFill>
                <a:latin typeface="Arial"/>
                <a:ea typeface="Arial"/>
                <a:cs typeface="Arial"/>
              </a:rPr>
              <a:t>TLS Snapshot Mapper</a:t>
            </a:r>
          </a:p>
        </p:txBody>
      </p:sp>
      <p:sp>
        <p:nvSpPr>
          <p:cNvPr id="6" name="">
            <a:extLst xmlns:a="http://schemas.openxmlformats.org/drawingml/2006/main">
              <a:ext uri="{FF2B5EF4-FFF2-40B4-BE49-F238E27FC236}">
                <a16:creationId xmlns:a16="http://schemas.microsoft.com/office/drawing/2014/main" id="{E0EE742B-12B1-483C-9E90-A9E3B678095C}"/>
              </a:ext>
            </a:extLst>
          </p:cNvPr>
          <p:cNvSpPr>
            <a:spLocks xmlns:a="http://schemas.openxmlformats.org/drawingml/2006/main" noGrp="1"/>
          </p:cNvSpPr>
          <p:nvPr/>
        </p:nvSpPr>
        <p:spPr>
          <a:xfrm xmlns:a="http://schemas.openxmlformats.org/drawingml/2006/main">
            <a:off x="609600" y="2895600"/>
            <a:ext cx="10648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E3E"/>
                </a:solidFill>
                <a:latin typeface="Arial"/>
                <a:ea typeface="Arial"/>
                <a:cs typeface="Arial"/>
              </a:defRPr>
            </a:pPr>
            <a:r>
              <a:rPr sz="2625" b="1">
                <a:solidFill>
                  <a:srgbClr val="142E3E"/>
                </a:solidFill>
                <a:latin typeface="Arial"/>
                <a:ea typeface="Arial"/>
                <a:cs typeface="Arial"/>
              </a:rPr>
              <a:t>Blind TLS 1.3 secret recovery and role assignment</a:t>
            </a:r>
          </a:p>
          <a:p xmlns:a="http://schemas.openxmlformats.org/drawingml/2006/main">
            <a:pPr>
              <a:defRPr sz="2625" b="1">
                <a:solidFill>
                  <a:srgbClr val="142E3E"/>
                </a:solidFill>
                <a:latin typeface="Arial"/>
                <a:ea typeface="Arial"/>
                <a:cs typeface="Arial"/>
              </a:defRPr>
            </a:pPr>
            <a:r>
              <a:rPr sz="2625" b="1">
                <a:solidFill>
                  <a:srgbClr val="142E3E"/>
                </a:solidFill>
                <a:latin typeface="Arial"/>
                <a:ea typeface="Arial"/>
                <a:cs typeface="Arial"/>
              </a:rPr>
              <a:t>from saved Firefox memory</a:t>
            </a:r>
          </a:p>
        </p:txBody>
      </p:sp>
      <p:sp>
        <p:nvSpPr>
          <p:cNvPr id="7" name="">
            <a:extLst xmlns:a="http://schemas.openxmlformats.org/drawingml/2006/main">
              <a:ext uri="{FF2B5EF4-FFF2-40B4-BE49-F238E27FC236}">
                <a16:creationId xmlns:a16="http://schemas.microsoft.com/office/drawing/2014/main" id="{1703EA66-0839-45F2-88B4-087D73B8BC43}"/>
              </a:ext>
            </a:extLst>
          </p:cNvPr>
          <p:cNvSpPr>
            <a:spLocks xmlns:a="http://schemas.openxmlformats.org/drawingml/2006/main" noGrp="1"/>
          </p:cNvSpPr>
          <p:nvPr/>
        </p:nvSpPr>
        <p:spPr>
          <a:xfrm xmlns:a="http://schemas.openxmlformats.org/drawingml/2006/main">
            <a:off x="609600" y="4343400"/>
            <a:ext cx="123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A75B17"/>
                </a:solidFill>
                <a:latin typeface="Arial"/>
                <a:ea typeface="Arial"/>
                <a:cs typeface="Arial"/>
              </a:defRPr>
            </a:pPr>
            <a:r>
              <a:rPr sz="2100" b="1">
                <a:solidFill>
                  <a:srgbClr val="A75B17"/>
                </a:solidFill>
                <a:latin typeface="Arial"/>
                <a:ea typeface="Arial"/>
                <a:cs typeface="Arial"/>
              </a:rPr>
              <a:t>Goal</a:t>
            </a:r>
          </a:p>
        </p:txBody>
      </p:sp>
      <p:sp>
        <p:nvSpPr>
          <p:cNvPr id="8" name="">
            <a:extLst xmlns:a="http://schemas.openxmlformats.org/drawingml/2006/main">
              <a:ext uri="{FF2B5EF4-FFF2-40B4-BE49-F238E27FC236}">
                <a16:creationId xmlns:a16="http://schemas.microsoft.com/office/drawing/2014/main" id="{856BBFCA-C94C-4898-8372-CF6EAE80D69D}"/>
              </a:ext>
            </a:extLst>
          </p:cNvPr>
          <p:cNvSpPr>
            <a:spLocks xmlns:a="http://schemas.openxmlformats.org/drawingml/2006/main" noGrp="1"/>
          </p:cNvSpPr>
          <p:nvPr/>
        </p:nvSpPr>
        <p:spPr>
          <a:xfrm xmlns:a="http://schemas.openxmlformats.org/drawingml/2006/main">
            <a:off x="609600" y="4886325"/>
            <a:ext cx="106489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3E"/>
                </a:solidFill>
                <a:latin typeface="Arial"/>
                <a:ea typeface="Arial"/>
                <a:cs typeface="Arial"/>
              </a:defRPr>
            </a:pPr>
            <a:r>
              <a:rPr sz="2250" b="0">
                <a:solidFill>
                  <a:srgbClr val="142E3E"/>
                </a:solidFill>
                <a:latin typeface="Arial"/>
                <a:ea typeface="Arial"/>
                <a:cs typeface="Arial"/>
              </a:rPr>
              <a:t>Find which secret belongs to each connection and direction.</a:t>
            </a:r>
          </a:p>
          <a:p xmlns:a="http://schemas.openxmlformats.org/drawingml/2006/main">
            <a:pPr>
              <a:defRPr sz="2250" b="0">
                <a:solidFill>
                  <a:srgbClr val="142E3E"/>
                </a:solidFill>
                <a:latin typeface="Arial"/>
                <a:ea typeface="Arial"/>
                <a:cs typeface="Arial"/>
              </a:defRPr>
            </a:pPr>
            <a:r>
              <a:rPr sz="2250" b="0">
                <a:solidFill>
                  <a:srgbClr val="142E3E"/>
                </a:solidFill>
                <a:latin typeface="Arial"/>
                <a:ea typeface="Arial"/>
                <a:cs typeface="Arial"/>
              </a:rPr>
              <a:t>Leave a role unresolved when the evidence is insufficient.</a:t>
            </a:r>
          </a:p>
        </p:txBody>
      </p:sp>
    </p:spTree>
    <p:extLst>
      <p:ext uri="{BB962C8B-B14F-4D97-AF65-F5344CB8AC3E}">
        <p14:creationId xmlns:p14="http://schemas.microsoft.com/office/powerpoint/2010/main" val="645556547"/>
      </p:ext>
    </p:extLst>
  </p:cSld>
</p:sld>
</file>

<file path=ppt/slides/slide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D966255-E2BE-4DD8-8A64-BFA53C335D9D}"/>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The path we followed</a:t>
            </a:r>
          </a:p>
        </p:txBody>
      </p:sp>
      <p:sp>
        <p:nvSpPr>
          <p:cNvPr id="2" name="">
            <a:extLst xmlns:a="http://schemas.openxmlformats.org/drawingml/2006/main">
              <a:ext uri="{FF2B5EF4-FFF2-40B4-BE49-F238E27FC236}">
                <a16:creationId xmlns:a16="http://schemas.microsoft.com/office/drawing/2014/main" id="{14690568-49FB-4548-95D3-576D0FD305D1}"/>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B27BEFBA-17DD-410D-950A-01D952E6D2B0}"/>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077744CD-7823-4B8E-A43D-CEA81C6DBE82}"/>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Sources: saved-memory logs, extended results, blind results, validation plan</a:t>
            </a:r>
          </a:p>
        </p:txBody>
      </p:sp>
      <p:sp>
        <p:nvSpPr>
          <p:cNvPr id="5" name="">
            <a:extLst xmlns:a="http://schemas.openxmlformats.org/drawingml/2006/main">
              <a:ext uri="{FF2B5EF4-FFF2-40B4-BE49-F238E27FC236}">
                <a16:creationId xmlns:a16="http://schemas.microsoft.com/office/drawing/2014/main" id="{BB8828B5-3C9A-40FF-A1FE-3EE585CDB783}"/>
              </a:ext>
            </a:extLst>
          </p:cNvPr>
          <p:cNvSpPr>
            <a:spLocks xmlns:a="http://schemas.openxmlformats.org/drawingml/2006/main" noGrp="1"/>
          </p:cNvSpPr>
          <p:nvPr/>
        </p:nvSpPr>
        <p:spPr>
          <a:xfrm xmlns:a="http://schemas.openxmlformats.org/drawingml/2006/main">
            <a:off x="609600" y="2266950"/>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6" name="">
            <a:extLst xmlns:a="http://schemas.openxmlformats.org/drawingml/2006/main">
              <a:ext uri="{FF2B5EF4-FFF2-40B4-BE49-F238E27FC236}">
                <a16:creationId xmlns:a16="http://schemas.microsoft.com/office/drawing/2014/main" id="{51CC995F-5FF9-423D-AD95-BFD046A85B38}"/>
              </a:ext>
            </a:extLst>
          </p:cNvPr>
          <p:cNvSpPr>
            <a:spLocks xmlns:a="http://schemas.openxmlformats.org/drawingml/2006/main" noGrp="1"/>
          </p:cNvSpPr>
          <p:nvPr/>
        </p:nvSpPr>
        <p:spPr>
          <a:xfrm xmlns:a="http://schemas.openxmlformats.org/drawingml/2006/main">
            <a:off x="762000" y="2457450"/>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Save memory</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and traffic</a:t>
            </a:r>
          </a:p>
        </p:txBody>
      </p:sp>
      <p:sp>
        <p:nvSpPr>
          <p:cNvPr id="7" name="">
            <a:extLst xmlns:a="http://schemas.openxmlformats.org/drawingml/2006/main">
              <a:ext uri="{FF2B5EF4-FFF2-40B4-BE49-F238E27FC236}">
                <a16:creationId xmlns:a16="http://schemas.microsoft.com/office/drawing/2014/main" id="{54BDDA07-C5A9-4543-B5AA-BA10590484F0}"/>
              </a:ext>
            </a:extLst>
          </p:cNvPr>
          <p:cNvSpPr>
            <a:spLocks xmlns:a="http://schemas.openxmlformats.org/drawingml/2006/main" noGrp="1"/>
          </p:cNvSpPr>
          <p:nvPr/>
        </p:nvSpPr>
        <p:spPr>
          <a:xfrm xmlns:a="http://schemas.openxmlformats.org/drawingml/2006/main">
            <a:off x="3457575" y="2266950"/>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8" name="">
            <a:extLst xmlns:a="http://schemas.openxmlformats.org/drawingml/2006/main">
              <a:ext uri="{FF2B5EF4-FFF2-40B4-BE49-F238E27FC236}">
                <a16:creationId xmlns:a16="http://schemas.microsoft.com/office/drawing/2014/main" id="{222BF0B4-0298-48DE-94A7-627834E7CA00}"/>
              </a:ext>
            </a:extLst>
          </p:cNvPr>
          <p:cNvSpPr>
            <a:spLocks xmlns:a="http://schemas.openxmlformats.org/drawingml/2006/main" noGrp="1"/>
          </p:cNvSpPr>
          <p:nvPr/>
        </p:nvSpPr>
        <p:spPr>
          <a:xfrm xmlns:a="http://schemas.openxmlformats.org/drawingml/2006/main">
            <a:off x="3609975" y="2457450"/>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Recover and</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verify secrets</a:t>
            </a:r>
          </a:p>
        </p:txBody>
      </p:sp>
      <p:sp>
        <p:nvSpPr>
          <p:cNvPr id="9" name="">
            <a:extLst xmlns:a="http://schemas.openxmlformats.org/drawingml/2006/main">
              <a:ext uri="{FF2B5EF4-FFF2-40B4-BE49-F238E27FC236}">
                <a16:creationId xmlns:a16="http://schemas.microsoft.com/office/drawing/2014/main" id="{CE95F1CD-12E2-4586-948A-6F77EA7FDFC3}"/>
              </a:ext>
            </a:extLst>
          </p:cNvPr>
          <p:cNvSpPr>
            <a:spLocks xmlns:a="http://schemas.openxmlformats.org/drawingml/2006/main" noGrp="1"/>
          </p:cNvSpPr>
          <p:nvPr/>
        </p:nvSpPr>
        <p:spPr>
          <a:xfrm xmlns:a="http://schemas.openxmlformats.org/drawingml/2006/main">
            <a:off x="3076575" y="2771775"/>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2DB4C53-BDF1-4D02-BAAD-16BC726D6B25}"/>
              </a:ext>
            </a:extLst>
          </p:cNvPr>
          <p:cNvSpPr>
            <a:spLocks xmlns:a="http://schemas.openxmlformats.org/drawingml/2006/main" noGrp="1"/>
          </p:cNvSpPr>
          <p:nvPr/>
        </p:nvSpPr>
        <p:spPr>
          <a:xfrm xmlns:a="http://schemas.openxmlformats.org/drawingml/2006/main">
            <a:off x="3238500" y="270510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D714DA6-62CB-4C31-AE4C-D78178370DAE}"/>
              </a:ext>
            </a:extLst>
          </p:cNvPr>
          <p:cNvSpPr>
            <a:spLocks xmlns:a="http://schemas.openxmlformats.org/drawingml/2006/main" noGrp="1"/>
          </p:cNvSpPr>
          <p:nvPr/>
        </p:nvSpPr>
        <p:spPr>
          <a:xfrm xmlns:a="http://schemas.openxmlformats.org/drawingml/2006/main">
            <a:off x="6305550" y="2266950"/>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2" name="">
            <a:extLst xmlns:a="http://schemas.openxmlformats.org/drawingml/2006/main">
              <a:ext uri="{FF2B5EF4-FFF2-40B4-BE49-F238E27FC236}">
                <a16:creationId xmlns:a16="http://schemas.microsoft.com/office/drawing/2014/main" id="{58CBD182-3F48-48FD-836E-FCEE4F9E1C3C}"/>
              </a:ext>
            </a:extLst>
          </p:cNvPr>
          <p:cNvSpPr>
            <a:spLocks xmlns:a="http://schemas.openxmlformats.org/drawingml/2006/main" noGrp="1"/>
          </p:cNvSpPr>
          <p:nvPr/>
        </p:nvSpPr>
        <p:spPr>
          <a:xfrm xmlns:a="http://schemas.openxmlformats.org/drawingml/2006/main">
            <a:off x="6457950" y="2457450"/>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Read papers</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and narrow gap</a:t>
            </a:r>
          </a:p>
        </p:txBody>
      </p:sp>
      <p:sp>
        <p:nvSpPr>
          <p:cNvPr id="13" name="">
            <a:extLst xmlns:a="http://schemas.openxmlformats.org/drawingml/2006/main">
              <a:ext uri="{FF2B5EF4-FFF2-40B4-BE49-F238E27FC236}">
                <a16:creationId xmlns:a16="http://schemas.microsoft.com/office/drawing/2014/main" id="{FF994445-F976-4716-8E29-094CAF7686F8}"/>
              </a:ext>
            </a:extLst>
          </p:cNvPr>
          <p:cNvSpPr>
            <a:spLocks xmlns:a="http://schemas.openxmlformats.org/drawingml/2006/main" noGrp="1"/>
          </p:cNvSpPr>
          <p:nvPr/>
        </p:nvSpPr>
        <p:spPr>
          <a:xfrm xmlns:a="http://schemas.openxmlformats.org/drawingml/2006/main">
            <a:off x="5924550" y="2771775"/>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E9038C0-E7BC-4688-AFA9-2DAC4299FF0B}"/>
              </a:ext>
            </a:extLst>
          </p:cNvPr>
          <p:cNvSpPr>
            <a:spLocks xmlns:a="http://schemas.openxmlformats.org/drawingml/2006/main" noGrp="1"/>
          </p:cNvSpPr>
          <p:nvPr/>
        </p:nvSpPr>
        <p:spPr>
          <a:xfrm xmlns:a="http://schemas.openxmlformats.org/drawingml/2006/main">
            <a:off x="6086475" y="270510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4A5BA5D-C8B0-423A-ABF9-F179DBD92C2C}"/>
              </a:ext>
            </a:extLst>
          </p:cNvPr>
          <p:cNvSpPr>
            <a:spLocks xmlns:a="http://schemas.openxmlformats.org/drawingml/2006/main" noGrp="1"/>
          </p:cNvSpPr>
          <p:nvPr/>
        </p:nvSpPr>
        <p:spPr>
          <a:xfrm xmlns:a="http://schemas.openxmlformats.org/drawingml/2006/main">
            <a:off x="9153525" y="2266950"/>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6" name="">
            <a:extLst xmlns:a="http://schemas.openxmlformats.org/drawingml/2006/main">
              <a:ext uri="{FF2B5EF4-FFF2-40B4-BE49-F238E27FC236}">
                <a16:creationId xmlns:a16="http://schemas.microsoft.com/office/drawing/2014/main" id="{DC4AB674-E15B-425A-8DC1-5150070EC0DC}"/>
              </a:ext>
            </a:extLst>
          </p:cNvPr>
          <p:cNvSpPr>
            <a:spLocks xmlns:a="http://schemas.openxmlformats.org/drawingml/2006/main" noGrp="1"/>
          </p:cNvSpPr>
          <p:nvPr/>
        </p:nvSpPr>
        <p:spPr>
          <a:xfrm xmlns:a="http://schemas.openxmlformats.org/drawingml/2006/main">
            <a:off x="9305925" y="2457450"/>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Test TLS 1.3</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more broadly</a:t>
            </a:r>
          </a:p>
        </p:txBody>
      </p:sp>
      <p:sp>
        <p:nvSpPr>
          <p:cNvPr id="17" name="">
            <a:extLst xmlns:a="http://schemas.openxmlformats.org/drawingml/2006/main">
              <a:ext uri="{FF2B5EF4-FFF2-40B4-BE49-F238E27FC236}">
                <a16:creationId xmlns:a16="http://schemas.microsoft.com/office/drawing/2014/main" id="{EB256613-83FE-483C-8D7C-DA6D1E643EA4}"/>
              </a:ext>
            </a:extLst>
          </p:cNvPr>
          <p:cNvSpPr>
            <a:spLocks xmlns:a="http://schemas.openxmlformats.org/drawingml/2006/main" noGrp="1"/>
          </p:cNvSpPr>
          <p:nvPr/>
        </p:nvSpPr>
        <p:spPr>
          <a:xfrm xmlns:a="http://schemas.openxmlformats.org/drawingml/2006/main">
            <a:off x="8772525" y="2771775"/>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F43F52D-04A2-4ADA-B3E1-A9B31573BF31}"/>
              </a:ext>
            </a:extLst>
          </p:cNvPr>
          <p:cNvSpPr>
            <a:spLocks xmlns:a="http://schemas.openxmlformats.org/drawingml/2006/main" noGrp="1"/>
          </p:cNvSpPr>
          <p:nvPr/>
        </p:nvSpPr>
        <p:spPr>
          <a:xfrm xmlns:a="http://schemas.openxmlformats.org/drawingml/2006/main">
            <a:off x="8934450" y="270510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6C5CFF8-5E27-462C-A396-99248F164270}"/>
              </a:ext>
            </a:extLst>
          </p:cNvPr>
          <p:cNvSpPr>
            <a:spLocks xmlns:a="http://schemas.openxmlformats.org/drawingml/2006/main" noGrp="1"/>
          </p:cNvSpPr>
          <p:nvPr/>
        </p:nvSpPr>
        <p:spPr>
          <a:xfrm xmlns:a="http://schemas.openxmlformats.org/drawingml/2006/main">
            <a:off x="609600" y="4095750"/>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0" name="">
            <a:extLst xmlns:a="http://schemas.openxmlformats.org/drawingml/2006/main">
              <a:ext uri="{FF2B5EF4-FFF2-40B4-BE49-F238E27FC236}">
                <a16:creationId xmlns:a16="http://schemas.microsoft.com/office/drawing/2014/main" id="{9A5B276B-FBBC-4D4D-B9D7-15E32A3D847F}"/>
              </a:ext>
            </a:extLst>
          </p:cNvPr>
          <p:cNvSpPr>
            <a:spLocks xmlns:a="http://schemas.openxmlformats.org/drawingml/2006/main" noGrp="1"/>
          </p:cNvSpPr>
          <p:nvPr/>
        </p:nvSpPr>
        <p:spPr>
          <a:xfrm xmlns:a="http://schemas.openxmlformats.org/drawingml/2006/main">
            <a:off x="762000" y="4286250"/>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Remove known</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message hints</a:t>
            </a:r>
          </a:p>
        </p:txBody>
      </p:sp>
      <p:sp>
        <p:nvSpPr>
          <p:cNvPr id="21" name="">
            <a:extLst xmlns:a="http://schemas.openxmlformats.org/drawingml/2006/main">
              <a:ext uri="{FF2B5EF4-FFF2-40B4-BE49-F238E27FC236}">
                <a16:creationId xmlns:a16="http://schemas.microsoft.com/office/drawing/2014/main" id="{236A7A03-A19A-4B84-A2EC-4F2E55F32CA4}"/>
              </a:ext>
            </a:extLst>
          </p:cNvPr>
          <p:cNvSpPr>
            <a:spLocks xmlns:a="http://schemas.openxmlformats.org/drawingml/2006/main" noGrp="1"/>
          </p:cNvSpPr>
          <p:nvPr/>
        </p:nvSpPr>
        <p:spPr>
          <a:xfrm xmlns:a="http://schemas.openxmlformats.org/drawingml/2006/main">
            <a:off x="3457575" y="4095750"/>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2" name="">
            <a:extLst xmlns:a="http://schemas.openxmlformats.org/drawingml/2006/main">
              <a:ext uri="{FF2B5EF4-FFF2-40B4-BE49-F238E27FC236}">
                <a16:creationId xmlns:a16="http://schemas.microsoft.com/office/drawing/2014/main" id="{3C498FE2-0DAB-4DC8-8152-8B1B072BA0EC}"/>
              </a:ext>
            </a:extLst>
          </p:cNvPr>
          <p:cNvSpPr>
            <a:spLocks xmlns:a="http://schemas.openxmlformats.org/drawingml/2006/main" noGrp="1"/>
          </p:cNvSpPr>
          <p:nvPr/>
        </p:nvSpPr>
        <p:spPr>
          <a:xfrm xmlns:a="http://schemas.openxmlformats.org/drawingml/2006/main">
            <a:off x="3609975" y="4286250"/>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Compare on</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100 blind cases</a:t>
            </a:r>
          </a:p>
        </p:txBody>
      </p:sp>
      <p:sp>
        <p:nvSpPr>
          <p:cNvPr id="23" name="">
            <a:extLst xmlns:a="http://schemas.openxmlformats.org/drawingml/2006/main">
              <a:ext uri="{FF2B5EF4-FFF2-40B4-BE49-F238E27FC236}">
                <a16:creationId xmlns:a16="http://schemas.microsoft.com/office/drawing/2014/main" id="{E3E5EFCE-0DDC-47C6-AC3D-B5BD07CD7F44}"/>
              </a:ext>
            </a:extLst>
          </p:cNvPr>
          <p:cNvSpPr>
            <a:spLocks xmlns:a="http://schemas.openxmlformats.org/drawingml/2006/main" noGrp="1"/>
          </p:cNvSpPr>
          <p:nvPr/>
        </p:nvSpPr>
        <p:spPr>
          <a:xfrm xmlns:a="http://schemas.openxmlformats.org/drawingml/2006/main">
            <a:off x="3076575" y="4600575"/>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C61467F-DC6E-45D2-9E85-32AB5B645B21}"/>
              </a:ext>
            </a:extLst>
          </p:cNvPr>
          <p:cNvSpPr>
            <a:spLocks xmlns:a="http://schemas.openxmlformats.org/drawingml/2006/main" noGrp="1"/>
          </p:cNvSpPr>
          <p:nvPr/>
        </p:nvSpPr>
        <p:spPr>
          <a:xfrm xmlns:a="http://schemas.openxmlformats.org/drawingml/2006/main">
            <a:off x="3238500" y="453390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213D84E-36CC-44FD-977A-DD11BCBF541F}"/>
              </a:ext>
            </a:extLst>
          </p:cNvPr>
          <p:cNvSpPr>
            <a:spLocks xmlns:a="http://schemas.openxmlformats.org/drawingml/2006/main" noGrp="1"/>
          </p:cNvSpPr>
          <p:nvPr/>
        </p:nvSpPr>
        <p:spPr>
          <a:xfrm xmlns:a="http://schemas.openxmlformats.org/drawingml/2006/main">
            <a:off x="6305550" y="4095750"/>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6" name="">
            <a:extLst xmlns:a="http://schemas.openxmlformats.org/drawingml/2006/main">
              <a:ext uri="{FF2B5EF4-FFF2-40B4-BE49-F238E27FC236}">
                <a16:creationId xmlns:a16="http://schemas.microsoft.com/office/drawing/2014/main" id="{7ADDD7B3-544F-48B2-853C-803B50B4DD42}"/>
              </a:ext>
            </a:extLst>
          </p:cNvPr>
          <p:cNvSpPr>
            <a:spLocks xmlns:a="http://schemas.openxmlformats.org/drawingml/2006/main" noGrp="1"/>
          </p:cNvSpPr>
          <p:nvPr/>
        </p:nvSpPr>
        <p:spPr>
          <a:xfrm xmlns:a="http://schemas.openxmlformats.org/drawingml/2006/main">
            <a:off x="6457950" y="4286250"/>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Repair the</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isolation gap</a:t>
            </a:r>
          </a:p>
        </p:txBody>
      </p:sp>
      <p:sp>
        <p:nvSpPr>
          <p:cNvPr id="27" name="">
            <a:extLst xmlns:a="http://schemas.openxmlformats.org/drawingml/2006/main">
              <a:ext uri="{FF2B5EF4-FFF2-40B4-BE49-F238E27FC236}">
                <a16:creationId xmlns:a16="http://schemas.microsoft.com/office/drawing/2014/main" id="{2818ED1C-B250-4B96-814B-BA80B2DD4F70}"/>
              </a:ext>
            </a:extLst>
          </p:cNvPr>
          <p:cNvSpPr>
            <a:spLocks xmlns:a="http://schemas.openxmlformats.org/drawingml/2006/main" noGrp="1"/>
          </p:cNvSpPr>
          <p:nvPr/>
        </p:nvSpPr>
        <p:spPr>
          <a:xfrm xmlns:a="http://schemas.openxmlformats.org/drawingml/2006/main">
            <a:off x="5924550" y="4600575"/>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56E0DC8-12C9-4AD2-9050-84BB3ECB2794}"/>
              </a:ext>
            </a:extLst>
          </p:cNvPr>
          <p:cNvSpPr>
            <a:spLocks xmlns:a="http://schemas.openxmlformats.org/drawingml/2006/main" noGrp="1"/>
          </p:cNvSpPr>
          <p:nvPr/>
        </p:nvSpPr>
        <p:spPr>
          <a:xfrm xmlns:a="http://schemas.openxmlformats.org/drawingml/2006/main">
            <a:off x="6086475" y="453390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3747D3D-5B68-4358-A6B6-3BBFD2016DD6}"/>
              </a:ext>
            </a:extLst>
          </p:cNvPr>
          <p:cNvSpPr>
            <a:spLocks xmlns:a="http://schemas.openxmlformats.org/drawingml/2006/main" noGrp="1"/>
          </p:cNvSpPr>
          <p:nvPr/>
        </p:nvSpPr>
        <p:spPr>
          <a:xfrm xmlns:a="http://schemas.openxmlformats.org/drawingml/2006/main">
            <a:off x="9153525" y="4095750"/>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30" name="">
            <a:extLst xmlns:a="http://schemas.openxmlformats.org/drawingml/2006/main">
              <a:ext uri="{FF2B5EF4-FFF2-40B4-BE49-F238E27FC236}">
                <a16:creationId xmlns:a16="http://schemas.microsoft.com/office/drawing/2014/main" id="{2473F72C-1BA5-456D-AB62-3C153A068CEE}"/>
              </a:ext>
            </a:extLst>
          </p:cNvPr>
          <p:cNvSpPr>
            <a:spLocks xmlns:a="http://schemas.openxmlformats.org/drawingml/2006/main" noGrp="1"/>
          </p:cNvSpPr>
          <p:nvPr/>
        </p:nvSpPr>
        <p:spPr>
          <a:xfrm xmlns:a="http://schemas.openxmlformats.org/drawingml/2006/main">
            <a:off x="9305925" y="4286250"/>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Test transfer</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and confirm</a:t>
            </a:r>
          </a:p>
        </p:txBody>
      </p:sp>
      <p:sp>
        <p:nvSpPr>
          <p:cNvPr id="31" name="">
            <a:extLst xmlns:a="http://schemas.openxmlformats.org/drawingml/2006/main">
              <a:ext uri="{FF2B5EF4-FFF2-40B4-BE49-F238E27FC236}">
                <a16:creationId xmlns:a16="http://schemas.microsoft.com/office/drawing/2014/main" id="{06CE5488-1617-4670-995A-D45435A40646}"/>
              </a:ext>
            </a:extLst>
          </p:cNvPr>
          <p:cNvSpPr>
            <a:spLocks xmlns:a="http://schemas.openxmlformats.org/drawingml/2006/main" noGrp="1"/>
          </p:cNvSpPr>
          <p:nvPr/>
        </p:nvSpPr>
        <p:spPr>
          <a:xfrm xmlns:a="http://schemas.openxmlformats.org/drawingml/2006/main">
            <a:off x="8772525" y="4600575"/>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B6DC3BE-7CB4-44D6-9BF3-8765D35707C8}"/>
              </a:ext>
            </a:extLst>
          </p:cNvPr>
          <p:cNvSpPr>
            <a:spLocks xmlns:a="http://schemas.openxmlformats.org/drawingml/2006/main" noGrp="1"/>
          </p:cNvSpPr>
          <p:nvPr/>
        </p:nvSpPr>
        <p:spPr>
          <a:xfrm xmlns:a="http://schemas.openxmlformats.org/drawingml/2006/main">
            <a:off x="8934450" y="453390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Tree>
    <p:extLst>
      <p:ext uri="{BB962C8B-B14F-4D97-AF65-F5344CB8AC3E}">
        <p14:creationId xmlns:p14="http://schemas.microsoft.com/office/powerpoint/2010/main" val="2089410328"/>
      </p:ext>
    </p:extLst>
  </p:cSld>
</p:sld>
</file>

<file path=ppt/slides/slide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5134A10-326B-4FB3-9E12-9EE7D4512D26}"/>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Four ideas before the experiments</a:t>
            </a:r>
          </a:p>
        </p:txBody>
      </p:sp>
      <p:sp>
        <p:nvSpPr>
          <p:cNvPr id="2" name="">
            <a:extLst xmlns:a="http://schemas.openxmlformats.org/drawingml/2006/main">
              <a:ext uri="{FF2B5EF4-FFF2-40B4-BE49-F238E27FC236}">
                <a16:creationId xmlns:a16="http://schemas.microsoft.com/office/drawing/2014/main" id="{58C5509C-2580-4C78-9A32-0DDA6B6E17B9}"/>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BB63F282-C4CD-4A41-84A2-97D6000343D8}"/>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46016BC3-AD50-4F43-B403-E208C0035D6B}"/>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Sources: attached TLS survey and TLSKeyHunter paper</a:t>
            </a:r>
          </a:p>
        </p:txBody>
      </p:sp>
      <p:sp>
        <p:nvSpPr>
          <p:cNvPr id="5" name="">
            <a:extLst xmlns:a="http://schemas.openxmlformats.org/drawingml/2006/main">
              <a:ext uri="{FF2B5EF4-FFF2-40B4-BE49-F238E27FC236}">
                <a16:creationId xmlns:a16="http://schemas.microsoft.com/office/drawing/2014/main" id="{E03698BB-91F1-4B79-8CAF-A8FFEFFCAA3D}"/>
              </a:ext>
            </a:extLst>
          </p:cNvPr>
          <p:cNvSpPr>
            <a:spLocks xmlns:a="http://schemas.openxmlformats.org/drawingml/2006/main" noGrp="1"/>
          </p:cNvSpPr>
          <p:nvPr/>
        </p:nvSpPr>
        <p:spPr>
          <a:xfrm xmlns:a="http://schemas.openxmlformats.org/drawingml/2006/main">
            <a:off x="609600" y="20002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Memory image</a:t>
            </a:r>
          </a:p>
        </p:txBody>
      </p:sp>
      <p:sp>
        <p:nvSpPr>
          <p:cNvPr id="6" name="">
            <a:extLst xmlns:a="http://schemas.openxmlformats.org/drawingml/2006/main">
              <a:ext uri="{FF2B5EF4-FFF2-40B4-BE49-F238E27FC236}">
                <a16:creationId xmlns:a16="http://schemas.microsoft.com/office/drawing/2014/main" id="{30F1EE87-5FB6-4E1E-A993-28D5BE4F32D4}"/>
              </a:ext>
            </a:extLst>
          </p:cNvPr>
          <p:cNvSpPr>
            <a:spLocks xmlns:a="http://schemas.openxmlformats.org/drawingml/2006/main" noGrp="1"/>
          </p:cNvSpPr>
          <p:nvPr/>
        </p:nvSpPr>
        <p:spPr>
          <a:xfrm xmlns:a="http://schemas.openxmlformats.org/drawingml/2006/main">
            <a:off x="609600" y="256222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3E"/>
                </a:solidFill>
                <a:latin typeface="Arial"/>
                <a:ea typeface="Arial"/>
                <a:cs typeface="Arial"/>
              </a:defRPr>
            </a:pPr>
            <a:r>
              <a:rPr sz="2025" b="0">
                <a:solidFill>
                  <a:srgbClr val="142E3E"/>
                </a:solidFill>
                <a:latin typeface="Arial"/>
                <a:ea typeface="Arial"/>
                <a:cs typeface="Arial"/>
              </a:rPr>
              <a:t>A frozen copy of a process’s memory at one moment.</a:t>
            </a:r>
          </a:p>
        </p:txBody>
      </p:sp>
      <p:sp>
        <p:nvSpPr>
          <p:cNvPr id="7" name="">
            <a:extLst xmlns:a="http://schemas.openxmlformats.org/drawingml/2006/main">
              <a:ext uri="{FF2B5EF4-FFF2-40B4-BE49-F238E27FC236}">
                <a16:creationId xmlns:a16="http://schemas.microsoft.com/office/drawing/2014/main" id="{D401789F-5888-451F-B115-303A63D055B1}"/>
              </a:ext>
            </a:extLst>
          </p:cNvPr>
          <p:cNvSpPr>
            <a:spLocks xmlns:a="http://schemas.openxmlformats.org/drawingml/2006/main" noGrp="1"/>
          </p:cNvSpPr>
          <p:nvPr/>
        </p:nvSpPr>
        <p:spPr>
          <a:xfrm xmlns:a="http://schemas.openxmlformats.org/drawingml/2006/main">
            <a:off x="6438900" y="20002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Packet capture (PCAP)</a:t>
            </a:r>
          </a:p>
        </p:txBody>
      </p:sp>
      <p:sp>
        <p:nvSpPr>
          <p:cNvPr id="8" name="">
            <a:extLst xmlns:a="http://schemas.openxmlformats.org/drawingml/2006/main">
              <a:ext uri="{FF2B5EF4-FFF2-40B4-BE49-F238E27FC236}">
                <a16:creationId xmlns:a16="http://schemas.microsoft.com/office/drawing/2014/main" id="{A753C4A8-A3A8-415C-8850-9C9006C66BEC}"/>
              </a:ext>
            </a:extLst>
          </p:cNvPr>
          <p:cNvSpPr>
            <a:spLocks xmlns:a="http://schemas.openxmlformats.org/drawingml/2006/main" noGrp="1"/>
          </p:cNvSpPr>
          <p:nvPr/>
        </p:nvSpPr>
        <p:spPr>
          <a:xfrm xmlns:a="http://schemas.openxmlformats.org/drawingml/2006/main">
            <a:off x="6438900" y="256222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3E"/>
                </a:solidFill>
                <a:latin typeface="Arial"/>
                <a:ea typeface="Arial"/>
                <a:cs typeface="Arial"/>
              </a:defRPr>
            </a:pPr>
            <a:r>
              <a:rPr sz="2025" b="0">
                <a:solidFill>
                  <a:srgbClr val="142E3E"/>
                </a:solidFill>
                <a:latin typeface="Arial"/>
                <a:ea typeface="Arial"/>
                <a:cs typeface="Arial"/>
              </a:rPr>
              <a:t>A saved recording of the encrypted conversation.</a:t>
            </a:r>
          </a:p>
        </p:txBody>
      </p:sp>
      <p:sp>
        <p:nvSpPr>
          <p:cNvPr id="9" name="">
            <a:extLst xmlns:a="http://schemas.openxmlformats.org/drawingml/2006/main">
              <a:ext uri="{FF2B5EF4-FFF2-40B4-BE49-F238E27FC236}">
                <a16:creationId xmlns:a16="http://schemas.microsoft.com/office/drawing/2014/main" id="{48275AB5-CF96-448F-A0EB-14EB8D5FC024}"/>
              </a:ext>
            </a:extLst>
          </p:cNvPr>
          <p:cNvSpPr>
            <a:spLocks xmlns:a="http://schemas.openxmlformats.org/drawingml/2006/main" noGrp="1"/>
          </p:cNvSpPr>
          <p:nvPr/>
        </p:nvSpPr>
        <p:spPr>
          <a:xfrm xmlns:a="http://schemas.openxmlformats.org/drawingml/2006/main">
            <a:off x="609600" y="3981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Candidate secret</a:t>
            </a:r>
          </a:p>
        </p:txBody>
      </p:sp>
      <p:sp>
        <p:nvSpPr>
          <p:cNvPr id="10" name="">
            <a:extLst xmlns:a="http://schemas.openxmlformats.org/drawingml/2006/main">
              <a:ext uri="{FF2B5EF4-FFF2-40B4-BE49-F238E27FC236}">
                <a16:creationId xmlns:a16="http://schemas.microsoft.com/office/drawing/2014/main" id="{DB47EBDE-AC1C-4B58-971F-F8D23EBDEAB2}"/>
              </a:ext>
            </a:extLst>
          </p:cNvPr>
          <p:cNvSpPr>
            <a:spLocks xmlns:a="http://schemas.openxmlformats.org/drawingml/2006/main" noGrp="1"/>
          </p:cNvSpPr>
          <p:nvPr/>
        </p:nvSpPr>
        <p:spPr>
          <a:xfrm xmlns:a="http://schemas.openxmlformats.org/drawingml/2006/main">
            <a:off x="609600" y="454342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3E"/>
                </a:solidFill>
                <a:latin typeface="Arial"/>
                <a:ea typeface="Arial"/>
                <a:cs typeface="Arial"/>
              </a:defRPr>
            </a:pPr>
            <a:r>
              <a:rPr sz="2025" b="0">
                <a:solidFill>
                  <a:srgbClr val="142E3E"/>
                </a:solidFill>
                <a:latin typeface="Arial"/>
                <a:ea typeface="Arial"/>
                <a:cs typeface="Arial"/>
              </a:rPr>
              <a:t>A value that looks plausible and still needs testing.</a:t>
            </a:r>
          </a:p>
        </p:txBody>
      </p:sp>
      <p:sp>
        <p:nvSpPr>
          <p:cNvPr id="11" name="">
            <a:extLst xmlns:a="http://schemas.openxmlformats.org/drawingml/2006/main">
              <a:ext uri="{FF2B5EF4-FFF2-40B4-BE49-F238E27FC236}">
                <a16:creationId xmlns:a16="http://schemas.microsoft.com/office/drawing/2014/main" id="{C928ADE4-EC2C-4E9A-8A2F-24DECC1EF560}"/>
              </a:ext>
            </a:extLst>
          </p:cNvPr>
          <p:cNvSpPr>
            <a:spLocks xmlns:a="http://schemas.openxmlformats.org/drawingml/2006/main" noGrp="1"/>
          </p:cNvSpPr>
          <p:nvPr/>
        </p:nvSpPr>
        <p:spPr>
          <a:xfrm xmlns:a="http://schemas.openxmlformats.org/drawingml/2006/main">
            <a:off x="6438900" y="3981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Independent reference</a:t>
            </a:r>
          </a:p>
        </p:txBody>
      </p:sp>
      <p:sp>
        <p:nvSpPr>
          <p:cNvPr id="12" name="">
            <a:extLst xmlns:a="http://schemas.openxmlformats.org/drawingml/2006/main">
              <a:ext uri="{FF2B5EF4-FFF2-40B4-BE49-F238E27FC236}">
                <a16:creationId xmlns:a16="http://schemas.microsoft.com/office/drawing/2014/main" id="{9ED2FD15-09F6-4D90-ABAF-65FDC80442AC}"/>
              </a:ext>
            </a:extLst>
          </p:cNvPr>
          <p:cNvSpPr>
            <a:spLocks xmlns:a="http://schemas.openxmlformats.org/drawingml/2006/main" noGrp="1"/>
          </p:cNvSpPr>
          <p:nvPr/>
        </p:nvSpPr>
        <p:spPr>
          <a:xfrm xmlns:a="http://schemas.openxmlformats.org/drawingml/2006/main">
            <a:off x="6438900" y="454342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3E"/>
                </a:solidFill>
                <a:latin typeface="Arial"/>
                <a:ea typeface="Arial"/>
                <a:cs typeface="Arial"/>
              </a:defRPr>
            </a:pPr>
            <a:r>
              <a:rPr sz="2025" b="0">
                <a:solidFill>
                  <a:srgbClr val="142E3E"/>
                </a:solidFill>
                <a:latin typeface="Arial"/>
                <a:ea typeface="Arial"/>
                <a:cs typeface="Arial"/>
              </a:rPr>
              <a:t>The evaluator’s answer, kept away from recovery.</a:t>
            </a:r>
          </a:p>
        </p:txBody>
      </p:sp>
    </p:spTree>
    <p:extLst>
      <p:ext uri="{BB962C8B-B14F-4D97-AF65-F5344CB8AC3E}">
        <p14:creationId xmlns:p14="http://schemas.microsoft.com/office/powerpoint/2010/main" val="1732153466"/>
      </p:ext>
    </p:extLst>
  </p:cSld>
</p:sld>
</file>

<file path=ppt/slides/slide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1E10527-14FF-4AE2-997D-3ADBAE267397}"/>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Our starting experiment</a:t>
            </a:r>
          </a:p>
        </p:txBody>
      </p:sp>
      <p:sp>
        <p:nvSpPr>
          <p:cNvPr id="2" name="">
            <a:extLst xmlns:a="http://schemas.openxmlformats.org/drawingml/2006/main">
              <a:ext uri="{FF2B5EF4-FFF2-40B4-BE49-F238E27FC236}">
                <a16:creationId xmlns:a16="http://schemas.microsoft.com/office/drawing/2014/main" id="{63856C74-92C3-4EAF-AAF0-FC19309FB2EF}"/>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6E232C23-A059-4A80-8600-16B1C3711478}"/>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0618C28A-B921-4843-972F-084AD919F155}"/>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 SAVED_MEMORY_WORK_LOG.md, development cases 001–009</a:t>
            </a:r>
          </a:p>
        </p:txBody>
      </p:sp>
      <p:sp>
        <p:nvSpPr>
          <p:cNvPr id="5" name="">
            <a:extLst xmlns:a="http://schemas.openxmlformats.org/drawingml/2006/main">
              <a:ext uri="{FF2B5EF4-FFF2-40B4-BE49-F238E27FC236}">
                <a16:creationId xmlns:a16="http://schemas.microsoft.com/office/drawing/2014/main" id="{6E9402CA-E26E-497C-BC94-95B829757A12}"/>
              </a:ext>
            </a:extLst>
          </p:cNvPr>
          <p:cNvSpPr>
            <a:spLocks xmlns:a="http://schemas.openxmlformats.org/drawingml/2006/main" noGrp="1"/>
          </p:cNvSpPr>
          <p:nvPr/>
        </p:nvSpPr>
        <p:spPr>
          <a:xfrm xmlns:a="http://schemas.openxmlformats.org/drawingml/2006/main">
            <a:off x="609600" y="2505075"/>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6" name="">
            <a:extLst xmlns:a="http://schemas.openxmlformats.org/drawingml/2006/main">
              <a:ext uri="{FF2B5EF4-FFF2-40B4-BE49-F238E27FC236}">
                <a16:creationId xmlns:a16="http://schemas.microsoft.com/office/drawing/2014/main" id="{8DE0BF89-4F78-4C2A-AAB6-50A7BBD8F6B9}"/>
              </a:ext>
            </a:extLst>
          </p:cNvPr>
          <p:cNvSpPr>
            <a:spLocks xmlns:a="http://schemas.openxmlformats.org/drawingml/2006/main" noGrp="1"/>
          </p:cNvSpPr>
          <p:nvPr/>
        </p:nvSpPr>
        <p:spPr>
          <a:xfrm xmlns:a="http://schemas.openxmlformats.org/drawingml/2006/main">
            <a:off x="762000" y="2695575"/>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Controlled</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Firefox session</a:t>
            </a:r>
          </a:p>
        </p:txBody>
      </p:sp>
      <p:sp>
        <p:nvSpPr>
          <p:cNvPr id="7" name="">
            <a:extLst xmlns:a="http://schemas.openxmlformats.org/drawingml/2006/main">
              <a:ext uri="{FF2B5EF4-FFF2-40B4-BE49-F238E27FC236}">
                <a16:creationId xmlns:a16="http://schemas.microsoft.com/office/drawing/2014/main" id="{82B9F2E2-B744-4CF5-A6CF-172CA76AB9EF}"/>
              </a:ext>
            </a:extLst>
          </p:cNvPr>
          <p:cNvSpPr>
            <a:spLocks xmlns:a="http://schemas.openxmlformats.org/drawingml/2006/main" noGrp="1"/>
          </p:cNvSpPr>
          <p:nvPr/>
        </p:nvSpPr>
        <p:spPr>
          <a:xfrm xmlns:a="http://schemas.openxmlformats.org/drawingml/2006/main">
            <a:off x="3457575" y="2505075"/>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8" name="">
            <a:extLst xmlns:a="http://schemas.openxmlformats.org/drawingml/2006/main">
              <a:ext uri="{FF2B5EF4-FFF2-40B4-BE49-F238E27FC236}">
                <a16:creationId xmlns:a16="http://schemas.microsoft.com/office/drawing/2014/main" id="{BE9B42D3-CC62-4619-99FF-B5757BD28588}"/>
              </a:ext>
            </a:extLst>
          </p:cNvPr>
          <p:cNvSpPr>
            <a:spLocks xmlns:a="http://schemas.openxmlformats.org/drawingml/2006/main" noGrp="1"/>
          </p:cNvSpPr>
          <p:nvPr/>
        </p:nvSpPr>
        <p:spPr>
          <a:xfrm xmlns:a="http://schemas.openxmlformats.org/drawingml/2006/main">
            <a:off x="3609975" y="2695575"/>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Save core</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and PCAP</a:t>
            </a:r>
          </a:p>
        </p:txBody>
      </p:sp>
      <p:sp>
        <p:nvSpPr>
          <p:cNvPr id="9" name="">
            <a:extLst xmlns:a="http://schemas.openxmlformats.org/drawingml/2006/main">
              <a:ext uri="{FF2B5EF4-FFF2-40B4-BE49-F238E27FC236}">
                <a16:creationId xmlns:a16="http://schemas.microsoft.com/office/drawing/2014/main" id="{60E9A852-F716-4740-A6A2-5F97179FD75C}"/>
              </a:ext>
            </a:extLst>
          </p:cNvPr>
          <p:cNvSpPr>
            <a:spLocks xmlns:a="http://schemas.openxmlformats.org/drawingml/2006/main" noGrp="1"/>
          </p:cNvSpPr>
          <p:nvPr/>
        </p:nvSpPr>
        <p:spPr>
          <a:xfrm xmlns:a="http://schemas.openxmlformats.org/drawingml/2006/main">
            <a:off x="3076575" y="3009900"/>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80F9C60-9B3C-4612-89C7-AF34D11D1AD2}"/>
              </a:ext>
            </a:extLst>
          </p:cNvPr>
          <p:cNvSpPr>
            <a:spLocks xmlns:a="http://schemas.openxmlformats.org/drawingml/2006/main" noGrp="1"/>
          </p:cNvSpPr>
          <p:nvPr/>
        </p:nvSpPr>
        <p:spPr>
          <a:xfrm xmlns:a="http://schemas.openxmlformats.org/drawingml/2006/main">
            <a:off x="3238500" y="294322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34D7C72-E379-4E62-A94E-68FB4CF8CDEA}"/>
              </a:ext>
            </a:extLst>
          </p:cNvPr>
          <p:cNvSpPr>
            <a:spLocks xmlns:a="http://schemas.openxmlformats.org/drawingml/2006/main" noGrp="1"/>
          </p:cNvSpPr>
          <p:nvPr/>
        </p:nvSpPr>
        <p:spPr>
          <a:xfrm xmlns:a="http://schemas.openxmlformats.org/drawingml/2006/main">
            <a:off x="6305550" y="2505075"/>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2" name="">
            <a:extLst xmlns:a="http://schemas.openxmlformats.org/drawingml/2006/main">
              <a:ext uri="{FF2B5EF4-FFF2-40B4-BE49-F238E27FC236}">
                <a16:creationId xmlns:a16="http://schemas.microsoft.com/office/drawing/2014/main" id="{394A75C6-8502-4BFB-983D-498DE5CD08BF}"/>
              </a:ext>
            </a:extLst>
          </p:cNvPr>
          <p:cNvSpPr>
            <a:spLocks xmlns:a="http://schemas.openxmlformats.org/drawingml/2006/main" noGrp="1"/>
          </p:cNvSpPr>
          <p:nvPr/>
        </p:nvSpPr>
        <p:spPr>
          <a:xfrm xmlns:a="http://schemas.openxmlformats.org/drawingml/2006/main">
            <a:off x="6457950" y="2695575"/>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Analyze the</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offline copy</a:t>
            </a:r>
          </a:p>
        </p:txBody>
      </p:sp>
      <p:sp>
        <p:nvSpPr>
          <p:cNvPr id="13" name="">
            <a:extLst xmlns:a="http://schemas.openxmlformats.org/drawingml/2006/main">
              <a:ext uri="{FF2B5EF4-FFF2-40B4-BE49-F238E27FC236}">
                <a16:creationId xmlns:a16="http://schemas.microsoft.com/office/drawing/2014/main" id="{3222E87D-1F90-4A8A-8F0C-DAA235A36E4B}"/>
              </a:ext>
            </a:extLst>
          </p:cNvPr>
          <p:cNvSpPr>
            <a:spLocks xmlns:a="http://schemas.openxmlformats.org/drawingml/2006/main" noGrp="1"/>
          </p:cNvSpPr>
          <p:nvPr/>
        </p:nvSpPr>
        <p:spPr>
          <a:xfrm xmlns:a="http://schemas.openxmlformats.org/drawingml/2006/main">
            <a:off x="5924550" y="3009900"/>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CDBB83C-F873-4B41-9C97-C6F5DCB19AA7}"/>
              </a:ext>
            </a:extLst>
          </p:cNvPr>
          <p:cNvSpPr>
            <a:spLocks xmlns:a="http://schemas.openxmlformats.org/drawingml/2006/main" noGrp="1"/>
          </p:cNvSpPr>
          <p:nvPr/>
        </p:nvSpPr>
        <p:spPr>
          <a:xfrm xmlns:a="http://schemas.openxmlformats.org/drawingml/2006/main">
            <a:off x="6086475" y="294322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BF7D950-48C8-4651-A543-BBB076CCE04A}"/>
              </a:ext>
            </a:extLst>
          </p:cNvPr>
          <p:cNvSpPr>
            <a:spLocks xmlns:a="http://schemas.openxmlformats.org/drawingml/2006/main" noGrp="1"/>
          </p:cNvSpPr>
          <p:nvPr/>
        </p:nvSpPr>
        <p:spPr>
          <a:xfrm xmlns:a="http://schemas.openxmlformats.org/drawingml/2006/main">
            <a:off x="9153525" y="2505075"/>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6" name="">
            <a:extLst xmlns:a="http://schemas.openxmlformats.org/drawingml/2006/main">
              <a:ext uri="{FF2B5EF4-FFF2-40B4-BE49-F238E27FC236}">
                <a16:creationId xmlns:a16="http://schemas.microsoft.com/office/drawing/2014/main" id="{C380554A-D505-4D2F-BC94-C6A3C1DB3E5F}"/>
              </a:ext>
            </a:extLst>
          </p:cNvPr>
          <p:cNvSpPr>
            <a:spLocks xmlns:a="http://schemas.openxmlformats.org/drawingml/2006/main" noGrp="1"/>
          </p:cNvSpPr>
          <p:nvPr/>
        </p:nvSpPr>
        <p:spPr>
          <a:xfrm xmlns:a="http://schemas.openxmlformats.org/drawingml/2006/main">
            <a:off x="9305925" y="2695575"/>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Compare after</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selection</a:t>
            </a:r>
          </a:p>
        </p:txBody>
      </p:sp>
      <p:sp>
        <p:nvSpPr>
          <p:cNvPr id="17" name="">
            <a:extLst xmlns:a="http://schemas.openxmlformats.org/drawingml/2006/main">
              <a:ext uri="{FF2B5EF4-FFF2-40B4-BE49-F238E27FC236}">
                <a16:creationId xmlns:a16="http://schemas.microsoft.com/office/drawing/2014/main" id="{5EC7B4E8-02A9-494F-AB5E-798ACD775679}"/>
              </a:ext>
            </a:extLst>
          </p:cNvPr>
          <p:cNvSpPr>
            <a:spLocks xmlns:a="http://schemas.openxmlformats.org/drawingml/2006/main" noGrp="1"/>
          </p:cNvSpPr>
          <p:nvPr/>
        </p:nvSpPr>
        <p:spPr>
          <a:xfrm xmlns:a="http://schemas.openxmlformats.org/drawingml/2006/main">
            <a:off x="8772525" y="3009900"/>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2630D9D-72EE-4FD7-8959-6F2B9A2F8124}"/>
              </a:ext>
            </a:extLst>
          </p:cNvPr>
          <p:cNvSpPr>
            <a:spLocks xmlns:a="http://schemas.openxmlformats.org/drawingml/2006/main" noGrp="1"/>
          </p:cNvSpPr>
          <p:nvPr/>
        </p:nvSpPr>
        <p:spPr>
          <a:xfrm xmlns:a="http://schemas.openxmlformats.org/drawingml/2006/main">
            <a:off x="8934450" y="294322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C5B0E85-D055-4503-913F-D8DBDB8DF50F}"/>
              </a:ext>
            </a:extLst>
          </p:cNvPr>
          <p:cNvSpPr>
            <a:spLocks xmlns:a="http://schemas.openxmlformats.org/drawingml/2006/main" noGrp="1"/>
          </p:cNvSpPr>
          <p:nvPr/>
        </p:nvSpPr>
        <p:spPr>
          <a:xfrm xmlns:a="http://schemas.openxmlformats.org/drawingml/2006/main">
            <a:off x="609600" y="43529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9"/>
                </a:solidFill>
                <a:latin typeface="Arial"/>
                <a:ea typeface="Arial"/>
                <a:cs typeface="Arial"/>
              </a:defRPr>
            </a:pPr>
            <a:r>
              <a:rPr sz="2250" b="1">
                <a:solidFill>
                  <a:srgbClr val="007F79"/>
                </a:solidFill>
                <a:latin typeface="Arial"/>
                <a:ea typeface="Arial"/>
                <a:cs typeface="Arial"/>
              </a:rPr>
              <a:t>The server kept the reference secret separately.</a:t>
            </a:r>
          </a:p>
        </p:txBody>
      </p:sp>
      <p:sp>
        <p:nvSpPr>
          <p:cNvPr id="20" name="">
            <a:extLst xmlns:a="http://schemas.openxmlformats.org/drawingml/2006/main">
              <a:ext uri="{FF2B5EF4-FFF2-40B4-BE49-F238E27FC236}">
                <a16:creationId xmlns:a16="http://schemas.microsoft.com/office/drawing/2014/main" id="{1F3AC04D-5A70-4851-864E-05A3E4DA9B56}"/>
              </a:ext>
            </a:extLst>
          </p:cNvPr>
          <p:cNvSpPr>
            <a:spLocks xmlns:a="http://schemas.openxmlformats.org/drawingml/2006/main" noGrp="1"/>
          </p:cNvSpPr>
          <p:nvPr/>
        </p:nvSpPr>
        <p:spPr>
          <a:xfrm xmlns:a="http://schemas.openxmlformats.org/drawingml/2006/main">
            <a:off x="609600" y="50673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3E"/>
                </a:solidFill>
                <a:latin typeface="Arial"/>
                <a:ea typeface="Arial"/>
                <a:cs typeface="Arial"/>
              </a:defRPr>
            </a:pPr>
            <a:r>
              <a:rPr sz="2025" b="0">
                <a:solidFill>
                  <a:srgbClr val="142E3E"/>
                </a:solidFill>
                <a:latin typeface="Arial"/>
                <a:ea typeface="Arial"/>
                <a:cs typeface="Arial"/>
              </a:rPr>
              <a:t>Saving memory was the first step. Correct independent recovery was the test.</a:t>
            </a:r>
          </a:p>
        </p:txBody>
      </p:sp>
    </p:spTree>
    <p:extLst>
      <p:ext uri="{BB962C8B-B14F-4D97-AF65-F5344CB8AC3E}">
        <p14:creationId xmlns:p14="http://schemas.microsoft.com/office/powerpoint/2010/main" val="1501839747"/>
      </p:ext>
    </p:extLst>
  </p:cSld>
</p:sld>
</file>

<file path=ppt/slides/slide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5B2574C-E274-4EAC-A973-4CAF1BE4CE5D}"/>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How the client and server exchange data</a:t>
            </a:r>
          </a:p>
        </p:txBody>
      </p:sp>
      <p:sp>
        <p:nvSpPr>
          <p:cNvPr id="2" name="">
            <a:extLst xmlns:a="http://schemas.openxmlformats.org/drawingml/2006/main">
              <a:ext uri="{FF2B5EF4-FFF2-40B4-BE49-F238E27FC236}">
                <a16:creationId xmlns:a16="http://schemas.microsoft.com/office/drawing/2014/main" id="{50C54798-DBC6-41F8-8ABD-AE944DCC9395}"/>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56C7C089-F1EF-4B6F-98C8-1D2259D1436A}"/>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ACF4A18A-039B-48E5-8892-8BCA04BF278B}"/>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Sources: RFC 8446 §§2, 5 and 7; controlled Firefox/NSS workflow</a:t>
            </a:r>
          </a:p>
        </p:txBody>
      </p:sp>
      <p:sp>
        <p:nvSpPr>
          <p:cNvPr id="5" name="">
            <a:extLst xmlns:a="http://schemas.openxmlformats.org/drawingml/2006/main">
              <a:ext uri="{FF2B5EF4-FFF2-40B4-BE49-F238E27FC236}">
                <a16:creationId xmlns:a16="http://schemas.microsoft.com/office/drawing/2014/main" id="{EA34F9C1-1E90-417D-87B1-A73E501FC877}"/>
              </a:ext>
            </a:extLst>
          </p:cNvPr>
          <p:cNvSpPr>
            <a:spLocks xmlns:a="http://schemas.openxmlformats.org/drawingml/2006/main" noGrp="1"/>
          </p:cNvSpPr>
          <p:nvPr/>
        </p:nvSpPr>
        <p:spPr>
          <a:xfrm xmlns:a="http://schemas.openxmlformats.org/drawingml/2006/main">
            <a:off x="609600" y="1819275"/>
            <a:ext cx="2733675" cy="6000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6" name="">
            <a:extLst xmlns:a="http://schemas.openxmlformats.org/drawingml/2006/main">
              <a:ext uri="{FF2B5EF4-FFF2-40B4-BE49-F238E27FC236}">
                <a16:creationId xmlns:a16="http://schemas.microsoft.com/office/drawing/2014/main" id="{396B65A5-EE17-4A2F-B468-02EC4A29B797}"/>
              </a:ext>
            </a:extLst>
          </p:cNvPr>
          <p:cNvSpPr>
            <a:spLocks xmlns:a="http://schemas.openxmlformats.org/drawingml/2006/main" noGrp="1"/>
          </p:cNvSpPr>
          <p:nvPr/>
        </p:nvSpPr>
        <p:spPr>
          <a:xfrm xmlns:a="http://schemas.openxmlformats.org/drawingml/2006/main">
            <a:off x="723900" y="1933575"/>
            <a:ext cx="2505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Firefox client</a:t>
            </a:r>
          </a:p>
        </p:txBody>
      </p:sp>
      <p:sp>
        <p:nvSpPr>
          <p:cNvPr id="7" name="">
            <a:extLst xmlns:a="http://schemas.openxmlformats.org/drawingml/2006/main">
              <a:ext uri="{FF2B5EF4-FFF2-40B4-BE49-F238E27FC236}">
                <a16:creationId xmlns:a16="http://schemas.microsoft.com/office/drawing/2014/main" id="{AC02B3BF-AF44-4412-AF1E-62938B3E6DB4}"/>
              </a:ext>
            </a:extLst>
          </p:cNvPr>
          <p:cNvSpPr>
            <a:spLocks xmlns:a="http://schemas.openxmlformats.org/drawingml/2006/main" noGrp="1"/>
          </p:cNvSpPr>
          <p:nvPr/>
        </p:nvSpPr>
        <p:spPr>
          <a:xfrm xmlns:a="http://schemas.openxmlformats.org/drawingml/2006/main">
            <a:off x="8848725" y="1819275"/>
            <a:ext cx="2733675" cy="6000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8" name="">
            <a:extLst xmlns:a="http://schemas.openxmlformats.org/drawingml/2006/main">
              <a:ext uri="{FF2B5EF4-FFF2-40B4-BE49-F238E27FC236}">
                <a16:creationId xmlns:a16="http://schemas.microsoft.com/office/drawing/2014/main" id="{D7D133B3-DA53-4319-BC7B-15532A85FF11}"/>
              </a:ext>
            </a:extLst>
          </p:cNvPr>
          <p:cNvSpPr>
            <a:spLocks xmlns:a="http://schemas.openxmlformats.org/drawingml/2006/main" noGrp="1"/>
          </p:cNvSpPr>
          <p:nvPr/>
        </p:nvSpPr>
        <p:spPr>
          <a:xfrm xmlns:a="http://schemas.openxmlformats.org/drawingml/2006/main">
            <a:off x="8963025" y="1933575"/>
            <a:ext cx="2505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Controlled server</a:t>
            </a:r>
          </a:p>
        </p:txBody>
      </p:sp>
      <p:sp>
        <p:nvSpPr>
          <p:cNvPr id="9" name="">
            <a:extLst xmlns:a="http://schemas.openxmlformats.org/drawingml/2006/main">
              <a:ext uri="{FF2B5EF4-FFF2-40B4-BE49-F238E27FC236}">
                <a16:creationId xmlns:a16="http://schemas.microsoft.com/office/drawing/2014/main" id="{D8FA1D3E-75FE-401F-8C9D-F11C6934DEC0}"/>
              </a:ext>
            </a:extLst>
          </p:cNvPr>
          <p:cNvSpPr>
            <a:spLocks xmlns:a="http://schemas.openxmlformats.org/drawingml/2006/main" noGrp="1"/>
          </p:cNvSpPr>
          <p:nvPr/>
        </p:nvSpPr>
        <p:spPr>
          <a:xfrm xmlns:a="http://schemas.openxmlformats.org/drawingml/2006/main">
            <a:off x="4762500" y="1895475"/>
            <a:ext cx="2886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536572"/>
                </a:solidFill>
                <a:latin typeface="Arial"/>
                <a:ea typeface="Arial"/>
                <a:cs typeface="Arial"/>
              </a:defRPr>
            </a:pPr>
            <a:r>
              <a:rPr sz="2175" b="1">
                <a:solidFill>
                  <a:srgbClr val="536572"/>
                </a:solidFill>
                <a:latin typeface="Arial"/>
                <a:ea typeface="Arial"/>
                <a:cs typeface="Arial"/>
              </a:rPr>
              <a:t>The network</a:t>
            </a:r>
          </a:p>
        </p:txBody>
      </p:sp>
      <p:sp>
        <p:nvSpPr>
          <p:cNvPr id="10" name="">
            <a:extLst xmlns:a="http://schemas.openxmlformats.org/drawingml/2006/main">
              <a:ext uri="{FF2B5EF4-FFF2-40B4-BE49-F238E27FC236}">
                <a16:creationId xmlns:a16="http://schemas.microsoft.com/office/drawing/2014/main" id="{1AC74C77-5053-4240-AD19-10EA12409436}"/>
              </a:ext>
            </a:extLst>
          </p:cNvPr>
          <p:cNvSpPr>
            <a:spLocks xmlns:a="http://schemas.openxmlformats.org/drawingml/2006/main" noGrp="1"/>
          </p:cNvSpPr>
          <p:nvPr/>
        </p:nvSpPr>
        <p:spPr>
          <a:xfrm xmlns:a="http://schemas.openxmlformats.org/drawingml/2006/main">
            <a:off x="3352800" y="2781300"/>
            <a:ext cx="54768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BD19802-C6AD-4A35-B1A3-B9F4237DE6B1}"/>
              </a:ext>
            </a:extLst>
          </p:cNvPr>
          <p:cNvSpPr>
            <a:spLocks xmlns:a="http://schemas.openxmlformats.org/drawingml/2006/main" noGrp="1"/>
          </p:cNvSpPr>
          <p:nvPr/>
        </p:nvSpPr>
        <p:spPr>
          <a:xfrm xmlns:a="http://schemas.openxmlformats.org/drawingml/2006/main">
            <a:off x="8658225" y="271462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E5378A0-CB2B-4983-B813-D10C0871A8CB}"/>
              </a:ext>
            </a:extLst>
          </p:cNvPr>
          <p:cNvSpPr>
            <a:spLocks xmlns:a="http://schemas.openxmlformats.org/drawingml/2006/main" noGrp="1"/>
          </p:cNvSpPr>
          <p:nvPr/>
        </p:nvSpPr>
        <p:spPr>
          <a:xfrm xmlns:a="http://schemas.openxmlformats.org/drawingml/2006/main">
            <a:off x="3524250" y="2438400"/>
            <a:ext cx="5229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572"/>
                </a:solidFill>
                <a:latin typeface="Arial"/>
                <a:ea typeface="Arial"/>
                <a:cs typeface="Arial"/>
              </a:defRPr>
            </a:pPr>
            <a:r>
              <a:rPr sz="1725" b="0">
                <a:solidFill>
                  <a:srgbClr val="536572"/>
                </a:solidFill>
                <a:latin typeface="Arial"/>
                <a:ea typeface="Arial"/>
                <a:cs typeface="Arial"/>
              </a:rPr>
              <a:t>ClientHello: supported settings + public key share</a:t>
            </a:r>
          </a:p>
        </p:txBody>
      </p:sp>
      <p:sp>
        <p:nvSpPr>
          <p:cNvPr id="13" name="">
            <a:extLst xmlns:a="http://schemas.openxmlformats.org/drawingml/2006/main">
              <a:ext uri="{FF2B5EF4-FFF2-40B4-BE49-F238E27FC236}">
                <a16:creationId xmlns:a16="http://schemas.microsoft.com/office/drawing/2014/main" id="{9EE879B2-2F5E-4C80-8EC0-D35DC97CE601}"/>
              </a:ext>
            </a:extLst>
          </p:cNvPr>
          <p:cNvSpPr>
            <a:spLocks xmlns:a="http://schemas.openxmlformats.org/drawingml/2006/main" noGrp="1"/>
          </p:cNvSpPr>
          <p:nvPr/>
        </p:nvSpPr>
        <p:spPr>
          <a:xfrm xmlns:a="http://schemas.openxmlformats.org/drawingml/2006/main">
            <a:off x="3352800" y="3524250"/>
            <a:ext cx="54768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710CC97-2B6F-40CF-9A2B-30B0632C1DA4}"/>
              </a:ext>
            </a:extLst>
          </p:cNvPr>
          <p:cNvSpPr>
            <a:spLocks xmlns:a="http://schemas.openxmlformats.org/drawingml/2006/main" noGrp="1"/>
          </p:cNvSpPr>
          <p:nvPr/>
        </p:nvSpPr>
        <p:spPr>
          <a:xfrm xmlns:a="http://schemas.openxmlformats.org/drawingml/2006/main">
            <a:off x="3352800" y="3457575"/>
            <a:ext cx="190500" cy="171450"/>
          </a:xfrm>
          <a:prstGeom xmlns:a="http://schemas.openxmlformats.org/drawingml/2006/main" prst="leftArrow">
            <a:avLst/>
          </a:prstGeom>
          <a:solidFill xmlns:a="http://schemas.openxmlformats.org/drawingml/2006/main">
            <a:srgbClr val="007F7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261AA32-1FA5-491C-BC18-9B44D07AA2E0}"/>
              </a:ext>
            </a:extLst>
          </p:cNvPr>
          <p:cNvSpPr>
            <a:spLocks xmlns:a="http://schemas.openxmlformats.org/drawingml/2006/main" noGrp="1"/>
          </p:cNvSpPr>
          <p:nvPr/>
        </p:nvSpPr>
        <p:spPr>
          <a:xfrm xmlns:a="http://schemas.openxmlformats.org/drawingml/2006/main">
            <a:off x="3476625" y="3143250"/>
            <a:ext cx="53625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572"/>
                </a:solidFill>
                <a:latin typeface="Arial"/>
                <a:ea typeface="Arial"/>
                <a:cs typeface="Arial"/>
              </a:defRPr>
            </a:pPr>
            <a:r>
              <a:rPr sz="1650" b="0">
                <a:solidFill>
                  <a:srgbClr val="536572"/>
                </a:solidFill>
                <a:latin typeface="Arial"/>
                <a:ea typeface="Arial"/>
                <a:cs typeface="Arial"/>
              </a:rPr>
              <a:t>ServerHello + server authentication and Finished</a:t>
            </a:r>
          </a:p>
        </p:txBody>
      </p:sp>
      <p:sp>
        <p:nvSpPr>
          <p:cNvPr id="16" name="">
            <a:extLst xmlns:a="http://schemas.openxmlformats.org/drawingml/2006/main">
              <a:ext uri="{FF2B5EF4-FFF2-40B4-BE49-F238E27FC236}">
                <a16:creationId xmlns:a16="http://schemas.microsoft.com/office/drawing/2014/main" id="{9E019174-A6AF-4E75-9F75-9B85D9C47477}"/>
              </a:ext>
            </a:extLst>
          </p:cNvPr>
          <p:cNvSpPr>
            <a:spLocks xmlns:a="http://schemas.openxmlformats.org/drawingml/2006/main" noGrp="1"/>
          </p:cNvSpPr>
          <p:nvPr/>
        </p:nvSpPr>
        <p:spPr>
          <a:xfrm xmlns:a="http://schemas.openxmlformats.org/drawingml/2006/main">
            <a:off x="3352800" y="4105275"/>
            <a:ext cx="54768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8BCE7EB-B86D-4963-9372-B3A1B286093E}"/>
              </a:ext>
            </a:extLst>
          </p:cNvPr>
          <p:cNvSpPr>
            <a:spLocks xmlns:a="http://schemas.openxmlformats.org/drawingml/2006/main" noGrp="1"/>
          </p:cNvSpPr>
          <p:nvPr/>
        </p:nvSpPr>
        <p:spPr>
          <a:xfrm xmlns:a="http://schemas.openxmlformats.org/drawingml/2006/main">
            <a:off x="8658225" y="403860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EF3CE57-9396-4038-B4C6-EE7F364771C9}"/>
              </a:ext>
            </a:extLst>
          </p:cNvPr>
          <p:cNvSpPr>
            <a:spLocks xmlns:a="http://schemas.openxmlformats.org/drawingml/2006/main" noGrp="1"/>
          </p:cNvSpPr>
          <p:nvPr/>
        </p:nvSpPr>
        <p:spPr>
          <a:xfrm xmlns:a="http://schemas.openxmlformats.org/drawingml/2006/main">
            <a:off x="3819525" y="3752850"/>
            <a:ext cx="4895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572"/>
                </a:solidFill>
                <a:latin typeface="Arial"/>
                <a:ea typeface="Arial"/>
                <a:cs typeface="Arial"/>
              </a:defRPr>
            </a:pPr>
            <a:r>
              <a:rPr sz="1725" b="0">
                <a:solidFill>
                  <a:srgbClr val="536572"/>
                </a:solidFill>
                <a:latin typeface="Arial"/>
                <a:ea typeface="Arial"/>
                <a:cs typeface="Arial"/>
              </a:rPr>
              <a:t>Client Finished completes the handshake</a:t>
            </a:r>
          </a:p>
        </p:txBody>
      </p:sp>
      <p:sp>
        <p:nvSpPr>
          <p:cNvPr id="19" name="">
            <a:extLst xmlns:a="http://schemas.openxmlformats.org/drawingml/2006/main">
              <a:ext uri="{FF2B5EF4-FFF2-40B4-BE49-F238E27FC236}">
                <a16:creationId xmlns:a16="http://schemas.microsoft.com/office/drawing/2014/main" id="{A376D805-BC1E-46BD-9CFB-500DFA60DEDB}"/>
              </a:ext>
            </a:extLst>
          </p:cNvPr>
          <p:cNvSpPr>
            <a:spLocks xmlns:a="http://schemas.openxmlformats.org/drawingml/2006/main" noGrp="1"/>
          </p:cNvSpPr>
          <p:nvPr/>
        </p:nvSpPr>
        <p:spPr>
          <a:xfrm xmlns:a="http://schemas.openxmlformats.org/drawingml/2006/main">
            <a:off x="609600" y="4524375"/>
            <a:ext cx="2733675" cy="7905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0" name="">
            <a:extLst xmlns:a="http://schemas.openxmlformats.org/drawingml/2006/main">
              <a:ext uri="{FF2B5EF4-FFF2-40B4-BE49-F238E27FC236}">
                <a16:creationId xmlns:a16="http://schemas.microsoft.com/office/drawing/2014/main" id="{2F907A71-7BFC-443C-9DE8-03F22376100F}"/>
              </a:ext>
            </a:extLst>
          </p:cNvPr>
          <p:cNvSpPr>
            <a:spLocks xmlns:a="http://schemas.openxmlformats.org/drawingml/2006/main" noGrp="1"/>
          </p:cNvSpPr>
          <p:nvPr/>
        </p:nvSpPr>
        <p:spPr>
          <a:xfrm xmlns:a="http://schemas.openxmlformats.org/drawingml/2006/main">
            <a:off x="723900" y="4638675"/>
            <a:ext cx="25050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Request</a:t>
            </a:r>
          </a:p>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Encrypt</a:t>
            </a:r>
          </a:p>
        </p:txBody>
      </p:sp>
      <p:sp>
        <p:nvSpPr>
          <p:cNvPr id="21" name="">
            <a:extLst xmlns:a="http://schemas.openxmlformats.org/drawingml/2006/main">
              <a:ext uri="{FF2B5EF4-FFF2-40B4-BE49-F238E27FC236}">
                <a16:creationId xmlns:a16="http://schemas.microsoft.com/office/drawing/2014/main" id="{F3110366-5763-4DD4-A9EB-CF70D2AF8C7A}"/>
              </a:ext>
            </a:extLst>
          </p:cNvPr>
          <p:cNvSpPr>
            <a:spLocks xmlns:a="http://schemas.openxmlformats.org/drawingml/2006/main" noGrp="1"/>
          </p:cNvSpPr>
          <p:nvPr/>
        </p:nvSpPr>
        <p:spPr>
          <a:xfrm xmlns:a="http://schemas.openxmlformats.org/drawingml/2006/main">
            <a:off x="8848725" y="4524375"/>
            <a:ext cx="2733675" cy="7905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2" name="">
            <a:extLst xmlns:a="http://schemas.openxmlformats.org/drawingml/2006/main">
              <a:ext uri="{FF2B5EF4-FFF2-40B4-BE49-F238E27FC236}">
                <a16:creationId xmlns:a16="http://schemas.microsoft.com/office/drawing/2014/main" id="{E8C5196D-DF31-4E9F-8A5B-0B0050F4C66D}"/>
              </a:ext>
            </a:extLst>
          </p:cNvPr>
          <p:cNvSpPr>
            <a:spLocks xmlns:a="http://schemas.openxmlformats.org/drawingml/2006/main" noGrp="1"/>
          </p:cNvSpPr>
          <p:nvPr/>
        </p:nvSpPr>
        <p:spPr>
          <a:xfrm xmlns:a="http://schemas.openxmlformats.org/drawingml/2006/main">
            <a:off x="8963025" y="4638675"/>
            <a:ext cx="25050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Request</a:t>
            </a:r>
          </a:p>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Decrypt</a:t>
            </a:r>
          </a:p>
        </p:txBody>
      </p:sp>
      <p:sp>
        <p:nvSpPr>
          <p:cNvPr id="23" name="">
            <a:extLst xmlns:a="http://schemas.openxmlformats.org/drawingml/2006/main">
              <a:ext uri="{FF2B5EF4-FFF2-40B4-BE49-F238E27FC236}">
                <a16:creationId xmlns:a16="http://schemas.microsoft.com/office/drawing/2014/main" id="{C13A2F6A-0519-4471-B685-60F70736E56C}"/>
              </a:ext>
            </a:extLst>
          </p:cNvPr>
          <p:cNvSpPr>
            <a:spLocks xmlns:a="http://schemas.openxmlformats.org/drawingml/2006/main" noGrp="1"/>
          </p:cNvSpPr>
          <p:nvPr/>
        </p:nvSpPr>
        <p:spPr>
          <a:xfrm xmlns:a="http://schemas.openxmlformats.org/drawingml/2006/main">
            <a:off x="3352800" y="4914900"/>
            <a:ext cx="54768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E7632FC-E5AA-4678-A332-5E0C36F7C844}"/>
              </a:ext>
            </a:extLst>
          </p:cNvPr>
          <p:cNvSpPr>
            <a:spLocks xmlns:a="http://schemas.openxmlformats.org/drawingml/2006/main" noGrp="1"/>
          </p:cNvSpPr>
          <p:nvPr/>
        </p:nvSpPr>
        <p:spPr>
          <a:xfrm xmlns:a="http://schemas.openxmlformats.org/drawingml/2006/main">
            <a:off x="8658225" y="484822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485BB8B-0AFD-4AA4-A35B-656DFE1435D2}"/>
              </a:ext>
            </a:extLst>
          </p:cNvPr>
          <p:cNvSpPr>
            <a:spLocks xmlns:a="http://schemas.openxmlformats.org/drawingml/2006/main" noGrp="1"/>
          </p:cNvSpPr>
          <p:nvPr/>
        </p:nvSpPr>
        <p:spPr>
          <a:xfrm xmlns:a="http://schemas.openxmlformats.org/drawingml/2006/main">
            <a:off x="4048125" y="4562475"/>
            <a:ext cx="4457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2"/>
                </a:solidFill>
                <a:latin typeface="Arial"/>
                <a:ea typeface="Arial"/>
                <a:cs typeface="Arial"/>
              </a:defRPr>
            </a:pPr>
            <a:r>
              <a:rPr sz="1875" b="0">
                <a:solidFill>
                  <a:srgbClr val="536572"/>
                </a:solidFill>
                <a:latin typeface="Arial"/>
                <a:ea typeface="Arial"/>
                <a:cs typeface="Arial"/>
              </a:rPr>
              <a:t>Encrypted application record</a:t>
            </a:r>
          </a:p>
        </p:txBody>
      </p:sp>
      <p:sp>
        <p:nvSpPr>
          <p:cNvPr id="26" name="">
            <a:extLst xmlns:a="http://schemas.openxmlformats.org/drawingml/2006/main">
              <a:ext uri="{FF2B5EF4-FFF2-40B4-BE49-F238E27FC236}">
                <a16:creationId xmlns:a16="http://schemas.microsoft.com/office/drawing/2014/main" id="{64DD00C2-1E06-42C7-AA8E-BC5E0023B7AF}"/>
              </a:ext>
            </a:extLst>
          </p:cNvPr>
          <p:cNvSpPr>
            <a:spLocks xmlns:a="http://schemas.openxmlformats.org/drawingml/2006/main" noGrp="1"/>
          </p:cNvSpPr>
          <p:nvPr/>
        </p:nvSpPr>
        <p:spPr>
          <a:xfrm xmlns:a="http://schemas.openxmlformats.org/drawingml/2006/main">
            <a:off x="3352800" y="5695950"/>
            <a:ext cx="5476875" cy="38100"/>
          </a:xfrm>
          <a:prstGeom xmlns:a="http://schemas.openxmlformats.org/drawingml/2006/main" prst="rect">
            <a:avLst/>
          </a:prstGeom>
          <a:solidFill xmlns:a="http://schemas.openxmlformats.org/drawingml/2006/main">
            <a:srgbClr val="A75B1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5273CF3-8B83-4DE0-A519-00D882684C48}"/>
              </a:ext>
            </a:extLst>
          </p:cNvPr>
          <p:cNvSpPr>
            <a:spLocks xmlns:a="http://schemas.openxmlformats.org/drawingml/2006/main" noGrp="1"/>
          </p:cNvSpPr>
          <p:nvPr/>
        </p:nvSpPr>
        <p:spPr>
          <a:xfrm xmlns:a="http://schemas.openxmlformats.org/drawingml/2006/main">
            <a:off x="3352800" y="5629275"/>
            <a:ext cx="190500" cy="171450"/>
          </a:xfrm>
          <a:prstGeom xmlns:a="http://schemas.openxmlformats.org/drawingml/2006/main" prst="leftArrow">
            <a:avLst/>
          </a:prstGeom>
          <a:solidFill xmlns:a="http://schemas.openxmlformats.org/drawingml/2006/main">
            <a:srgbClr val="A75B1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31C82E8-FE4E-4EC0-8664-61CCEB306747}"/>
              </a:ext>
            </a:extLst>
          </p:cNvPr>
          <p:cNvSpPr>
            <a:spLocks xmlns:a="http://schemas.openxmlformats.org/drawingml/2006/main" noGrp="1"/>
          </p:cNvSpPr>
          <p:nvPr/>
        </p:nvSpPr>
        <p:spPr>
          <a:xfrm xmlns:a="http://schemas.openxmlformats.org/drawingml/2006/main">
            <a:off x="3533775" y="5343525"/>
            <a:ext cx="523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75B17"/>
                </a:solidFill>
                <a:latin typeface="Arial"/>
                <a:ea typeface="Arial"/>
                <a:cs typeface="Arial"/>
              </a:defRPr>
            </a:pPr>
            <a:r>
              <a:rPr sz="1725" b="0">
                <a:solidFill>
                  <a:srgbClr val="A75B17"/>
                </a:solidFill>
                <a:latin typeface="Arial"/>
                <a:ea typeface="Arial"/>
                <a:cs typeface="Arial"/>
              </a:rPr>
              <a:t>Encrypted response in the reverse direction</a:t>
            </a:r>
          </a:p>
        </p:txBody>
      </p:sp>
      <p:sp>
        <p:nvSpPr>
          <p:cNvPr id="29" name="">
            <a:extLst xmlns:a="http://schemas.openxmlformats.org/drawingml/2006/main">
              <a:ext uri="{FF2B5EF4-FFF2-40B4-BE49-F238E27FC236}">
                <a16:creationId xmlns:a16="http://schemas.microsoft.com/office/drawing/2014/main" id="{ABFFD48A-4D98-48C1-AE0C-466CF758998C}"/>
              </a:ext>
            </a:extLst>
          </p:cNvPr>
          <p:cNvSpPr>
            <a:spLocks xmlns:a="http://schemas.openxmlformats.org/drawingml/2006/main" noGrp="1"/>
          </p:cNvSpPr>
          <p:nvPr/>
        </p:nvSpPr>
        <p:spPr>
          <a:xfrm xmlns:a="http://schemas.openxmlformats.org/drawingml/2006/main">
            <a:off x="609600" y="5600700"/>
            <a:ext cx="2628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572"/>
                </a:solidFill>
                <a:latin typeface="Arial"/>
                <a:ea typeface="Arial"/>
                <a:cs typeface="Arial"/>
              </a:defRPr>
            </a:pPr>
            <a:r>
              <a:rPr sz="1650" b="0">
                <a:solidFill>
                  <a:srgbClr val="536572"/>
                </a:solidFill>
                <a:latin typeface="Arial"/>
                <a:ea typeface="Arial"/>
                <a:cs typeface="Arial"/>
              </a:rPr>
              <a:t>Secrets stay at endpoints.</a:t>
            </a:r>
          </a:p>
        </p:txBody>
      </p:sp>
      <p:sp>
        <p:nvSpPr>
          <p:cNvPr id="30" name="">
            <a:extLst xmlns:a="http://schemas.openxmlformats.org/drawingml/2006/main">
              <a:ext uri="{FF2B5EF4-FFF2-40B4-BE49-F238E27FC236}">
                <a16:creationId xmlns:a16="http://schemas.microsoft.com/office/drawing/2014/main" id="{95F1BE35-A1EB-4C87-9859-D38B337561EF}"/>
              </a:ext>
            </a:extLst>
          </p:cNvPr>
          <p:cNvSpPr>
            <a:spLocks xmlns:a="http://schemas.openxmlformats.org/drawingml/2006/main" noGrp="1"/>
          </p:cNvSpPr>
          <p:nvPr/>
        </p:nvSpPr>
        <p:spPr>
          <a:xfrm xmlns:a="http://schemas.openxmlformats.org/drawingml/2006/main">
            <a:off x="8915400" y="5572125"/>
            <a:ext cx="266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572"/>
                </a:solidFill>
                <a:latin typeface="Arial"/>
                <a:ea typeface="Arial"/>
                <a:cs typeface="Arial"/>
              </a:defRPr>
            </a:pPr>
            <a:r>
              <a:rPr sz="1575" b="0">
                <a:solidFill>
                  <a:srgbClr val="536572"/>
                </a:solidFill>
                <a:latin typeface="Arial"/>
                <a:ea typeface="Arial"/>
                <a:cs typeface="Arial"/>
              </a:rPr>
              <a:t>Each direction has its own secret.</a:t>
            </a:r>
          </a:p>
        </p:txBody>
      </p:sp>
    </p:spTree>
    <p:extLst>
      <p:ext uri="{BB962C8B-B14F-4D97-AF65-F5344CB8AC3E}">
        <p14:creationId xmlns:p14="http://schemas.microsoft.com/office/powerpoint/2010/main" val="1381893081"/>
      </p:ext>
    </p:extLst>
  </p:cSld>
</p:sld>
</file>

<file path=ppt/slides/slide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1ABBFC76-2904-4209-9C6E-17F194FA31AD}"/>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Where our evidence comes from</a:t>
            </a:r>
          </a:p>
        </p:txBody>
      </p:sp>
      <p:sp>
        <p:nvSpPr>
          <p:cNvPr id="2" name="">
            <a:extLst xmlns:a="http://schemas.openxmlformats.org/drawingml/2006/main">
              <a:ext uri="{FF2B5EF4-FFF2-40B4-BE49-F238E27FC236}">
                <a16:creationId xmlns:a16="http://schemas.microsoft.com/office/drawing/2014/main" id="{0D9C08FF-769D-4F4C-9F6A-D0F4F8AB7905}"/>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9D724475-9E84-4141-81AD-E649029A6E2A}"/>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2609DCBE-0274-4416-8709-6F1DE25358CE}"/>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 acquisition, blind recovery and evaluator implementations</a:t>
            </a:r>
          </a:p>
        </p:txBody>
      </p:sp>
      <p:sp>
        <p:nvSpPr>
          <p:cNvPr id="5" name="">
            <a:extLst xmlns:a="http://schemas.openxmlformats.org/drawingml/2006/main">
              <a:ext uri="{FF2B5EF4-FFF2-40B4-BE49-F238E27FC236}">
                <a16:creationId xmlns:a16="http://schemas.microsoft.com/office/drawing/2014/main" id="{42920908-EA26-4ACC-9AEE-85EB820758C0}"/>
              </a:ext>
            </a:extLst>
          </p:cNvPr>
          <p:cNvSpPr>
            <a:spLocks xmlns:a="http://schemas.openxmlformats.org/drawingml/2006/main" noGrp="1"/>
          </p:cNvSpPr>
          <p:nvPr/>
        </p:nvSpPr>
        <p:spPr>
          <a:xfrm xmlns:a="http://schemas.openxmlformats.org/drawingml/2006/main">
            <a:off x="609600" y="1943100"/>
            <a:ext cx="2952750" cy="72390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6" name="">
            <a:extLst xmlns:a="http://schemas.openxmlformats.org/drawingml/2006/main">
              <a:ext uri="{FF2B5EF4-FFF2-40B4-BE49-F238E27FC236}">
                <a16:creationId xmlns:a16="http://schemas.microsoft.com/office/drawing/2014/main" id="{20DC087A-6283-43D9-8124-472874D77BD6}"/>
              </a:ext>
            </a:extLst>
          </p:cNvPr>
          <p:cNvSpPr>
            <a:spLocks xmlns:a="http://schemas.openxmlformats.org/drawingml/2006/main" noGrp="1"/>
          </p:cNvSpPr>
          <p:nvPr/>
        </p:nvSpPr>
        <p:spPr>
          <a:xfrm xmlns:a="http://schemas.openxmlformats.org/drawingml/2006/main">
            <a:off x="723900" y="2057400"/>
            <a:ext cx="2724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Firefox process</a:t>
            </a:r>
          </a:p>
        </p:txBody>
      </p:sp>
      <p:sp>
        <p:nvSpPr>
          <p:cNvPr id="7" name="">
            <a:extLst xmlns:a="http://schemas.openxmlformats.org/drawingml/2006/main">
              <a:ext uri="{FF2B5EF4-FFF2-40B4-BE49-F238E27FC236}">
                <a16:creationId xmlns:a16="http://schemas.microsoft.com/office/drawing/2014/main" id="{151374AF-76FB-445C-B75F-31A054FEF7D8}"/>
              </a:ext>
            </a:extLst>
          </p:cNvPr>
          <p:cNvSpPr>
            <a:spLocks xmlns:a="http://schemas.openxmlformats.org/drawingml/2006/main" noGrp="1"/>
          </p:cNvSpPr>
          <p:nvPr/>
        </p:nvSpPr>
        <p:spPr>
          <a:xfrm xmlns:a="http://schemas.openxmlformats.org/drawingml/2006/main">
            <a:off x="4629150" y="1943100"/>
            <a:ext cx="2952750" cy="72390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8" name="">
            <a:extLst xmlns:a="http://schemas.openxmlformats.org/drawingml/2006/main">
              <a:ext uri="{FF2B5EF4-FFF2-40B4-BE49-F238E27FC236}">
                <a16:creationId xmlns:a16="http://schemas.microsoft.com/office/drawing/2014/main" id="{D73973C5-3862-4D25-93AC-9314020E491D}"/>
              </a:ext>
            </a:extLst>
          </p:cNvPr>
          <p:cNvSpPr>
            <a:spLocks xmlns:a="http://schemas.openxmlformats.org/drawingml/2006/main" noGrp="1"/>
          </p:cNvSpPr>
          <p:nvPr/>
        </p:nvSpPr>
        <p:spPr>
          <a:xfrm xmlns:a="http://schemas.openxmlformats.org/drawingml/2006/main">
            <a:off x="4743450" y="2057400"/>
            <a:ext cx="2724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Encrypted traffic</a:t>
            </a:r>
          </a:p>
        </p:txBody>
      </p:sp>
      <p:sp>
        <p:nvSpPr>
          <p:cNvPr id="9" name="">
            <a:extLst xmlns:a="http://schemas.openxmlformats.org/drawingml/2006/main">
              <a:ext uri="{FF2B5EF4-FFF2-40B4-BE49-F238E27FC236}">
                <a16:creationId xmlns:a16="http://schemas.microsoft.com/office/drawing/2014/main" id="{82F58550-5678-4A01-A315-A3326D3C2A8C}"/>
              </a:ext>
            </a:extLst>
          </p:cNvPr>
          <p:cNvSpPr>
            <a:spLocks xmlns:a="http://schemas.openxmlformats.org/drawingml/2006/main" noGrp="1"/>
          </p:cNvSpPr>
          <p:nvPr/>
        </p:nvSpPr>
        <p:spPr>
          <a:xfrm xmlns:a="http://schemas.openxmlformats.org/drawingml/2006/main">
            <a:off x="8648700" y="1943100"/>
            <a:ext cx="2933700" cy="72390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0" name="">
            <a:extLst xmlns:a="http://schemas.openxmlformats.org/drawingml/2006/main">
              <a:ext uri="{FF2B5EF4-FFF2-40B4-BE49-F238E27FC236}">
                <a16:creationId xmlns:a16="http://schemas.microsoft.com/office/drawing/2014/main" id="{F3835634-FFFE-4100-892A-DAB7E5A3F60A}"/>
              </a:ext>
            </a:extLst>
          </p:cNvPr>
          <p:cNvSpPr>
            <a:spLocks xmlns:a="http://schemas.openxmlformats.org/drawingml/2006/main" noGrp="1"/>
          </p:cNvSpPr>
          <p:nvPr/>
        </p:nvSpPr>
        <p:spPr>
          <a:xfrm xmlns:a="http://schemas.openxmlformats.org/drawingml/2006/main">
            <a:off x="8763000" y="2057400"/>
            <a:ext cx="2705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Controlled server</a:t>
            </a:r>
          </a:p>
        </p:txBody>
      </p:sp>
      <p:sp>
        <p:nvSpPr>
          <p:cNvPr id="11" name="">
            <a:extLst xmlns:a="http://schemas.openxmlformats.org/drawingml/2006/main">
              <a:ext uri="{FF2B5EF4-FFF2-40B4-BE49-F238E27FC236}">
                <a16:creationId xmlns:a16="http://schemas.microsoft.com/office/drawing/2014/main" id="{0F7FEBE6-B57D-46EC-BD20-46CBAE6767B2}"/>
              </a:ext>
            </a:extLst>
          </p:cNvPr>
          <p:cNvSpPr>
            <a:spLocks xmlns:a="http://schemas.openxmlformats.org/drawingml/2006/main" noGrp="1"/>
          </p:cNvSpPr>
          <p:nvPr/>
        </p:nvSpPr>
        <p:spPr>
          <a:xfrm xmlns:a="http://schemas.openxmlformats.org/drawingml/2006/main">
            <a:off x="3571875" y="2286000"/>
            <a:ext cx="1047750"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7341574-3171-497A-9BF3-D90CDF2A1EA0}"/>
              </a:ext>
            </a:extLst>
          </p:cNvPr>
          <p:cNvSpPr>
            <a:spLocks xmlns:a="http://schemas.openxmlformats.org/drawingml/2006/main" noGrp="1"/>
          </p:cNvSpPr>
          <p:nvPr/>
        </p:nvSpPr>
        <p:spPr>
          <a:xfrm xmlns:a="http://schemas.openxmlformats.org/drawingml/2006/main">
            <a:off x="4448175" y="221932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7D07A23-D4EC-4115-BBBF-AB28928DB347}"/>
              </a:ext>
            </a:extLst>
          </p:cNvPr>
          <p:cNvSpPr>
            <a:spLocks xmlns:a="http://schemas.openxmlformats.org/drawingml/2006/main" noGrp="1"/>
          </p:cNvSpPr>
          <p:nvPr/>
        </p:nvSpPr>
        <p:spPr>
          <a:xfrm xmlns:a="http://schemas.openxmlformats.org/drawingml/2006/main">
            <a:off x="7591425" y="2286000"/>
            <a:ext cx="1047750"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1DEE32A-08B1-4095-ACAE-BA5B589D77D1}"/>
              </a:ext>
            </a:extLst>
          </p:cNvPr>
          <p:cNvSpPr>
            <a:spLocks xmlns:a="http://schemas.openxmlformats.org/drawingml/2006/main" noGrp="1"/>
          </p:cNvSpPr>
          <p:nvPr/>
        </p:nvSpPr>
        <p:spPr>
          <a:xfrm xmlns:a="http://schemas.openxmlformats.org/drawingml/2006/main">
            <a:off x="8467725" y="221932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02900D5-1209-48E8-B300-9FEE014B9748}"/>
              </a:ext>
            </a:extLst>
          </p:cNvPr>
          <p:cNvSpPr>
            <a:spLocks xmlns:a="http://schemas.openxmlformats.org/drawingml/2006/main" noGrp="1"/>
          </p:cNvSpPr>
          <p:nvPr/>
        </p:nvSpPr>
        <p:spPr>
          <a:xfrm xmlns:a="http://schemas.openxmlformats.org/drawingml/2006/main">
            <a:off x="2066925" y="2686050"/>
            <a:ext cx="38100" cy="6858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6F383AF-12DA-46AA-9A52-C48716D692AC}"/>
              </a:ext>
            </a:extLst>
          </p:cNvPr>
          <p:cNvSpPr>
            <a:spLocks xmlns:a="http://schemas.openxmlformats.org/drawingml/2006/main" noGrp="1"/>
          </p:cNvSpPr>
          <p:nvPr/>
        </p:nvSpPr>
        <p:spPr>
          <a:xfrm xmlns:a="http://schemas.openxmlformats.org/drawingml/2006/main">
            <a:off x="2000250" y="3200400"/>
            <a:ext cx="171450" cy="190500"/>
          </a:xfrm>
          <a:prstGeom xmlns:a="http://schemas.openxmlformats.org/drawingml/2006/main" prst="downArrow">
            <a:avLst/>
          </a:prstGeom>
          <a:solidFill xmlns:a="http://schemas.openxmlformats.org/drawingml/2006/main">
            <a:srgbClr val="007F7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6D613AB-008B-41A1-9B4E-8E7668E7164F}"/>
              </a:ext>
            </a:extLst>
          </p:cNvPr>
          <p:cNvSpPr>
            <a:spLocks xmlns:a="http://schemas.openxmlformats.org/drawingml/2006/main" noGrp="1"/>
          </p:cNvSpPr>
          <p:nvPr/>
        </p:nvSpPr>
        <p:spPr>
          <a:xfrm xmlns:a="http://schemas.openxmlformats.org/drawingml/2006/main">
            <a:off x="6086475" y="2686050"/>
            <a:ext cx="38100" cy="6858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1330C45-5906-42B9-9EF6-EBEB92CBAF56}"/>
              </a:ext>
            </a:extLst>
          </p:cNvPr>
          <p:cNvSpPr>
            <a:spLocks xmlns:a="http://schemas.openxmlformats.org/drawingml/2006/main" noGrp="1"/>
          </p:cNvSpPr>
          <p:nvPr/>
        </p:nvSpPr>
        <p:spPr>
          <a:xfrm xmlns:a="http://schemas.openxmlformats.org/drawingml/2006/main">
            <a:off x="6019800" y="3200400"/>
            <a:ext cx="171450" cy="190500"/>
          </a:xfrm>
          <a:prstGeom xmlns:a="http://schemas.openxmlformats.org/drawingml/2006/main" prst="downArrow">
            <a:avLst/>
          </a:prstGeom>
          <a:solidFill xmlns:a="http://schemas.openxmlformats.org/drawingml/2006/main">
            <a:srgbClr val="007F7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7BD4F63-8EB8-4F53-84D4-9F530497DC50}"/>
              </a:ext>
            </a:extLst>
          </p:cNvPr>
          <p:cNvSpPr>
            <a:spLocks xmlns:a="http://schemas.openxmlformats.org/drawingml/2006/main" noGrp="1"/>
          </p:cNvSpPr>
          <p:nvPr/>
        </p:nvSpPr>
        <p:spPr>
          <a:xfrm xmlns:a="http://schemas.openxmlformats.org/drawingml/2006/main">
            <a:off x="10086975" y="2686050"/>
            <a:ext cx="38100" cy="685800"/>
          </a:xfrm>
          <a:prstGeom xmlns:a="http://schemas.openxmlformats.org/drawingml/2006/main" prst="rect">
            <a:avLst/>
          </a:prstGeom>
          <a:solidFill xmlns:a="http://schemas.openxmlformats.org/drawingml/2006/main">
            <a:srgbClr val="A75B1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052B280-B92D-428B-98E8-16CDD3809D62}"/>
              </a:ext>
            </a:extLst>
          </p:cNvPr>
          <p:cNvSpPr>
            <a:spLocks xmlns:a="http://schemas.openxmlformats.org/drawingml/2006/main" noGrp="1"/>
          </p:cNvSpPr>
          <p:nvPr/>
        </p:nvSpPr>
        <p:spPr>
          <a:xfrm xmlns:a="http://schemas.openxmlformats.org/drawingml/2006/main">
            <a:off x="10020300" y="3200400"/>
            <a:ext cx="171450" cy="190500"/>
          </a:xfrm>
          <a:prstGeom xmlns:a="http://schemas.openxmlformats.org/drawingml/2006/main" prst="downArrow">
            <a:avLst/>
          </a:prstGeom>
          <a:solidFill xmlns:a="http://schemas.openxmlformats.org/drawingml/2006/main">
            <a:srgbClr val="A75B1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FB6A9D0-1555-49A8-9116-D1770114F988}"/>
              </a:ext>
            </a:extLst>
          </p:cNvPr>
          <p:cNvSpPr>
            <a:spLocks xmlns:a="http://schemas.openxmlformats.org/drawingml/2006/main" noGrp="1"/>
          </p:cNvSpPr>
          <p:nvPr/>
        </p:nvSpPr>
        <p:spPr>
          <a:xfrm xmlns:a="http://schemas.openxmlformats.org/drawingml/2006/main">
            <a:off x="10086975" y="4143375"/>
            <a:ext cx="38100" cy="466725"/>
          </a:xfrm>
          <a:prstGeom xmlns:a="http://schemas.openxmlformats.org/drawingml/2006/main" prst="rect">
            <a:avLst/>
          </a:prstGeom>
          <a:solidFill xmlns:a="http://schemas.openxmlformats.org/drawingml/2006/main">
            <a:srgbClr val="A75B1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9986D0B-7642-4267-AE34-2E420230606E}"/>
              </a:ext>
            </a:extLst>
          </p:cNvPr>
          <p:cNvSpPr>
            <a:spLocks xmlns:a="http://schemas.openxmlformats.org/drawingml/2006/main" noGrp="1"/>
          </p:cNvSpPr>
          <p:nvPr/>
        </p:nvSpPr>
        <p:spPr>
          <a:xfrm xmlns:a="http://schemas.openxmlformats.org/drawingml/2006/main">
            <a:off x="10020300" y="4438650"/>
            <a:ext cx="171450" cy="190500"/>
          </a:xfrm>
          <a:prstGeom xmlns:a="http://schemas.openxmlformats.org/drawingml/2006/main" prst="downArrow">
            <a:avLst/>
          </a:prstGeom>
          <a:solidFill xmlns:a="http://schemas.openxmlformats.org/drawingml/2006/main">
            <a:srgbClr val="A75B1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E2B9C4E-2815-42CC-9A79-3A27179A9697}"/>
              </a:ext>
            </a:extLst>
          </p:cNvPr>
          <p:cNvSpPr>
            <a:spLocks xmlns:a="http://schemas.openxmlformats.org/drawingml/2006/main" noGrp="1"/>
          </p:cNvSpPr>
          <p:nvPr/>
        </p:nvSpPr>
        <p:spPr>
          <a:xfrm xmlns:a="http://schemas.openxmlformats.org/drawingml/2006/main">
            <a:off x="609600" y="3400425"/>
            <a:ext cx="2952750" cy="72390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4" name="">
            <a:extLst xmlns:a="http://schemas.openxmlformats.org/drawingml/2006/main">
              <a:ext uri="{FF2B5EF4-FFF2-40B4-BE49-F238E27FC236}">
                <a16:creationId xmlns:a16="http://schemas.microsoft.com/office/drawing/2014/main" id="{CB106AC7-EABE-44F2-BA24-CBF16C890B77}"/>
              </a:ext>
            </a:extLst>
          </p:cNvPr>
          <p:cNvSpPr>
            <a:spLocks xmlns:a="http://schemas.openxmlformats.org/drawingml/2006/main" noGrp="1"/>
          </p:cNvSpPr>
          <p:nvPr/>
        </p:nvSpPr>
        <p:spPr>
          <a:xfrm xmlns:a="http://schemas.openxmlformats.org/drawingml/2006/main">
            <a:off x="723900" y="3514725"/>
            <a:ext cx="2724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Saved core</a:t>
            </a:r>
          </a:p>
        </p:txBody>
      </p:sp>
      <p:sp>
        <p:nvSpPr>
          <p:cNvPr id="25" name="">
            <a:extLst xmlns:a="http://schemas.openxmlformats.org/drawingml/2006/main">
              <a:ext uri="{FF2B5EF4-FFF2-40B4-BE49-F238E27FC236}">
                <a16:creationId xmlns:a16="http://schemas.microsoft.com/office/drawing/2014/main" id="{22AF6CE5-4502-4EBF-BADD-DB0D29785BE8}"/>
              </a:ext>
            </a:extLst>
          </p:cNvPr>
          <p:cNvSpPr>
            <a:spLocks xmlns:a="http://schemas.openxmlformats.org/drawingml/2006/main" noGrp="1"/>
          </p:cNvSpPr>
          <p:nvPr/>
        </p:nvSpPr>
        <p:spPr>
          <a:xfrm xmlns:a="http://schemas.openxmlformats.org/drawingml/2006/main">
            <a:off x="4629150" y="3400425"/>
            <a:ext cx="2952750" cy="72390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6" name="">
            <a:extLst xmlns:a="http://schemas.openxmlformats.org/drawingml/2006/main">
              <a:ext uri="{FF2B5EF4-FFF2-40B4-BE49-F238E27FC236}">
                <a16:creationId xmlns:a16="http://schemas.microsoft.com/office/drawing/2014/main" id="{48397C98-15FE-4DDC-AD39-9E3D6206A27F}"/>
              </a:ext>
            </a:extLst>
          </p:cNvPr>
          <p:cNvSpPr>
            <a:spLocks xmlns:a="http://schemas.openxmlformats.org/drawingml/2006/main" noGrp="1"/>
          </p:cNvSpPr>
          <p:nvPr/>
        </p:nvSpPr>
        <p:spPr>
          <a:xfrm xmlns:a="http://schemas.openxmlformats.org/drawingml/2006/main">
            <a:off x="4743450" y="3514725"/>
            <a:ext cx="2724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Saved PCAP</a:t>
            </a:r>
          </a:p>
        </p:txBody>
      </p:sp>
      <p:sp>
        <p:nvSpPr>
          <p:cNvPr id="27" name="">
            <a:extLst xmlns:a="http://schemas.openxmlformats.org/drawingml/2006/main">
              <a:ext uri="{FF2B5EF4-FFF2-40B4-BE49-F238E27FC236}">
                <a16:creationId xmlns:a16="http://schemas.microsoft.com/office/drawing/2014/main" id="{220EAEB1-ED55-419A-803B-E8570D843075}"/>
              </a:ext>
            </a:extLst>
          </p:cNvPr>
          <p:cNvSpPr>
            <a:spLocks xmlns:a="http://schemas.openxmlformats.org/drawingml/2006/main" noGrp="1"/>
          </p:cNvSpPr>
          <p:nvPr/>
        </p:nvSpPr>
        <p:spPr>
          <a:xfrm xmlns:a="http://schemas.openxmlformats.org/drawingml/2006/main">
            <a:off x="8648700" y="3400425"/>
            <a:ext cx="2933700" cy="723900"/>
          </a:xfrm>
          <a:prstGeom xmlns:a="http://schemas.openxmlformats.org/drawingml/2006/main" prst="rect">
            <a:avLst/>
          </a:prstGeom>
          <a:solidFill xmlns:a="http://schemas.openxmlformats.org/drawingml/2006/main">
            <a:srgbClr val="E1EFEC"/>
          </a:solidFill>
          <a:ln xmlns:a="http://schemas.openxmlformats.org/drawingml/2006/main" w="28575">
            <a:solidFill>
              <a:srgbClr val="A75B17"/>
            </a:solidFill>
          </a:ln>
        </p:spPr>
      </p:sp>
      <p:sp>
        <p:nvSpPr>
          <p:cNvPr id="28" name="">
            <a:extLst xmlns:a="http://schemas.openxmlformats.org/drawingml/2006/main">
              <a:ext uri="{FF2B5EF4-FFF2-40B4-BE49-F238E27FC236}">
                <a16:creationId xmlns:a16="http://schemas.microsoft.com/office/drawing/2014/main" id="{B964AC5F-20EA-470C-8A55-2A90F1B69E5B}"/>
              </a:ext>
            </a:extLst>
          </p:cNvPr>
          <p:cNvSpPr>
            <a:spLocks xmlns:a="http://schemas.openxmlformats.org/drawingml/2006/main" noGrp="1"/>
          </p:cNvSpPr>
          <p:nvPr/>
        </p:nvSpPr>
        <p:spPr>
          <a:xfrm xmlns:a="http://schemas.openxmlformats.org/drawingml/2006/main">
            <a:off x="8763000" y="3514725"/>
            <a:ext cx="2705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75B17"/>
                </a:solidFill>
                <a:latin typeface="Arial"/>
                <a:ea typeface="Arial"/>
                <a:cs typeface="Arial"/>
              </a:defRPr>
            </a:pPr>
            <a:r>
              <a:rPr sz="1875" b="1">
                <a:solidFill>
                  <a:srgbClr val="A75B17"/>
                </a:solidFill>
                <a:latin typeface="Arial"/>
                <a:ea typeface="Arial"/>
                <a:cs typeface="Arial"/>
              </a:rPr>
              <a:t>Private reference</a:t>
            </a:r>
          </a:p>
        </p:txBody>
      </p:sp>
      <p:sp>
        <p:nvSpPr>
          <p:cNvPr id="29" name="">
            <a:extLst xmlns:a="http://schemas.openxmlformats.org/drawingml/2006/main">
              <a:ext uri="{FF2B5EF4-FFF2-40B4-BE49-F238E27FC236}">
                <a16:creationId xmlns:a16="http://schemas.microsoft.com/office/drawing/2014/main" id="{16C45DE6-1D13-4602-95F5-2F7350E45E97}"/>
              </a:ext>
            </a:extLst>
          </p:cNvPr>
          <p:cNvSpPr>
            <a:spLocks xmlns:a="http://schemas.openxmlformats.org/drawingml/2006/main" noGrp="1"/>
          </p:cNvSpPr>
          <p:nvPr/>
        </p:nvSpPr>
        <p:spPr>
          <a:xfrm xmlns:a="http://schemas.openxmlformats.org/drawingml/2006/main">
            <a:off x="2066925" y="4143375"/>
            <a:ext cx="38100" cy="466725"/>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09AF6B3-5936-4244-B456-79F5DE8ED204}"/>
              </a:ext>
            </a:extLst>
          </p:cNvPr>
          <p:cNvSpPr>
            <a:spLocks xmlns:a="http://schemas.openxmlformats.org/drawingml/2006/main" noGrp="1"/>
          </p:cNvSpPr>
          <p:nvPr/>
        </p:nvSpPr>
        <p:spPr>
          <a:xfrm xmlns:a="http://schemas.openxmlformats.org/drawingml/2006/main">
            <a:off x="2000250" y="4438650"/>
            <a:ext cx="171450" cy="190500"/>
          </a:xfrm>
          <a:prstGeom xmlns:a="http://schemas.openxmlformats.org/drawingml/2006/main" prst="downArrow">
            <a:avLst/>
          </a:prstGeom>
          <a:solidFill xmlns:a="http://schemas.openxmlformats.org/drawingml/2006/main">
            <a:srgbClr val="007F79"/>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8ECA318-7A4A-4D71-A915-2B2942AE879F}"/>
              </a:ext>
            </a:extLst>
          </p:cNvPr>
          <p:cNvSpPr>
            <a:spLocks xmlns:a="http://schemas.openxmlformats.org/drawingml/2006/main" noGrp="1"/>
          </p:cNvSpPr>
          <p:nvPr/>
        </p:nvSpPr>
        <p:spPr>
          <a:xfrm xmlns:a="http://schemas.openxmlformats.org/drawingml/2006/main">
            <a:off x="6086475" y="4143375"/>
            <a:ext cx="38100" cy="466725"/>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18D288E8-A270-4810-8E4C-536391DF6A66}"/>
              </a:ext>
            </a:extLst>
          </p:cNvPr>
          <p:cNvSpPr>
            <a:spLocks xmlns:a="http://schemas.openxmlformats.org/drawingml/2006/main" noGrp="1"/>
          </p:cNvSpPr>
          <p:nvPr/>
        </p:nvSpPr>
        <p:spPr>
          <a:xfrm xmlns:a="http://schemas.openxmlformats.org/drawingml/2006/main">
            <a:off x="6019800" y="4438650"/>
            <a:ext cx="171450" cy="190500"/>
          </a:xfrm>
          <a:prstGeom xmlns:a="http://schemas.openxmlformats.org/drawingml/2006/main" prst="downArrow">
            <a:avLst/>
          </a:prstGeom>
          <a:solidFill xmlns:a="http://schemas.openxmlformats.org/drawingml/2006/main">
            <a:srgbClr val="007F79"/>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1869EF4-328B-494A-B947-C370B0305B35}"/>
              </a:ext>
            </a:extLst>
          </p:cNvPr>
          <p:cNvSpPr>
            <a:spLocks xmlns:a="http://schemas.openxmlformats.org/drawingml/2006/main" noGrp="1"/>
          </p:cNvSpPr>
          <p:nvPr/>
        </p:nvSpPr>
        <p:spPr>
          <a:xfrm xmlns:a="http://schemas.openxmlformats.org/drawingml/2006/main">
            <a:off x="609600" y="4638675"/>
            <a:ext cx="2952750" cy="72390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34" name="">
            <a:extLst xmlns:a="http://schemas.openxmlformats.org/drawingml/2006/main">
              <a:ext uri="{FF2B5EF4-FFF2-40B4-BE49-F238E27FC236}">
                <a16:creationId xmlns:a16="http://schemas.microsoft.com/office/drawing/2014/main" id="{D434EC4D-8B31-47C9-9237-44962B89434F}"/>
              </a:ext>
            </a:extLst>
          </p:cNvPr>
          <p:cNvSpPr>
            <a:spLocks xmlns:a="http://schemas.openxmlformats.org/drawingml/2006/main" noGrp="1"/>
          </p:cNvSpPr>
          <p:nvPr/>
        </p:nvSpPr>
        <p:spPr>
          <a:xfrm xmlns:a="http://schemas.openxmlformats.org/drawingml/2006/main">
            <a:off x="723900" y="4752975"/>
            <a:ext cx="2724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Discover candidates</a:t>
            </a:r>
          </a:p>
        </p:txBody>
      </p:sp>
      <p:sp>
        <p:nvSpPr>
          <p:cNvPr id="35" name="">
            <a:extLst xmlns:a="http://schemas.openxmlformats.org/drawingml/2006/main">
              <a:ext uri="{FF2B5EF4-FFF2-40B4-BE49-F238E27FC236}">
                <a16:creationId xmlns:a16="http://schemas.microsoft.com/office/drawing/2014/main" id="{F9AA8481-9810-4FE8-BDE7-57235F91045B}"/>
              </a:ext>
            </a:extLst>
          </p:cNvPr>
          <p:cNvSpPr>
            <a:spLocks xmlns:a="http://schemas.openxmlformats.org/drawingml/2006/main" noGrp="1"/>
          </p:cNvSpPr>
          <p:nvPr/>
        </p:nvSpPr>
        <p:spPr>
          <a:xfrm xmlns:a="http://schemas.openxmlformats.org/drawingml/2006/main">
            <a:off x="4629150" y="4638675"/>
            <a:ext cx="2952750" cy="72390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36" name="">
            <a:extLst xmlns:a="http://schemas.openxmlformats.org/drawingml/2006/main">
              <a:ext uri="{FF2B5EF4-FFF2-40B4-BE49-F238E27FC236}">
                <a16:creationId xmlns:a16="http://schemas.microsoft.com/office/drawing/2014/main" id="{40971191-3F22-48F3-A377-1E47C67A4667}"/>
              </a:ext>
            </a:extLst>
          </p:cNvPr>
          <p:cNvSpPr>
            <a:spLocks xmlns:a="http://schemas.openxmlformats.org/drawingml/2006/main" noGrp="1"/>
          </p:cNvSpPr>
          <p:nvPr/>
        </p:nvSpPr>
        <p:spPr>
          <a:xfrm xmlns:a="http://schemas.openxmlformats.org/drawingml/2006/main">
            <a:off x="4743450" y="4752975"/>
            <a:ext cx="2724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Authenticate records</a:t>
            </a:r>
          </a:p>
        </p:txBody>
      </p:sp>
      <p:sp>
        <p:nvSpPr>
          <p:cNvPr id="37" name="">
            <a:extLst xmlns:a="http://schemas.openxmlformats.org/drawingml/2006/main">
              <a:ext uri="{FF2B5EF4-FFF2-40B4-BE49-F238E27FC236}">
                <a16:creationId xmlns:a16="http://schemas.microsoft.com/office/drawing/2014/main" id="{AD9F538D-3D4B-4AAC-B2D1-97DE32ABEAE3}"/>
              </a:ext>
            </a:extLst>
          </p:cNvPr>
          <p:cNvSpPr>
            <a:spLocks xmlns:a="http://schemas.openxmlformats.org/drawingml/2006/main" noGrp="1"/>
          </p:cNvSpPr>
          <p:nvPr/>
        </p:nvSpPr>
        <p:spPr>
          <a:xfrm xmlns:a="http://schemas.openxmlformats.org/drawingml/2006/main">
            <a:off x="8648700" y="4638675"/>
            <a:ext cx="2933700" cy="723900"/>
          </a:xfrm>
          <a:prstGeom xmlns:a="http://schemas.openxmlformats.org/drawingml/2006/main" prst="rect">
            <a:avLst/>
          </a:prstGeom>
          <a:solidFill xmlns:a="http://schemas.openxmlformats.org/drawingml/2006/main">
            <a:srgbClr val="E1EFEC"/>
          </a:solidFill>
          <a:ln xmlns:a="http://schemas.openxmlformats.org/drawingml/2006/main" w="28575">
            <a:solidFill>
              <a:srgbClr val="A75B17"/>
            </a:solidFill>
          </a:ln>
        </p:spPr>
      </p:sp>
      <p:sp>
        <p:nvSpPr>
          <p:cNvPr id="38" name="">
            <a:extLst xmlns:a="http://schemas.openxmlformats.org/drawingml/2006/main">
              <a:ext uri="{FF2B5EF4-FFF2-40B4-BE49-F238E27FC236}">
                <a16:creationId xmlns:a16="http://schemas.microsoft.com/office/drawing/2014/main" id="{B965041E-ACE8-4153-8613-2DEEB085D960}"/>
              </a:ext>
            </a:extLst>
          </p:cNvPr>
          <p:cNvSpPr>
            <a:spLocks xmlns:a="http://schemas.openxmlformats.org/drawingml/2006/main" noGrp="1"/>
          </p:cNvSpPr>
          <p:nvPr/>
        </p:nvSpPr>
        <p:spPr>
          <a:xfrm xmlns:a="http://schemas.openxmlformats.org/drawingml/2006/main">
            <a:off x="8763000" y="4752975"/>
            <a:ext cx="2705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75B17"/>
                </a:solidFill>
                <a:latin typeface="Arial"/>
                <a:ea typeface="Arial"/>
                <a:cs typeface="Arial"/>
              </a:defRPr>
            </a:pPr>
            <a:r>
              <a:rPr sz="1875" b="1">
                <a:solidFill>
                  <a:srgbClr val="A75B17"/>
                </a:solidFill>
                <a:latin typeface="Arial"/>
                <a:ea typeface="Arial"/>
                <a:cs typeface="Arial"/>
              </a:rPr>
              <a:t>Score sealed outputs</a:t>
            </a:r>
          </a:p>
        </p:txBody>
      </p:sp>
      <p:sp>
        <p:nvSpPr>
          <p:cNvPr id="39" name="">
            <a:extLst xmlns:a="http://schemas.openxmlformats.org/drawingml/2006/main">
              <a:ext uri="{FF2B5EF4-FFF2-40B4-BE49-F238E27FC236}">
                <a16:creationId xmlns:a16="http://schemas.microsoft.com/office/drawing/2014/main" id="{043EDEA2-8039-4020-B6A9-5EA98304CFEE}"/>
              </a:ext>
            </a:extLst>
          </p:cNvPr>
          <p:cNvSpPr>
            <a:spLocks xmlns:a="http://schemas.openxmlformats.org/drawingml/2006/main" noGrp="1"/>
          </p:cNvSpPr>
          <p:nvPr/>
        </p:nvSpPr>
        <p:spPr>
          <a:xfrm xmlns:a="http://schemas.openxmlformats.org/drawingml/2006/main">
            <a:off x="3571875" y="4981575"/>
            <a:ext cx="1047750"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56B66E5F-5709-40B4-A76E-8623CD6D65FD}"/>
              </a:ext>
            </a:extLst>
          </p:cNvPr>
          <p:cNvSpPr>
            <a:spLocks xmlns:a="http://schemas.openxmlformats.org/drawingml/2006/main" noGrp="1"/>
          </p:cNvSpPr>
          <p:nvPr/>
        </p:nvSpPr>
        <p:spPr>
          <a:xfrm xmlns:a="http://schemas.openxmlformats.org/drawingml/2006/main">
            <a:off x="4448175" y="491490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3E524DB1-175E-43AF-84F5-2888C281A496}"/>
              </a:ext>
            </a:extLst>
          </p:cNvPr>
          <p:cNvSpPr>
            <a:spLocks xmlns:a="http://schemas.openxmlformats.org/drawingml/2006/main" noGrp="1"/>
          </p:cNvSpPr>
          <p:nvPr/>
        </p:nvSpPr>
        <p:spPr>
          <a:xfrm xmlns:a="http://schemas.openxmlformats.org/drawingml/2006/main">
            <a:off x="7591425" y="4981575"/>
            <a:ext cx="1047750"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BDFB768-D539-4471-AFC7-2FD6EA3D7BFE}"/>
              </a:ext>
            </a:extLst>
          </p:cNvPr>
          <p:cNvSpPr>
            <a:spLocks xmlns:a="http://schemas.openxmlformats.org/drawingml/2006/main" noGrp="1"/>
          </p:cNvSpPr>
          <p:nvPr/>
        </p:nvSpPr>
        <p:spPr>
          <a:xfrm xmlns:a="http://schemas.openxmlformats.org/drawingml/2006/main">
            <a:off x="8467725" y="491490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153B50BA-0102-4F29-A41C-ACF853E7129B}"/>
              </a:ext>
            </a:extLst>
          </p:cNvPr>
          <p:cNvSpPr>
            <a:spLocks xmlns:a="http://schemas.openxmlformats.org/drawingml/2006/main" noGrp="1"/>
          </p:cNvSpPr>
          <p:nvPr/>
        </p:nvSpPr>
        <p:spPr>
          <a:xfrm xmlns:a="http://schemas.openxmlformats.org/drawingml/2006/main">
            <a:off x="609600" y="570547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Recovery uses memory and traffic. Only the final evaluator opens the answer.</a:t>
            </a:r>
          </a:p>
        </p:txBody>
      </p:sp>
    </p:spTree>
    <p:extLst>
      <p:ext uri="{BB962C8B-B14F-4D97-AF65-F5344CB8AC3E}">
        <p14:creationId xmlns:p14="http://schemas.microsoft.com/office/powerpoint/2010/main" val="1133338768"/>
      </p:ext>
    </p:extLst>
  </p:cSld>
</p:sld>
</file>

<file path=ppt/slides/slide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D8DE57-9C28-4A19-A1CA-53D36BC88C70}"/>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The first obstacles were in the setup</a:t>
            </a:r>
          </a:p>
        </p:txBody>
      </p:sp>
      <p:sp>
        <p:nvSpPr>
          <p:cNvPr id="2" name="">
            <a:extLst xmlns:a="http://schemas.openxmlformats.org/drawingml/2006/main">
              <a:ext uri="{FF2B5EF4-FFF2-40B4-BE49-F238E27FC236}">
                <a16:creationId xmlns:a16="http://schemas.microsoft.com/office/drawing/2014/main" id="{7A02848D-076A-4241-9369-EF0959EC2FAE}"/>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780E860F-39A4-4342-ADF1-CE40C063128D}"/>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7F3326E9-5790-49D3-88DA-7FDBF82A3EA0}"/>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 SAVED_MEMORY_WORK_LOG.md, cases 001–008</a:t>
            </a:r>
          </a:p>
        </p:txBody>
      </p:sp>
      <p:graphicFrame>
        <p:nvGraphicFramePr>
          <p:cNvPr id="11" name=""/>
          <p:cNvGraphicFramePr/>
          <p:nvPr/>
        </p:nvGraphicFramePr>
        <p:xfrm>
          <a:off xmlns:a="http://schemas.openxmlformats.org/drawingml/2006/main" x="609600" y="2000250"/>
          <a:ext xmlns:a="http://schemas.openxmlformats.org/drawingml/2006/main" cx="10972800" cy="3171825"/>
        </p:xfrm>
        <a:graphic xmlns:a="http://schemas.openxmlformats.org/drawingml/2006/main">
          <a:graphicData uri="http://schemas.openxmlformats.org/drawingml/2006/table">
            <a:tbl>
              <a:tblPr/>
              <a:tblGrid>
                <a:gridCol w="5286375"/>
                <a:gridCol w="5686425"/>
              </a:tblGrid>
              <a:tr h="792956">
                <a:tc>
                  <a:txBody>
                    <a:bodyPr/>
                    <a:lstStyle/>
                    <a:p>
                      <a:r>
                        <a:rPr sz="1875" b="1">
                          <a:solidFill>
                            <a:srgbClr val="FFFFFF"/>
                          </a:solidFill>
                          <a:latin typeface="Arial"/>
                          <a:ea typeface="Arial"/>
                          <a:cs typeface="Arial"/>
                        </a:rPr>
                        <a:t>What happened</a:t>
                      </a:r>
                    </a:p>
                  </a:txBody>
                  <a:tcPr marL="91440" marR="91440" marT="45720" marB="45720">
                    <a:solidFill>
                      <a:srgbClr val="142E3E"/>
                    </a:solidFill>
                  </a:tcPr>
                </a:tc>
                <a:tc>
                  <a:txBody>
                    <a:bodyPr/>
                    <a:lstStyle/>
                    <a:p>
                      <a:r>
                        <a:rPr sz="1875" b="1">
                          <a:solidFill>
                            <a:srgbClr val="FFFFFF"/>
                          </a:solidFill>
                          <a:latin typeface="Arial"/>
                          <a:ea typeface="Arial"/>
                          <a:cs typeface="Arial"/>
                        </a:rPr>
                        <a:t>What changed</a:t>
                      </a:r>
                    </a:p>
                  </a:txBody>
                  <a:tcPr marL="91440" marR="91440" marT="45720" marB="45720">
                    <a:solidFill>
                      <a:srgbClr val="142E3E"/>
                    </a:solidFill>
                  </a:tcPr>
                </a:tc>
              </a:tr>
              <a:tr h="792956">
                <a:tc>
                  <a:txBody>
                    <a:bodyPr/>
                    <a:lstStyle/>
                    <a:p>
                      <a:r>
                        <a:rPr sz="1875" b="0">
                          <a:solidFill>
                            <a:srgbClr val="142E3E"/>
                          </a:solidFill>
                          <a:latin typeface="Arial"/>
                          <a:ea typeface="Arial"/>
                          <a:cs typeface="Arial"/>
                        </a:rPr>
                        <a:t>Firefox rejected the lab connection</a:t>
                      </a:r>
                    </a:p>
                  </a:txBody>
                  <a:tcPr marL="91440" marR="91440" marT="45720" marB="45720">
                    <a:solidFill>
                      <a:srgbClr val="FFFFFF"/>
                    </a:solidFill>
                  </a:tcPr>
                </a:tc>
                <a:tc>
                  <a:txBody>
                    <a:bodyPr/>
                    <a:lstStyle/>
                    <a:p>
                      <a:r>
                        <a:rPr sz="1875" b="0">
                          <a:solidFill>
                            <a:srgbClr val="142E3E"/>
                          </a:solidFill>
                          <a:latin typeface="Arial"/>
                          <a:ea typeface="Arial"/>
                          <a:cs typeface="Arial"/>
                        </a:rPr>
                        <a:t>Recorded explicit temporary lab exceptions</a:t>
                      </a:r>
                    </a:p>
                  </a:txBody>
                  <a:tcPr marL="91440" marR="91440" marT="45720" marB="45720">
                    <a:solidFill>
                      <a:srgbClr val="FFFFFF"/>
                    </a:solidFill>
                  </a:tcPr>
                </a:tc>
              </a:tr>
              <a:tr h="792956">
                <a:tc>
                  <a:txBody>
                    <a:bodyPr/>
                    <a:lstStyle/>
                    <a:p>
                      <a:r>
                        <a:rPr sz="1875" b="0">
                          <a:solidFill>
                            <a:srgbClr val="142E3E"/>
                          </a:solidFill>
                          <a:latin typeface="Arial"/>
                          <a:ea typeface="Arial"/>
                          <a:cs typeface="Arial"/>
                        </a:rPr>
                        <a:t>The assumed process did not own the connection</a:t>
                      </a:r>
                    </a:p>
                  </a:txBody>
                  <a:tcPr marL="91440" marR="91440" marT="45720" marB="45720">
                    <a:solidFill>
                      <a:srgbClr val="E1EFEC"/>
                    </a:solidFill>
                  </a:tcPr>
                </a:tc>
                <a:tc>
                  <a:txBody>
                    <a:bodyPr/>
                    <a:lstStyle/>
                    <a:p>
                      <a:r>
                        <a:rPr sz="1875" b="0">
                          <a:solidFill>
                            <a:srgbClr val="142E3E"/>
                          </a:solidFill>
                          <a:latin typeface="Arial"/>
                          <a:ea typeface="Arial"/>
                          <a:cs typeface="Arial"/>
                        </a:rPr>
                        <a:t>Checked actual connection ownership</a:t>
                      </a:r>
                    </a:p>
                  </a:txBody>
                  <a:tcPr marL="91440" marR="91440" marT="45720" marB="45720">
                    <a:solidFill>
                      <a:srgbClr val="E1EFEC"/>
                    </a:solidFill>
                  </a:tcPr>
                </a:tc>
              </a:tr>
              <a:tr h="792956">
                <a:tc>
                  <a:txBody>
                    <a:bodyPr/>
                    <a:lstStyle/>
                    <a:p>
                      <a:r>
                        <a:rPr sz="1875" b="0">
                          <a:solidFill>
                            <a:srgbClr val="142E3E"/>
                          </a:solidFill>
                          <a:latin typeface="Arial"/>
                          <a:ea typeface="Arial"/>
                          <a:cs typeface="Arial"/>
                        </a:rPr>
                        <a:t>A core looked much larger than its disk use</a:t>
                      </a:r>
                    </a:p>
                  </a:txBody>
                  <a:tcPr marL="91440" marR="91440" marT="45720" marB="45720">
                    <a:solidFill>
                      <a:srgbClr val="FFFFFF"/>
                    </a:solidFill>
                  </a:tcPr>
                </a:tc>
                <a:tc>
                  <a:txBody>
                    <a:bodyPr/>
                    <a:lstStyle/>
                    <a:p>
                      <a:r>
                        <a:rPr sz="1875" b="0">
                          <a:solidFill>
                            <a:srgbClr val="142E3E"/>
                          </a:solidFill>
                          <a:latin typeface="Arial"/>
                          <a:ea typeface="Arial"/>
                          <a:cs typeface="Arial"/>
                        </a:rPr>
                        <a:t>Tracked both logical and allocated size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6BA7FC4-2118-47C7-ABE5-D5EE95D32F96}"/>
              </a:ext>
            </a:extLst>
          </p:cNvPr>
          <p:cNvSpPr>
            <a:spLocks xmlns:a="http://schemas.openxmlformats.org/drawingml/2006/main" noGrp="1"/>
          </p:cNvSpPr>
          <p:nvPr/>
        </p:nvSpPr>
        <p:spPr>
          <a:xfrm xmlns:a="http://schemas.openxmlformats.org/drawingml/2006/main">
            <a:off x="609600" y="560070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75B17"/>
                </a:solidFill>
                <a:latin typeface="Arial"/>
                <a:ea typeface="Arial"/>
                <a:cs typeface="Arial"/>
              </a:defRPr>
            </a:pPr>
            <a:r>
              <a:rPr sz="1875" b="1">
                <a:solidFill>
                  <a:srgbClr val="A75B17"/>
                </a:solidFill>
                <a:latin typeface="Arial"/>
                <a:ea typeface="Arial"/>
                <a:cs typeface="Arial"/>
              </a:rPr>
              <a:t>Failed setup attempts remain part of the history.</a:t>
            </a:r>
          </a:p>
        </p:txBody>
      </p:sp>
    </p:spTree>
    <p:extLst>
      <p:ext uri="{BB962C8B-B14F-4D97-AF65-F5344CB8AC3E}">
        <p14:creationId xmlns:p14="http://schemas.microsoft.com/office/powerpoint/2010/main" val="1781039607"/>
      </p:ext>
    </p:extLst>
  </p:cSld>
</p:sld>
</file>

<file path=ppt/slides/slide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151081E-D2BD-4D77-950A-A4F8B939998E}"/>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A plausible candidate was not enough</a:t>
            </a:r>
          </a:p>
        </p:txBody>
      </p:sp>
      <p:sp>
        <p:nvSpPr>
          <p:cNvPr id="2" name="">
            <a:extLst xmlns:a="http://schemas.openxmlformats.org/drawingml/2006/main">
              <a:ext uri="{FF2B5EF4-FFF2-40B4-BE49-F238E27FC236}">
                <a16:creationId xmlns:a16="http://schemas.microsoft.com/office/drawing/2014/main" id="{C1868D73-37E2-4930-989F-37CD34F0FD5A}"/>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CC97D5A0-CAE6-478D-A864-0B4473869DBE}"/>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69181C39-278E-4A00-9B3A-325848C09336}"/>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 saved-memory development case 008</a:t>
            </a:r>
          </a:p>
        </p:txBody>
      </p:sp>
      <p:sp>
        <p:nvSpPr>
          <p:cNvPr id="5" name="">
            <a:extLst xmlns:a="http://schemas.openxmlformats.org/drawingml/2006/main">
              <a:ext uri="{FF2B5EF4-FFF2-40B4-BE49-F238E27FC236}">
                <a16:creationId xmlns:a16="http://schemas.microsoft.com/office/drawing/2014/main" id="{A37BD4F4-EDB3-48A8-8BBE-59F6A2798957}"/>
              </a:ext>
            </a:extLst>
          </p:cNvPr>
          <p:cNvSpPr>
            <a:spLocks xmlns:a="http://schemas.openxmlformats.org/drawingml/2006/main" noGrp="1"/>
          </p:cNvSpPr>
          <p:nvPr/>
        </p:nvSpPr>
        <p:spPr>
          <a:xfrm xmlns:a="http://schemas.openxmlformats.org/drawingml/2006/main">
            <a:off x="609600" y="2466975"/>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6" name="">
            <a:extLst xmlns:a="http://schemas.openxmlformats.org/drawingml/2006/main">
              <a:ext uri="{FF2B5EF4-FFF2-40B4-BE49-F238E27FC236}">
                <a16:creationId xmlns:a16="http://schemas.microsoft.com/office/drawing/2014/main" id="{4CDDD1BE-2AF4-4B95-B191-FD41C6A16C45}"/>
              </a:ext>
            </a:extLst>
          </p:cNvPr>
          <p:cNvSpPr>
            <a:spLocks xmlns:a="http://schemas.openxmlformats.org/drawingml/2006/main" noGrp="1"/>
          </p:cNvSpPr>
          <p:nvPr/>
        </p:nvSpPr>
        <p:spPr>
          <a:xfrm xmlns:a="http://schemas.openxmlformats.org/drawingml/2006/main">
            <a:off x="762000" y="2657475"/>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First scan</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98 candidates</a:t>
            </a:r>
          </a:p>
        </p:txBody>
      </p:sp>
      <p:sp>
        <p:nvSpPr>
          <p:cNvPr id="7" name="">
            <a:extLst xmlns:a="http://schemas.openxmlformats.org/drawingml/2006/main">
              <a:ext uri="{FF2B5EF4-FFF2-40B4-BE49-F238E27FC236}">
                <a16:creationId xmlns:a16="http://schemas.microsoft.com/office/drawing/2014/main" id="{DBC7EC23-D589-478C-BDE3-5E89BDBC89E8}"/>
              </a:ext>
            </a:extLst>
          </p:cNvPr>
          <p:cNvSpPr>
            <a:spLocks xmlns:a="http://schemas.openxmlformats.org/drawingml/2006/main" noGrp="1"/>
          </p:cNvSpPr>
          <p:nvPr/>
        </p:nvSpPr>
        <p:spPr>
          <a:xfrm xmlns:a="http://schemas.openxmlformats.org/drawingml/2006/main">
            <a:off x="3457575" y="2466975"/>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8" name="">
            <a:extLst xmlns:a="http://schemas.openxmlformats.org/drawingml/2006/main">
              <a:ext uri="{FF2B5EF4-FFF2-40B4-BE49-F238E27FC236}">
                <a16:creationId xmlns:a16="http://schemas.microsoft.com/office/drawing/2014/main" id="{6498EAC7-65C7-40FF-BE21-8A93BE3125CA}"/>
              </a:ext>
            </a:extLst>
          </p:cNvPr>
          <p:cNvSpPr>
            <a:spLocks xmlns:a="http://schemas.openxmlformats.org/drawingml/2006/main" noGrp="1"/>
          </p:cNvSpPr>
          <p:nvPr/>
        </p:nvSpPr>
        <p:spPr>
          <a:xfrm xmlns:a="http://schemas.openxmlformats.org/drawingml/2006/main">
            <a:off x="3609975" y="2657475"/>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68 top ties</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No selection</a:t>
            </a:r>
          </a:p>
        </p:txBody>
      </p:sp>
      <p:sp>
        <p:nvSpPr>
          <p:cNvPr id="9" name="">
            <a:extLst xmlns:a="http://schemas.openxmlformats.org/drawingml/2006/main">
              <a:ext uri="{FF2B5EF4-FFF2-40B4-BE49-F238E27FC236}">
                <a16:creationId xmlns:a16="http://schemas.microsoft.com/office/drawing/2014/main" id="{270C9CCC-B85D-4BF8-B938-C54B34C39AF8}"/>
              </a:ext>
            </a:extLst>
          </p:cNvPr>
          <p:cNvSpPr>
            <a:spLocks xmlns:a="http://schemas.openxmlformats.org/drawingml/2006/main" noGrp="1"/>
          </p:cNvSpPr>
          <p:nvPr/>
        </p:nvSpPr>
        <p:spPr>
          <a:xfrm xmlns:a="http://schemas.openxmlformats.org/drawingml/2006/main">
            <a:off x="3076575" y="2971800"/>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2AE4388-258B-49E6-8396-3872EF78E70E}"/>
              </a:ext>
            </a:extLst>
          </p:cNvPr>
          <p:cNvSpPr>
            <a:spLocks xmlns:a="http://schemas.openxmlformats.org/drawingml/2006/main" noGrp="1"/>
          </p:cNvSpPr>
          <p:nvPr/>
        </p:nvSpPr>
        <p:spPr>
          <a:xfrm xmlns:a="http://schemas.openxmlformats.org/drawingml/2006/main">
            <a:off x="3238500" y="290512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4D6E57E-5168-4000-935B-F09B2585C133}"/>
              </a:ext>
            </a:extLst>
          </p:cNvPr>
          <p:cNvSpPr>
            <a:spLocks xmlns:a="http://schemas.openxmlformats.org/drawingml/2006/main" noGrp="1"/>
          </p:cNvSpPr>
          <p:nvPr/>
        </p:nvSpPr>
        <p:spPr>
          <a:xfrm xmlns:a="http://schemas.openxmlformats.org/drawingml/2006/main">
            <a:off x="6305550" y="2466975"/>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2" name="">
            <a:extLst xmlns:a="http://schemas.openxmlformats.org/drawingml/2006/main">
              <a:ext uri="{FF2B5EF4-FFF2-40B4-BE49-F238E27FC236}">
                <a16:creationId xmlns:a16="http://schemas.microsoft.com/office/drawing/2014/main" id="{8FACAC63-537C-426B-AD20-A4350A8FA32F}"/>
              </a:ext>
            </a:extLst>
          </p:cNvPr>
          <p:cNvSpPr>
            <a:spLocks xmlns:a="http://schemas.openxmlformats.org/drawingml/2006/main" noGrp="1"/>
          </p:cNvSpPr>
          <p:nvPr/>
        </p:nvSpPr>
        <p:spPr>
          <a:xfrm xmlns:a="http://schemas.openxmlformats.org/drawingml/2006/main">
            <a:off x="6457950" y="2657475"/>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New layout</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5 tied values</a:t>
            </a:r>
          </a:p>
        </p:txBody>
      </p:sp>
      <p:sp>
        <p:nvSpPr>
          <p:cNvPr id="13" name="">
            <a:extLst xmlns:a="http://schemas.openxmlformats.org/drawingml/2006/main">
              <a:ext uri="{FF2B5EF4-FFF2-40B4-BE49-F238E27FC236}">
                <a16:creationId xmlns:a16="http://schemas.microsoft.com/office/drawing/2014/main" id="{25117EA9-E3EC-4BFF-BD06-7B9635CA9A05}"/>
              </a:ext>
            </a:extLst>
          </p:cNvPr>
          <p:cNvSpPr>
            <a:spLocks xmlns:a="http://schemas.openxmlformats.org/drawingml/2006/main" noGrp="1"/>
          </p:cNvSpPr>
          <p:nvPr/>
        </p:nvSpPr>
        <p:spPr>
          <a:xfrm xmlns:a="http://schemas.openxmlformats.org/drawingml/2006/main">
            <a:off x="5924550" y="2971800"/>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B0728EE-76E1-4345-8221-BC306C1E0D71}"/>
              </a:ext>
            </a:extLst>
          </p:cNvPr>
          <p:cNvSpPr>
            <a:spLocks xmlns:a="http://schemas.openxmlformats.org/drawingml/2006/main" noGrp="1"/>
          </p:cNvSpPr>
          <p:nvPr/>
        </p:nvSpPr>
        <p:spPr>
          <a:xfrm xmlns:a="http://schemas.openxmlformats.org/drawingml/2006/main">
            <a:off x="6086475" y="290512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C25D84A-2F26-4691-84E9-99B2F39F9586}"/>
              </a:ext>
            </a:extLst>
          </p:cNvPr>
          <p:cNvSpPr>
            <a:spLocks xmlns:a="http://schemas.openxmlformats.org/drawingml/2006/main" noGrp="1"/>
          </p:cNvSpPr>
          <p:nvPr/>
        </p:nvSpPr>
        <p:spPr>
          <a:xfrm xmlns:a="http://schemas.openxmlformats.org/drawingml/2006/main">
            <a:off x="9153525" y="2466975"/>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6" name="">
            <a:extLst xmlns:a="http://schemas.openxmlformats.org/drawingml/2006/main">
              <a:ext uri="{FF2B5EF4-FFF2-40B4-BE49-F238E27FC236}">
                <a16:creationId xmlns:a16="http://schemas.microsoft.com/office/drawing/2014/main" id="{C2F17DF6-D5F9-45D3-A35E-843FD921BEC3}"/>
              </a:ext>
            </a:extLst>
          </p:cNvPr>
          <p:cNvSpPr>
            <a:spLocks xmlns:a="http://schemas.openxmlformats.org/drawingml/2006/main" noGrp="1"/>
          </p:cNvSpPr>
          <p:nvPr/>
        </p:nvSpPr>
        <p:spPr>
          <a:xfrm xmlns:a="http://schemas.openxmlformats.org/drawingml/2006/main">
            <a:off x="9305925" y="2657475"/>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Saved traffic</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1 valid winner</a:t>
            </a:r>
          </a:p>
        </p:txBody>
      </p:sp>
      <p:sp>
        <p:nvSpPr>
          <p:cNvPr id="17" name="">
            <a:extLst xmlns:a="http://schemas.openxmlformats.org/drawingml/2006/main">
              <a:ext uri="{FF2B5EF4-FFF2-40B4-BE49-F238E27FC236}">
                <a16:creationId xmlns:a16="http://schemas.microsoft.com/office/drawing/2014/main" id="{377558CC-6B12-4102-99B4-7B65CADB51A6}"/>
              </a:ext>
            </a:extLst>
          </p:cNvPr>
          <p:cNvSpPr>
            <a:spLocks xmlns:a="http://schemas.openxmlformats.org/drawingml/2006/main" noGrp="1"/>
          </p:cNvSpPr>
          <p:nvPr/>
        </p:nvSpPr>
        <p:spPr>
          <a:xfrm xmlns:a="http://schemas.openxmlformats.org/drawingml/2006/main">
            <a:off x="8772525" y="2971800"/>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503DA39-F4E6-45D7-AE4F-A716A4B74F38}"/>
              </a:ext>
            </a:extLst>
          </p:cNvPr>
          <p:cNvSpPr>
            <a:spLocks xmlns:a="http://schemas.openxmlformats.org/drawingml/2006/main" noGrp="1"/>
          </p:cNvSpPr>
          <p:nvPr/>
        </p:nvSpPr>
        <p:spPr>
          <a:xfrm xmlns:a="http://schemas.openxmlformats.org/drawingml/2006/main">
            <a:off x="8934450" y="290512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EE6253F-659E-4226-A36C-71E106B23C14}"/>
              </a:ext>
            </a:extLst>
          </p:cNvPr>
          <p:cNvSpPr>
            <a:spLocks xmlns:a="http://schemas.openxmlformats.org/drawingml/2006/main" noGrp="1"/>
          </p:cNvSpPr>
          <p:nvPr/>
        </p:nvSpPr>
        <p:spPr>
          <a:xfrm xmlns:a="http://schemas.openxmlformats.org/drawingml/2006/main">
            <a:off x="609600" y="4257675"/>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A94138"/>
                </a:solidFill>
                <a:latin typeface="Arial"/>
                <a:ea typeface="Arial"/>
                <a:cs typeface="Arial"/>
              </a:defRPr>
            </a:pPr>
            <a:r>
              <a:rPr sz="2325" b="1">
                <a:solidFill>
                  <a:srgbClr val="A94138"/>
                </a:solidFill>
                <a:latin typeface="Arial"/>
                <a:ea typeface="Arial"/>
                <a:cs typeface="Arial"/>
              </a:rPr>
              <a:t>The first scan also missed the true secret.</a:t>
            </a:r>
          </a:p>
        </p:txBody>
      </p:sp>
      <p:sp>
        <p:nvSpPr>
          <p:cNvPr id="20" name="">
            <a:extLst xmlns:a="http://schemas.openxmlformats.org/drawingml/2006/main">
              <a:ext uri="{FF2B5EF4-FFF2-40B4-BE49-F238E27FC236}">
                <a16:creationId xmlns:a16="http://schemas.microsoft.com/office/drawing/2014/main" id="{98D066DC-4174-4045-988F-42CD8A8A2B78}"/>
              </a:ext>
            </a:extLst>
          </p:cNvPr>
          <p:cNvSpPr>
            <a:spLocks xmlns:a="http://schemas.openxmlformats.org/drawingml/2006/main" noGrp="1"/>
          </p:cNvSpPr>
          <p:nvPr/>
        </p:nvSpPr>
        <p:spPr>
          <a:xfrm xmlns:a="http://schemas.openxmlformats.org/drawingml/2006/main">
            <a:off x="609600" y="48768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3E"/>
                </a:solidFill>
                <a:latin typeface="Arial"/>
                <a:ea typeface="Arial"/>
                <a:cs typeface="Arial"/>
              </a:defRPr>
            </a:pPr>
            <a:r>
              <a:rPr sz="2175" b="0">
                <a:solidFill>
                  <a:srgbClr val="142E3E"/>
                </a:solidFill>
                <a:latin typeface="Arial"/>
                <a:ea typeface="Arial"/>
                <a:cs typeface="Arial"/>
              </a:rPr>
              <a:t>The revised structure found it, but memory ranking still could not choose.</a:t>
            </a:r>
          </a:p>
        </p:txBody>
      </p:sp>
    </p:spTree>
    <p:extLst>
      <p:ext uri="{BB962C8B-B14F-4D97-AF65-F5344CB8AC3E}">
        <p14:creationId xmlns:p14="http://schemas.microsoft.com/office/powerpoint/2010/main" val="1037697832"/>
      </p:ext>
    </p:extLst>
  </p:cSld>
</p:sld>
</file>

<file path=ppt/slides/slide1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07B0EE4-42AB-42E6-A115-73F6D5AC5C85}"/>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The evidence has three separate stages</a:t>
            </a:r>
          </a:p>
        </p:txBody>
      </p:sp>
      <p:sp>
        <p:nvSpPr>
          <p:cNvPr id="2" name="">
            <a:extLst xmlns:a="http://schemas.openxmlformats.org/drawingml/2006/main">
              <a:ext uri="{FF2B5EF4-FFF2-40B4-BE49-F238E27FC236}">
                <a16:creationId xmlns:a16="http://schemas.microsoft.com/office/drawing/2014/main" id="{218032F9-CBD9-4835-8AC9-322B26C47950}"/>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3A1A0A6B-426A-45E6-A77D-30202A676A5F}"/>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329E6359-6B6F-4FC2-A52F-1BE883BD852A}"/>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 offline workflow and contribution boundaries</a:t>
            </a:r>
          </a:p>
        </p:txBody>
      </p:sp>
      <p:sp>
        <p:nvSpPr>
          <p:cNvPr id="5" name="">
            <a:extLst xmlns:a="http://schemas.openxmlformats.org/drawingml/2006/main">
              <a:ext uri="{FF2B5EF4-FFF2-40B4-BE49-F238E27FC236}">
                <a16:creationId xmlns:a16="http://schemas.microsoft.com/office/drawing/2014/main" id="{0250D1C1-5FC6-4FF4-988D-667F6D7539BE}"/>
              </a:ext>
            </a:extLst>
          </p:cNvPr>
          <p:cNvSpPr>
            <a:spLocks xmlns:a="http://schemas.openxmlformats.org/drawingml/2006/main" noGrp="1"/>
          </p:cNvSpPr>
          <p:nvPr/>
        </p:nvSpPr>
        <p:spPr>
          <a:xfrm xmlns:a="http://schemas.openxmlformats.org/drawingml/2006/main">
            <a:off x="609600" y="2562225"/>
            <a:ext cx="337820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6" name="">
            <a:extLst xmlns:a="http://schemas.openxmlformats.org/drawingml/2006/main">
              <a:ext uri="{FF2B5EF4-FFF2-40B4-BE49-F238E27FC236}">
                <a16:creationId xmlns:a16="http://schemas.microsoft.com/office/drawing/2014/main" id="{8185C5AA-7BF8-4DA4-A826-FA0D5035B92B}"/>
              </a:ext>
            </a:extLst>
          </p:cNvPr>
          <p:cNvSpPr>
            <a:spLocks xmlns:a="http://schemas.openxmlformats.org/drawingml/2006/main" noGrp="1"/>
          </p:cNvSpPr>
          <p:nvPr/>
        </p:nvSpPr>
        <p:spPr>
          <a:xfrm xmlns:a="http://schemas.openxmlformats.org/drawingml/2006/main">
            <a:off x="762000" y="2752725"/>
            <a:ext cx="3073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1. Discover</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Memory only</a:t>
            </a:r>
          </a:p>
        </p:txBody>
      </p:sp>
      <p:sp>
        <p:nvSpPr>
          <p:cNvPr id="7" name="">
            <a:extLst xmlns:a="http://schemas.openxmlformats.org/drawingml/2006/main">
              <a:ext uri="{FF2B5EF4-FFF2-40B4-BE49-F238E27FC236}">
                <a16:creationId xmlns:a16="http://schemas.microsoft.com/office/drawing/2014/main" id="{16F33F66-AEDD-4D74-B747-C4FB695D300D}"/>
              </a:ext>
            </a:extLst>
          </p:cNvPr>
          <p:cNvSpPr>
            <a:spLocks xmlns:a="http://schemas.openxmlformats.org/drawingml/2006/main" noGrp="1"/>
          </p:cNvSpPr>
          <p:nvPr/>
        </p:nvSpPr>
        <p:spPr>
          <a:xfrm xmlns:a="http://schemas.openxmlformats.org/drawingml/2006/main">
            <a:off x="4406900" y="2562225"/>
            <a:ext cx="337820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8" name="">
            <a:extLst xmlns:a="http://schemas.openxmlformats.org/drawingml/2006/main">
              <a:ext uri="{FF2B5EF4-FFF2-40B4-BE49-F238E27FC236}">
                <a16:creationId xmlns:a16="http://schemas.microsoft.com/office/drawing/2014/main" id="{F8073982-A0C9-4434-8774-9DD4779B385C}"/>
              </a:ext>
            </a:extLst>
          </p:cNvPr>
          <p:cNvSpPr>
            <a:spLocks xmlns:a="http://schemas.openxmlformats.org/drawingml/2006/main" noGrp="1"/>
          </p:cNvSpPr>
          <p:nvPr/>
        </p:nvSpPr>
        <p:spPr>
          <a:xfrm xmlns:a="http://schemas.openxmlformats.org/drawingml/2006/main">
            <a:off x="4559300" y="2752725"/>
            <a:ext cx="3073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2. Assign</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Memory + PCAP</a:t>
            </a:r>
          </a:p>
        </p:txBody>
      </p:sp>
      <p:sp>
        <p:nvSpPr>
          <p:cNvPr id="9" name="">
            <a:extLst xmlns:a="http://schemas.openxmlformats.org/drawingml/2006/main">
              <a:ext uri="{FF2B5EF4-FFF2-40B4-BE49-F238E27FC236}">
                <a16:creationId xmlns:a16="http://schemas.microsoft.com/office/drawing/2014/main" id="{8A76EB1E-ED18-4CCF-BF75-3EDD357B73C6}"/>
              </a:ext>
            </a:extLst>
          </p:cNvPr>
          <p:cNvSpPr>
            <a:spLocks xmlns:a="http://schemas.openxmlformats.org/drawingml/2006/main" noGrp="1"/>
          </p:cNvSpPr>
          <p:nvPr/>
        </p:nvSpPr>
        <p:spPr>
          <a:xfrm xmlns:a="http://schemas.openxmlformats.org/drawingml/2006/main">
            <a:off x="4025900" y="3067050"/>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3633948-E96E-43CD-BBC0-10D26FD586AA}"/>
              </a:ext>
            </a:extLst>
          </p:cNvPr>
          <p:cNvSpPr>
            <a:spLocks xmlns:a="http://schemas.openxmlformats.org/drawingml/2006/main" noGrp="1"/>
          </p:cNvSpPr>
          <p:nvPr/>
        </p:nvSpPr>
        <p:spPr>
          <a:xfrm xmlns:a="http://schemas.openxmlformats.org/drawingml/2006/main">
            <a:off x="4187825" y="300037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0F8EDF6-26A6-47B0-AD4A-2737166001B3}"/>
              </a:ext>
            </a:extLst>
          </p:cNvPr>
          <p:cNvSpPr>
            <a:spLocks xmlns:a="http://schemas.openxmlformats.org/drawingml/2006/main" noGrp="1"/>
          </p:cNvSpPr>
          <p:nvPr/>
        </p:nvSpPr>
        <p:spPr>
          <a:xfrm xmlns:a="http://schemas.openxmlformats.org/drawingml/2006/main">
            <a:off x="8204200" y="2562225"/>
            <a:ext cx="337820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2" name="">
            <a:extLst xmlns:a="http://schemas.openxmlformats.org/drawingml/2006/main">
              <a:ext uri="{FF2B5EF4-FFF2-40B4-BE49-F238E27FC236}">
                <a16:creationId xmlns:a16="http://schemas.microsoft.com/office/drawing/2014/main" id="{0DF48625-62F0-4E1A-B361-8730478E1019}"/>
              </a:ext>
            </a:extLst>
          </p:cNvPr>
          <p:cNvSpPr>
            <a:spLocks xmlns:a="http://schemas.openxmlformats.org/drawingml/2006/main" noGrp="1"/>
          </p:cNvSpPr>
          <p:nvPr/>
        </p:nvSpPr>
        <p:spPr>
          <a:xfrm xmlns:a="http://schemas.openxmlformats.org/drawingml/2006/main">
            <a:off x="8356600" y="2752725"/>
            <a:ext cx="3073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3. Verify</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Sealed result + answer</a:t>
            </a:r>
          </a:p>
        </p:txBody>
      </p:sp>
      <p:sp>
        <p:nvSpPr>
          <p:cNvPr id="13" name="">
            <a:extLst xmlns:a="http://schemas.openxmlformats.org/drawingml/2006/main">
              <a:ext uri="{FF2B5EF4-FFF2-40B4-BE49-F238E27FC236}">
                <a16:creationId xmlns:a16="http://schemas.microsoft.com/office/drawing/2014/main" id="{66853191-352C-4D69-97B8-825B81B55059}"/>
              </a:ext>
            </a:extLst>
          </p:cNvPr>
          <p:cNvSpPr>
            <a:spLocks xmlns:a="http://schemas.openxmlformats.org/drawingml/2006/main" noGrp="1"/>
          </p:cNvSpPr>
          <p:nvPr/>
        </p:nvSpPr>
        <p:spPr>
          <a:xfrm xmlns:a="http://schemas.openxmlformats.org/drawingml/2006/main">
            <a:off x="7823200" y="3067050"/>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E0CF45D-DE0E-4B87-8C44-0266CE7991C0}"/>
              </a:ext>
            </a:extLst>
          </p:cNvPr>
          <p:cNvSpPr>
            <a:spLocks xmlns:a="http://schemas.openxmlformats.org/drawingml/2006/main" noGrp="1"/>
          </p:cNvSpPr>
          <p:nvPr/>
        </p:nvSpPr>
        <p:spPr>
          <a:xfrm xmlns:a="http://schemas.openxmlformats.org/drawingml/2006/main">
            <a:off x="7985125" y="300037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9E7A59E-EEB3-48BB-9C2C-E8C84A2B7781}"/>
              </a:ext>
            </a:extLst>
          </p:cNvPr>
          <p:cNvSpPr>
            <a:spLocks xmlns:a="http://schemas.openxmlformats.org/drawingml/2006/main" noGrp="1"/>
          </p:cNvSpPr>
          <p:nvPr/>
        </p:nvSpPr>
        <p:spPr>
          <a:xfrm xmlns:a="http://schemas.openxmlformats.org/drawingml/2006/main">
            <a:off x="723900" y="385762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2"/>
                </a:solidFill>
                <a:latin typeface="Arial"/>
                <a:ea typeface="Arial"/>
                <a:cs typeface="Arial"/>
              </a:defRPr>
            </a:pPr>
            <a:r>
              <a:rPr sz="2025" b="0">
                <a:solidFill>
                  <a:srgbClr val="536572"/>
                </a:solidFill>
                <a:latin typeface="Arial"/>
                <a:ea typeface="Arial"/>
                <a:cs typeface="Arial"/>
              </a:rPr>
              <a:t>Possible values</a:t>
            </a:r>
          </a:p>
        </p:txBody>
      </p:sp>
      <p:sp>
        <p:nvSpPr>
          <p:cNvPr id="16" name="">
            <a:extLst xmlns:a="http://schemas.openxmlformats.org/drawingml/2006/main">
              <a:ext uri="{FF2B5EF4-FFF2-40B4-BE49-F238E27FC236}">
                <a16:creationId xmlns:a16="http://schemas.microsoft.com/office/drawing/2014/main" id="{65EAF6D2-754F-4A39-BDCE-6833A0999FB2}"/>
              </a:ext>
            </a:extLst>
          </p:cNvPr>
          <p:cNvSpPr>
            <a:spLocks xmlns:a="http://schemas.openxmlformats.org/drawingml/2006/main" noGrp="1"/>
          </p:cNvSpPr>
          <p:nvPr/>
        </p:nvSpPr>
        <p:spPr>
          <a:xfrm xmlns:a="http://schemas.openxmlformats.org/drawingml/2006/main">
            <a:off x="4448175" y="385762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2"/>
                </a:solidFill>
                <a:latin typeface="Arial"/>
                <a:ea typeface="Arial"/>
                <a:cs typeface="Arial"/>
              </a:defRPr>
            </a:pPr>
            <a:r>
              <a:rPr sz="2025" b="0">
                <a:solidFill>
                  <a:srgbClr val="536572"/>
                </a:solidFill>
                <a:latin typeface="Arial"/>
                <a:ea typeface="Arial"/>
                <a:cs typeface="Arial"/>
              </a:rPr>
              <a:t>Unique authenticated role</a:t>
            </a:r>
          </a:p>
        </p:txBody>
      </p:sp>
      <p:sp>
        <p:nvSpPr>
          <p:cNvPr id="17" name="">
            <a:extLst xmlns:a="http://schemas.openxmlformats.org/drawingml/2006/main">
              <a:ext uri="{FF2B5EF4-FFF2-40B4-BE49-F238E27FC236}">
                <a16:creationId xmlns:a16="http://schemas.microsoft.com/office/drawing/2014/main" id="{78B9DBF8-4106-475F-ACFE-32F9EA64E079}"/>
              </a:ext>
            </a:extLst>
          </p:cNvPr>
          <p:cNvSpPr>
            <a:spLocks xmlns:a="http://schemas.openxmlformats.org/drawingml/2006/main" noGrp="1"/>
          </p:cNvSpPr>
          <p:nvPr/>
        </p:nvSpPr>
        <p:spPr>
          <a:xfrm xmlns:a="http://schemas.openxmlformats.org/drawingml/2006/main">
            <a:off x="8277225" y="385762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2"/>
                </a:solidFill>
                <a:latin typeface="Arial"/>
                <a:ea typeface="Arial"/>
                <a:cs typeface="Arial"/>
              </a:defRPr>
            </a:pPr>
            <a:r>
              <a:rPr sz="2025" b="0">
                <a:solidFill>
                  <a:srgbClr val="536572"/>
                </a:solidFill>
                <a:latin typeface="Arial"/>
                <a:ea typeface="Arial"/>
                <a:cs typeface="Arial"/>
              </a:rPr>
              <a:t>Exact match and controls</a:t>
            </a:r>
          </a:p>
        </p:txBody>
      </p:sp>
      <p:sp>
        <p:nvSpPr>
          <p:cNvPr id="18" name="">
            <a:extLst xmlns:a="http://schemas.openxmlformats.org/drawingml/2006/main">
              <a:ext uri="{FF2B5EF4-FFF2-40B4-BE49-F238E27FC236}">
                <a16:creationId xmlns:a16="http://schemas.microsoft.com/office/drawing/2014/main" id="{06285F82-8BE2-49C1-9876-974B7974A343}"/>
              </a:ext>
            </a:extLst>
          </p:cNvPr>
          <p:cNvSpPr>
            <a:spLocks xmlns:a="http://schemas.openxmlformats.org/drawingml/2006/main" noGrp="1"/>
          </p:cNvSpPr>
          <p:nvPr/>
        </p:nvSpPr>
        <p:spPr>
          <a:xfrm xmlns:a="http://schemas.openxmlformats.org/drawingml/2006/main">
            <a:off x="609600" y="533400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“The answer exists in memory” and “we recovered it independently” are different results.</a:t>
            </a:r>
          </a:p>
        </p:txBody>
      </p:sp>
    </p:spTree>
    <p:extLst>
      <p:ext uri="{BB962C8B-B14F-4D97-AF65-F5344CB8AC3E}">
        <p14:creationId xmlns:p14="http://schemas.microsoft.com/office/powerpoint/2010/main" val="883294150"/>
      </p:ext>
    </p:extLst>
  </p:cSld>
</p:sld>
</file>

<file path=ppt/slides/slide1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E13B6C-BE09-4AFC-B62D-1A55590DD42C}"/>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Early repeatability results</a:t>
            </a:r>
          </a:p>
        </p:txBody>
      </p:sp>
      <p:sp>
        <p:nvSpPr>
          <p:cNvPr id="2" name="">
            <a:extLst xmlns:a="http://schemas.openxmlformats.org/drawingml/2006/main">
              <a:ext uri="{FF2B5EF4-FFF2-40B4-BE49-F238E27FC236}">
                <a16:creationId xmlns:a16="http://schemas.microsoft.com/office/drawing/2014/main" id="{2234287B-CEA1-40B2-A2BD-01C9495B1B8B}"/>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55ADFD03-7FBD-4801-B572-A9AE5D7A40CA}"/>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86590EC7-EDE3-43FA-BA64-B9DCDF3AFBF5}"/>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Sources: TLS 1.2 and TLS 1.3 repeatability results</a:t>
            </a:r>
          </a:p>
        </p:txBody>
      </p:sp>
      <p:graphicFrame>
        <p:nvGraphicFramePr>
          <p:cNvPr id="11" name=""/>
          <p:cNvGraphicFramePr/>
          <p:nvPr/>
        </p:nvGraphicFramePr>
        <p:xfrm>
          <a:off xmlns:a="http://schemas.openxmlformats.org/drawingml/2006/main" x="609600" y="2114550"/>
          <a:ext xmlns:a="http://schemas.openxmlformats.org/drawingml/2006/main" cx="10972800" cy="2914650"/>
        </p:xfrm>
        <a:graphic xmlns:a="http://schemas.openxmlformats.org/drawingml/2006/main">
          <a:graphicData uri="http://schemas.openxmlformats.org/drawingml/2006/table">
            <a:tbl>
              <a:tblPr/>
              <a:tblGrid>
                <a:gridCol w="4191000"/>
                <a:gridCol w="2381250"/>
                <a:gridCol w="4400550"/>
              </a:tblGrid>
              <a:tr h="728663">
                <a:tc>
                  <a:txBody>
                    <a:bodyPr/>
                    <a:lstStyle/>
                    <a:p>
                      <a:r>
                        <a:rPr sz="1875" b="1">
                          <a:solidFill>
                            <a:srgbClr val="FFFFFF"/>
                          </a:solidFill>
                          <a:latin typeface="Arial"/>
                          <a:ea typeface="Arial"/>
                          <a:cs typeface="Arial"/>
                        </a:rPr>
                        <a:t>Experiment</a:t>
                      </a:r>
                    </a:p>
                  </a:txBody>
                  <a:tcPr marL="91440" marR="91440" marT="45720" marB="45720">
                    <a:solidFill>
                      <a:srgbClr val="142E3E"/>
                    </a:solidFill>
                  </a:tcPr>
                </a:tc>
                <a:tc>
                  <a:txBody>
                    <a:bodyPr/>
                    <a:lstStyle/>
                    <a:p>
                      <a:r>
                        <a:rPr sz="1875" b="1">
                          <a:solidFill>
                            <a:srgbClr val="FFFFFF"/>
                          </a:solidFill>
                          <a:latin typeface="Arial"/>
                          <a:ea typeface="Arial"/>
                          <a:cs typeface="Arial"/>
                        </a:rPr>
                        <a:t>Observed result</a:t>
                      </a:r>
                    </a:p>
                  </a:txBody>
                  <a:tcPr marL="91440" marR="91440" marT="45720" marB="45720">
                    <a:solidFill>
                      <a:srgbClr val="142E3E"/>
                    </a:solidFill>
                  </a:tcPr>
                </a:tc>
                <a:tc>
                  <a:txBody>
                    <a:bodyPr/>
                    <a:lstStyle/>
                    <a:p>
                      <a:r>
                        <a:rPr sz="1875" b="1">
                          <a:solidFill>
                            <a:srgbClr val="FFFFFF"/>
                          </a:solidFill>
                          <a:latin typeface="Arial"/>
                          <a:ea typeface="Arial"/>
                          <a:cs typeface="Arial"/>
                        </a:rPr>
                        <a:t>Meaning</a:t>
                      </a:r>
                    </a:p>
                  </a:txBody>
                  <a:tcPr marL="91440" marR="91440" marT="45720" marB="45720">
                    <a:solidFill>
                      <a:srgbClr val="142E3E"/>
                    </a:solidFill>
                  </a:tcPr>
                </a:tc>
              </a:tr>
              <a:tr h="728663">
                <a:tc>
                  <a:txBody>
                    <a:bodyPr/>
                    <a:lstStyle/>
                    <a:p>
                      <a:r>
                        <a:rPr sz="1875" b="0">
                          <a:solidFill>
                            <a:srgbClr val="142E3E"/>
                          </a:solidFill>
                          <a:latin typeface="Arial"/>
                          <a:ea typeface="Arial"/>
                          <a:cs typeface="Arial"/>
                        </a:rPr>
                        <a:t>TLS 1.2 initial run</a:t>
                      </a:r>
                    </a:p>
                  </a:txBody>
                  <a:tcPr marL="91440" marR="91440" marT="45720" marB="45720">
                    <a:solidFill>
                      <a:srgbClr val="FFFFFF"/>
                    </a:solidFill>
                  </a:tcPr>
                </a:tc>
                <a:tc>
                  <a:txBody>
                    <a:bodyPr/>
                    <a:lstStyle/>
                    <a:p>
                      <a:r>
                        <a:rPr sz="1875" b="0">
                          <a:solidFill>
                            <a:srgbClr val="142E3E"/>
                          </a:solidFill>
                          <a:latin typeface="Arial"/>
                          <a:ea typeface="Arial"/>
                          <a:cs typeface="Arial"/>
                        </a:rPr>
                        <a:t>19 / 20</a:t>
                      </a:r>
                    </a:p>
                  </a:txBody>
                  <a:tcPr marL="91440" marR="91440" marT="45720" marB="45720">
                    <a:solidFill>
                      <a:srgbClr val="FFFFFF"/>
                    </a:solidFill>
                  </a:tcPr>
                </a:tc>
                <a:tc>
                  <a:txBody>
                    <a:bodyPr/>
                    <a:lstStyle/>
                    <a:p>
                      <a:r>
                        <a:rPr sz="1875" b="0">
                          <a:solidFill>
                            <a:srgbClr val="142E3E"/>
                          </a:solidFill>
                          <a:latin typeface="Arial"/>
                          <a:ea typeface="Arial"/>
                          <a:cs typeface="Arial"/>
                        </a:rPr>
                        <a:t>One orchestration failure</a:t>
                      </a:r>
                    </a:p>
                  </a:txBody>
                  <a:tcPr marL="91440" marR="91440" marT="45720" marB="45720">
                    <a:solidFill>
                      <a:srgbClr val="FFFFFF"/>
                    </a:solidFill>
                  </a:tcPr>
                </a:tc>
              </a:tr>
              <a:tr h="728663">
                <a:tc>
                  <a:txBody>
                    <a:bodyPr/>
                    <a:lstStyle/>
                    <a:p>
                      <a:r>
                        <a:rPr sz="1875" b="0">
                          <a:solidFill>
                            <a:srgbClr val="142E3E"/>
                          </a:solidFill>
                          <a:latin typeface="Arial"/>
                          <a:ea typeface="Arial"/>
                          <a:cs typeface="Arial"/>
                        </a:rPr>
                        <a:t>TLS 1.2 after repair</a:t>
                      </a:r>
                    </a:p>
                  </a:txBody>
                  <a:tcPr marL="91440" marR="91440" marT="45720" marB="45720">
                    <a:solidFill>
                      <a:srgbClr val="E1EFEC"/>
                    </a:solidFill>
                  </a:tcPr>
                </a:tc>
                <a:tc>
                  <a:txBody>
                    <a:bodyPr/>
                    <a:lstStyle/>
                    <a:p>
                      <a:r>
                        <a:rPr sz="1875" b="0">
                          <a:solidFill>
                            <a:srgbClr val="142E3E"/>
                          </a:solidFill>
                          <a:latin typeface="Arial"/>
                          <a:ea typeface="Arial"/>
                          <a:cs typeface="Arial"/>
                        </a:rPr>
                        <a:t>20 / 20</a:t>
                      </a:r>
                    </a:p>
                  </a:txBody>
                  <a:tcPr marL="91440" marR="91440" marT="45720" marB="45720">
                    <a:solidFill>
                      <a:srgbClr val="E1EFEC"/>
                    </a:solidFill>
                  </a:tcPr>
                </a:tc>
                <a:tc>
                  <a:txBody>
                    <a:bodyPr/>
                    <a:lstStyle/>
                    <a:p>
                      <a:r>
                        <a:rPr sz="1875" b="0">
                          <a:solidFill>
                            <a:srgbClr val="142E3E"/>
                          </a:solidFill>
                          <a:latin typeface="Arial"/>
                          <a:ea typeface="Arial"/>
                          <a:cs typeface="Arial"/>
                        </a:rPr>
                        <a:t>Same failed core reanalyzed</a:t>
                      </a:r>
                    </a:p>
                  </a:txBody>
                  <a:tcPr marL="91440" marR="91440" marT="45720" marB="45720">
                    <a:solidFill>
                      <a:srgbClr val="E1EFEC"/>
                    </a:solidFill>
                  </a:tcPr>
                </a:tc>
              </a:tr>
              <a:tr h="728663">
                <a:tc>
                  <a:txBody>
                    <a:bodyPr/>
                    <a:lstStyle/>
                    <a:p>
                      <a:r>
                        <a:rPr sz="1875" b="0">
                          <a:solidFill>
                            <a:srgbClr val="142E3E"/>
                          </a:solidFill>
                          <a:latin typeface="Arial"/>
                          <a:ea typeface="Arial"/>
                          <a:cs typeface="Arial"/>
                        </a:rPr>
                        <a:t>TLS 1.3 first campaign</a:t>
                      </a:r>
                    </a:p>
                  </a:txBody>
                  <a:tcPr marL="91440" marR="91440" marT="45720" marB="45720">
                    <a:solidFill>
                      <a:srgbClr val="FFFFFF"/>
                    </a:solidFill>
                  </a:tcPr>
                </a:tc>
                <a:tc>
                  <a:txBody>
                    <a:bodyPr/>
                    <a:lstStyle/>
                    <a:p>
                      <a:r>
                        <a:rPr sz="1875" b="0">
                          <a:solidFill>
                            <a:srgbClr val="142E3E"/>
                          </a:solidFill>
                          <a:latin typeface="Arial"/>
                          <a:ea typeface="Arial"/>
                          <a:cs typeface="Arial"/>
                        </a:rPr>
                        <a:t>20 / 20</a:t>
                      </a:r>
                    </a:p>
                  </a:txBody>
                  <a:tcPr marL="91440" marR="91440" marT="45720" marB="45720">
                    <a:solidFill>
                      <a:srgbClr val="FFFFFF"/>
                    </a:solidFill>
                  </a:tcPr>
                </a:tc>
                <a:tc>
                  <a:txBody>
                    <a:bodyPr/>
                    <a:lstStyle/>
                    <a:p>
                      <a:r>
                        <a:rPr sz="1875" b="0">
                          <a:solidFill>
                            <a:srgbClr val="142E3E"/>
                          </a:solidFill>
                          <a:latin typeface="Arial"/>
                          <a:ea typeface="Arial"/>
                          <a:cs typeface="Arial"/>
                        </a:rPr>
                        <a:t>Both traffic directions recovered</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471722C-E375-4873-9198-1D0729B06AF7}"/>
              </a:ext>
            </a:extLst>
          </p:cNvPr>
          <p:cNvSpPr>
            <a:spLocks xmlns:a="http://schemas.openxmlformats.org/drawingml/2006/main" noGrp="1"/>
          </p:cNvSpPr>
          <p:nvPr/>
        </p:nvSpPr>
        <p:spPr>
          <a:xfrm xmlns:a="http://schemas.openxmlformats.org/drawingml/2006/main">
            <a:off x="609600" y="552450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Memory-only ranking remained ambiguous. Saved traffic resolved the candidates.</a:t>
            </a:r>
          </a:p>
        </p:txBody>
      </p:sp>
    </p:spTree>
    <p:extLst>
      <p:ext uri="{BB962C8B-B14F-4D97-AF65-F5344CB8AC3E}">
        <p14:creationId xmlns:p14="http://schemas.microsoft.com/office/powerpoint/2010/main" val="2147234028"/>
      </p:ext>
    </p:extLst>
  </p:cSld>
</p:sld>
</file>

<file path=ppt/slides/slide1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946C62-B03B-4404-A8B4-0664CE3CE50E}"/>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The papers changed our research question</a:t>
            </a:r>
          </a:p>
        </p:txBody>
      </p:sp>
      <p:sp>
        <p:nvSpPr>
          <p:cNvPr id="2" name="">
            <a:extLst xmlns:a="http://schemas.openxmlformats.org/drawingml/2006/main">
              <a:ext uri="{FF2B5EF4-FFF2-40B4-BE49-F238E27FC236}">
                <a16:creationId xmlns:a16="http://schemas.microsoft.com/office/drawing/2014/main" id="{0BACF8E0-CEB0-4C98-B7E3-3254D54E7C46}"/>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1C80C75E-C36E-4428-A46D-2CDE135B6991}"/>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7D1C73A7-3BC2-40D1-9F95-704439FF0A1C}"/>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Sources: the four attached papers; prior-work matrix</a:t>
            </a:r>
          </a:p>
        </p:txBody>
      </p:sp>
      <p:graphicFrame>
        <p:nvGraphicFramePr>
          <p:cNvPr id="11" name=""/>
          <p:cNvGraphicFramePr/>
          <p:nvPr/>
        </p:nvGraphicFramePr>
        <p:xfrm>
          <a:off xmlns:a="http://schemas.openxmlformats.org/drawingml/2006/main" x="609600" y="1971675"/>
          <a:ext xmlns:a="http://schemas.openxmlformats.org/drawingml/2006/main" cx="10972800" cy="3457575"/>
        </p:xfrm>
        <a:graphic xmlns:a="http://schemas.openxmlformats.org/drawingml/2006/main">
          <a:graphicData uri="http://schemas.openxmlformats.org/drawingml/2006/table">
            <a:tbl>
              <a:tblPr/>
              <a:tblGrid>
                <a:gridCol w="3876675"/>
                <a:gridCol w="7096125"/>
              </a:tblGrid>
              <a:tr h="691515">
                <a:tc>
                  <a:txBody>
                    <a:bodyPr/>
                    <a:lstStyle/>
                    <a:p>
                      <a:r>
                        <a:rPr sz="1800" b="1">
                          <a:solidFill>
                            <a:srgbClr val="FFFFFF"/>
                          </a:solidFill>
                          <a:latin typeface="Arial"/>
                          <a:ea typeface="Arial"/>
                          <a:cs typeface="Arial"/>
                        </a:rPr>
                        <a:t>Paper</a:t>
                      </a:r>
                    </a:p>
                  </a:txBody>
                  <a:tcPr marL="91440" marR="91440" marT="45720" marB="45720">
                    <a:solidFill>
                      <a:srgbClr val="142E3E"/>
                    </a:solidFill>
                  </a:tcPr>
                </a:tc>
                <a:tc>
                  <a:txBody>
                    <a:bodyPr/>
                    <a:lstStyle/>
                    <a:p>
                      <a:r>
                        <a:rPr sz="1800" b="1">
                          <a:solidFill>
                            <a:srgbClr val="FFFFFF"/>
                          </a:solidFill>
                          <a:latin typeface="Arial"/>
                          <a:ea typeface="Arial"/>
                          <a:cs typeface="Arial"/>
                        </a:rPr>
                        <a:t>What it already established</a:t>
                      </a:r>
                    </a:p>
                  </a:txBody>
                  <a:tcPr marL="91440" marR="91440" marT="45720" marB="45720">
                    <a:solidFill>
                      <a:srgbClr val="142E3E"/>
                    </a:solidFill>
                  </a:tcPr>
                </a:tc>
              </a:tr>
              <a:tr h="691515">
                <a:tc>
                  <a:txBody>
                    <a:bodyPr/>
                    <a:lstStyle/>
                    <a:p>
                      <a:r>
                        <a:rPr sz="1800" b="0">
                          <a:solidFill>
                            <a:srgbClr val="142E3E"/>
                          </a:solidFill>
                          <a:latin typeface="Arial"/>
                          <a:ea typeface="Arial"/>
                          <a:cs typeface="Arial"/>
                        </a:rPr>
                        <a:t>TLS memory survey (2024)</a:t>
                      </a:r>
                    </a:p>
                  </a:txBody>
                  <a:tcPr marL="91440" marR="91440" marT="45720" marB="45720">
                    <a:solidFill>
                      <a:srgbClr val="FFFFFF"/>
                    </a:solidFill>
                  </a:tcPr>
                </a:tc>
                <a:tc>
                  <a:txBody>
                    <a:bodyPr/>
                    <a:lstStyle/>
                    <a:p>
                      <a:r>
                        <a:rPr sz="1800" b="0">
                          <a:solidFill>
                            <a:srgbClr val="142E3E"/>
                          </a:solidFill>
                          <a:latin typeface="Arial"/>
                          <a:ea typeface="Arial"/>
                          <a:cs typeface="Arial"/>
                        </a:rPr>
                        <a:t>A map of extraction methods and open challenges</a:t>
                      </a:r>
                    </a:p>
                  </a:txBody>
                  <a:tcPr marL="91440" marR="91440" marT="45720" marB="45720">
                    <a:solidFill>
                      <a:srgbClr val="FFFFFF"/>
                    </a:solidFill>
                  </a:tcPr>
                </a:tc>
              </a:tr>
              <a:tr h="691515">
                <a:tc>
                  <a:txBody>
                    <a:bodyPr/>
                    <a:lstStyle/>
                    <a:p>
                      <a:r>
                        <a:rPr sz="1800" b="0">
                          <a:solidFill>
                            <a:srgbClr val="142E3E"/>
                          </a:solidFill>
                          <a:latin typeface="Arial"/>
                          <a:ea typeface="Arial"/>
                          <a:cs typeface="Arial"/>
                        </a:rPr>
                        <a:t>X-Ray-TLS (2024)</a:t>
                      </a:r>
                    </a:p>
                  </a:txBody>
                  <a:tcPr marL="91440" marR="91440" marT="45720" marB="45720">
                    <a:solidFill>
                      <a:srgbClr val="E1EFEC"/>
                    </a:solidFill>
                  </a:tcPr>
                </a:tc>
                <a:tc>
                  <a:txBody>
                    <a:bodyPr/>
                    <a:lstStyle/>
                    <a:p>
                      <a:r>
                        <a:rPr sz="1800" b="0">
                          <a:solidFill>
                            <a:srgbClr val="142E3E"/>
                          </a:solidFill>
                          <a:latin typeface="Arial"/>
                          <a:ea typeface="Arial"/>
                          <a:cs typeface="Arial"/>
                        </a:rPr>
                        <a:t>Recovery using live events and memory changes</a:t>
                      </a:r>
                    </a:p>
                  </a:txBody>
                  <a:tcPr marL="91440" marR="91440" marT="45720" marB="45720">
                    <a:solidFill>
                      <a:srgbClr val="E1EFEC"/>
                    </a:solidFill>
                  </a:tcPr>
                </a:tc>
              </a:tr>
              <a:tr h="691515">
                <a:tc>
                  <a:txBody>
                    <a:bodyPr/>
                    <a:lstStyle/>
                    <a:p>
                      <a:r>
                        <a:rPr sz="1800" b="0">
                          <a:solidFill>
                            <a:srgbClr val="142E3E"/>
                          </a:solidFill>
                          <a:latin typeface="Arial"/>
                          <a:ea typeface="Arial"/>
                          <a:cs typeface="Arial"/>
                        </a:rPr>
                        <a:t>TLSKeyHunter (2025)</a:t>
                      </a:r>
                    </a:p>
                  </a:txBody>
                  <a:tcPr marL="91440" marR="91440" marT="45720" marB="45720">
                    <a:solidFill>
                      <a:srgbClr val="FFFFFF"/>
                    </a:solidFill>
                  </a:tcPr>
                </a:tc>
                <a:tc>
                  <a:txBody>
                    <a:bodyPr/>
                    <a:lstStyle/>
                    <a:p>
                      <a:r>
                        <a:rPr sz="1800" b="0">
                          <a:solidFill>
                            <a:srgbClr val="142E3E"/>
                          </a:solidFill>
                          <a:latin typeface="Arial"/>
                          <a:ea typeface="Arial"/>
                          <a:cs typeface="Arial"/>
                        </a:rPr>
                        <a:t>Locate derivation functions and hook them at runtime</a:t>
                      </a:r>
                    </a:p>
                  </a:txBody>
                  <a:tcPr marL="91440" marR="91440" marT="45720" marB="45720">
                    <a:solidFill>
                      <a:srgbClr val="FFFFFF"/>
                    </a:solidFill>
                  </a:tcPr>
                </a:tc>
              </a:tr>
              <a:tr h="691515">
                <a:tc>
                  <a:txBody>
                    <a:bodyPr/>
                    <a:lstStyle/>
                    <a:p>
                      <a:r>
                        <a:rPr sz="1800" b="0">
                          <a:solidFill>
                            <a:srgbClr val="142E3E"/>
                          </a:solidFill>
                          <a:latin typeface="Arial"/>
                          <a:ea typeface="Arial"/>
                          <a:cs typeface="Arial"/>
                        </a:rPr>
                        <a:t>Keys in Flux (2026)</a:t>
                      </a:r>
                    </a:p>
                  </a:txBody>
                  <a:tcPr marL="91440" marR="91440" marT="45720" marB="45720">
                    <a:solidFill>
                      <a:srgbClr val="E1EFEC"/>
                    </a:solidFill>
                  </a:tcPr>
                </a:tc>
                <a:tc>
                  <a:txBody>
                    <a:bodyPr/>
                    <a:lstStyle/>
                    <a:p>
                      <a:r>
                        <a:rPr sz="1800" b="0">
                          <a:solidFill>
                            <a:srgbClr val="142E3E"/>
                          </a:solidFill>
                          <a:latin typeface="Arial"/>
                          <a:ea typeface="Arial"/>
                          <a:cs typeface="Arial"/>
                        </a:rPr>
                        <a:t>Secret lifetimes vary with implementation and state</a:t>
                      </a:r>
                    </a:p>
                  </a:txBody>
                  <a:tcPr marL="91440" marR="91440" marT="45720" marB="45720">
                    <a:solidFill>
                      <a:srgbClr val="E1EFEC"/>
                    </a:solidFill>
                  </a:tcPr>
                </a:tc>
              </a:tr>
            </a:tbl>
          </a:graphicData>
        </a:graphic>
      </p:graphicFrame>
      <p:sp>
        <p:nvSpPr>
          <p:cNvPr id="6" name="">
            <a:extLst xmlns:a="http://schemas.openxmlformats.org/drawingml/2006/main">
              <a:ext uri="{FF2B5EF4-FFF2-40B4-BE49-F238E27FC236}">
                <a16:creationId xmlns:a16="http://schemas.microsoft.com/office/drawing/2014/main" id="{EF61727E-D16A-4262-86D1-3624407C31B6}"/>
              </a:ext>
            </a:extLst>
          </p:cNvPr>
          <p:cNvSpPr>
            <a:spLocks xmlns:a="http://schemas.openxmlformats.org/drawingml/2006/main" noGrp="1"/>
          </p:cNvSpPr>
          <p:nvPr/>
        </p:nvSpPr>
        <p:spPr>
          <a:xfrm xmlns:a="http://schemas.openxmlformats.org/drawingml/2006/main">
            <a:off x="609600" y="563880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We narrowed the question instead of claiming that memory recovery itself was new.</a:t>
            </a:r>
          </a:p>
        </p:txBody>
      </p:sp>
    </p:spTree>
    <p:extLst>
      <p:ext uri="{BB962C8B-B14F-4D97-AF65-F5344CB8AC3E}">
        <p14:creationId xmlns:p14="http://schemas.microsoft.com/office/powerpoint/2010/main" val="850670835"/>
      </p:ext>
    </p:extLst>
  </p:cSld>
</p:sld>
</file>

<file path=ppt/slides/slide1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A777037-7953-4954-B8F1-E9A2468A467B}"/>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Original TLSKeyHunter workflow</a:t>
            </a:r>
          </a:p>
        </p:txBody>
      </p:sp>
      <p:sp>
        <p:nvSpPr>
          <p:cNvPr id="2" name="">
            <a:extLst xmlns:a="http://schemas.openxmlformats.org/drawingml/2006/main">
              <a:ext uri="{FF2B5EF4-FFF2-40B4-BE49-F238E27FC236}">
                <a16:creationId xmlns:a16="http://schemas.microsoft.com/office/drawing/2014/main" id="{C4AA29B4-BB71-47F8-8055-AE2F696CAF60}"/>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37B4A625-21B2-41E2-9C89-0654D5E226E6}"/>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A9563030-FBCC-4A33-99B2-AAEFD814F913}"/>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Baier &amp; Lambertz (2025), method and implementation sections</a:t>
            </a:r>
          </a:p>
        </p:txBody>
      </p:sp>
      <p:sp>
        <p:nvSpPr>
          <p:cNvPr id="5" name="">
            <a:extLst xmlns:a="http://schemas.openxmlformats.org/drawingml/2006/main">
              <a:ext uri="{FF2B5EF4-FFF2-40B4-BE49-F238E27FC236}">
                <a16:creationId xmlns:a16="http://schemas.microsoft.com/office/drawing/2014/main" id="{0A6E17E7-228B-4F9B-859C-DF84B5AEE759}"/>
              </a:ext>
            </a:extLst>
          </p:cNvPr>
          <p:cNvSpPr>
            <a:spLocks xmlns:a="http://schemas.openxmlformats.org/drawingml/2006/main" noGrp="1"/>
          </p:cNvSpPr>
          <p:nvPr/>
        </p:nvSpPr>
        <p:spPr>
          <a:xfrm xmlns:a="http://schemas.openxmlformats.org/drawingml/2006/main">
            <a:off x="609600" y="1828800"/>
            <a:ext cx="10382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536572"/>
                </a:solidFill>
                <a:latin typeface="Arial"/>
                <a:ea typeface="Arial"/>
                <a:cs typeface="Arial"/>
              </a:defRPr>
            </a:pPr>
            <a:r>
              <a:rPr sz="1650" b="1">
                <a:solidFill>
                  <a:srgbClr val="536572"/>
                </a:solidFill>
                <a:latin typeface="Arial"/>
                <a:ea typeface="Arial"/>
                <a:cs typeface="Arial"/>
              </a:rPr>
              <a:t>STATIC PREPARATION</a:t>
            </a:r>
          </a:p>
        </p:txBody>
      </p:sp>
      <p:sp>
        <p:nvSpPr>
          <p:cNvPr id="6" name="">
            <a:extLst xmlns:a="http://schemas.openxmlformats.org/drawingml/2006/main">
              <a:ext uri="{FF2B5EF4-FFF2-40B4-BE49-F238E27FC236}">
                <a16:creationId xmlns:a16="http://schemas.microsoft.com/office/drawing/2014/main" id="{2BEF69C1-FEDC-4A8E-81AB-A49F21C6C174}"/>
              </a:ext>
            </a:extLst>
          </p:cNvPr>
          <p:cNvSpPr>
            <a:spLocks xmlns:a="http://schemas.openxmlformats.org/drawingml/2006/main" noGrp="1"/>
          </p:cNvSpPr>
          <p:nvPr/>
        </p:nvSpPr>
        <p:spPr>
          <a:xfrm xmlns:a="http://schemas.openxmlformats.org/drawingml/2006/main">
            <a:off x="609600" y="2324100"/>
            <a:ext cx="337820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7" name="">
            <a:extLst xmlns:a="http://schemas.openxmlformats.org/drawingml/2006/main">
              <a:ext uri="{FF2B5EF4-FFF2-40B4-BE49-F238E27FC236}">
                <a16:creationId xmlns:a16="http://schemas.microsoft.com/office/drawing/2014/main" id="{7AF52C3C-E350-4E02-9F82-881C6880CC07}"/>
              </a:ext>
            </a:extLst>
          </p:cNvPr>
          <p:cNvSpPr>
            <a:spLocks xmlns:a="http://schemas.openxmlformats.org/drawingml/2006/main" noGrp="1"/>
          </p:cNvSpPr>
          <p:nvPr/>
        </p:nvSpPr>
        <p:spPr>
          <a:xfrm xmlns:a="http://schemas.openxmlformats.org/drawingml/2006/main">
            <a:off x="762000" y="2514600"/>
            <a:ext cx="3073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TLS library</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binary</a:t>
            </a:r>
          </a:p>
        </p:txBody>
      </p:sp>
      <p:sp>
        <p:nvSpPr>
          <p:cNvPr id="8" name="">
            <a:extLst xmlns:a="http://schemas.openxmlformats.org/drawingml/2006/main">
              <a:ext uri="{FF2B5EF4-FFF2-40B4-BE49-F238E27FC236}">
                <a16:creationId xmlns:a16="http://schemas.microsoft.com/office/drawing/2014/main" id="{BEA0A3F2-4C81-4160-988C-A84A31298617}"/>
              </a:ext>
            </a:extLst>
          </p:cNvPr>
          <p:cNvSpPr>
            <a:spLocks xmlns:a="http://schemas.openxmlformats.org/drawingml/2006/main" noGrp="1"/>
          </p:cNvSpPr>
          <p:nvPr/>
        </p:nvSpPr>
        <p:spPr>
          <a:xfrm xmlns:a="http://schemas.openxmlformats.org/drawingml/2006/main">
            <a:off x="4406900" y="2324100"/>
            <a:ext cx="337820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9" name="">
            <a:extLst xmlns:a="http://schemas.openxmlformats.org/drawingml/2006/main">
              <a:ext uri="{FF2B5EF4-FFF2-40B4-BE49-F238E27FC236}">
                <a16:creationId xmlns:a16="http://schemas.microsoft.com/office/drawing/2014/main" id="{1E36AF42-F192-4D02-86F7-DF3CF9C872CE}"/>
              </a:ext>
            </a:extLst>
          </p:cNvPr>
          <p:cNvSpPr>
            <a:spLocks xmlns:a="http://schemas.openxmlformats.org/drawingml/2006/main" noGrp="1"/>
          </p:cNvSpPr>
          <p:nvPr/>
        </p:nvSpPr>
        <p:spPr>
          <a:xfrm xmlns:a="http://schemas.openxmlformats.org/drawingml/2006/main">
            <a:off x="4559300" y="2514600"/>
            <a:ext cx="3073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Ghidra finds</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PRF / HKDF</a:t>
            </a:r>
          </a:p>
        </p:txBody>
      </p:sp>
      <p:sp>
        <p:nvSpPr>
          <p:cNvPr id="10" name="">
            <a:extLst xmlns:a="http://schemas.openxmlformats.org/drawingml/2006/main">
              <a:ext uri="{FF2B5EF4-FFF2-40B4-BE49-F238E27FC236}">
                <a16:creationId xmlns:a16="http://schemas.microsoft.com/office/drawing/2014/main" id="{CD38BC3B-8AD5-4ADB-9B36-E93CA762D340}"/>
              </a:ext>
            </a:extLst>
          </p:cNvPr>
          <p:cNvSpPr>
            <a:spLocks xmlns:a="http://schemas.openxmlformats.org/drawingml/2006/main" noGrp="1"/>
          </p:cNvSpPr>
          <p:nvPr/>
        </p:nvSpPr>
        <p:spPr>
          <a:xfrm xmlns:a="http://schemas.openxmlformats.org/drawingml/2006/main">
            <a:off x="4025900" y="2828925"/>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5DA8F9C-A044-4F56-80DB-9B653DECF512}"/>
              </a:ext>
            </a:extLst>
          </p:cNvPr>
          <p:cNvSpPr>
            <a:spLocks xmlns:a="http://schemas.openxmlformats.org/drawingml/2006/main" noGrp="1"/>
          </p:cNvSpPr>
          <p:nvPr/>
        </p:nvSpPr>
        <p:spPr>
          <a:xfrm xmlns:a="http://schemas.openxmlformats.org/drawingml/2006/main">
            <a:off x="4187825" y="276225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4077E24-9610-4189-B487-7FD32DE0D995}"/>
              </a:ext>
            </a:extLst>
          </p:cNvPr>
          <p:cNvSpPr>
            <a:spLocks xmlns:a="http://schemas.openxmlformats.org/drawingml/2006/main" noGrp="1"/>
          </p:cNvSpPr>
          <p:nvPr/>
        </p:nvSpPr>
        <p:spPr>
          <a:xfrm xmlns:a="http://schemas.openxmlformats.org/drawingml/2006/main">
            <a:off x="8204200" y="2324100"/>
            <a:ext cx="337820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3" name="">
            <a:extLst xmlns:a="http://schemas.openxmlformats.org/drawingml/2006/main">
              <a:ext uri="{FF2B5EF4-FFF2-40B4-BE49-F238E27FC236}">
                <a16:creationId xmlns:a16="http://schemas.microsoft.com/office/drawing/2014/main" id="{745019C2-99D4-4E2A-A148-3E127BCE25EF}"/>
              </a:ext>
            </a:extLst>
          </p:cNvPr>
          <p:cNvSpPr>
            <a:spLocks xmlns:a="http://schemas.openxmlformats.org/drawingml/2006/main" noGrp="1"/>
          </p:cNvSpPr>
          <p:nvPr/>
        </p:nvSpPr>
        <p:spPr>
          <a:xfrm xmlns:a="http://schemas.openxmlformats.org/drawingml/2006/main">
            <a:off x="8356600" y="2514600"/>
            <a:ext cx="3073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Derivation</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fingerprint</a:t>
            </a:r>
          </a:p>
        </p:txBody>
      </p:sp>
      <p:sp>
        <p:nvSpPr>
          <p:cNvPr id="14" name="">
            <a:extLst xmlns:a="http://schemas.openxmlformats.org/drawingml/2006/main">
              <a:ext uri="{FF2B5EF4-FFF2-40B4-BE49-F238E27FC236}">
                <a16:creationId xmlns:a16="http://schemas.microsoft.com/office/drawing/2014/main" id="{9CED5D98-FF87-4903-82C6-421764670243}"/>
              </a:ext>
            </a:extLst>
          </p:cNvPr>
          <p:cNvSpPr>
            <a:spLocks xmlns:a="http://schemas.openxmlformats.org/drawingml/2006/main" noGrp="1"/>
          </p:cNvSpPr>
          <p:nvPr/>
        </p:nvSpPr>
        <p:spPr>
          <a:xfrm xmlns:a="http://schemas.openxmlformats.org/drawingml/2006/main">
            <a:off x="7823200" y="2828925"/>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6813120-A3A4-46E0-9C36-64AF7D07CE70}"/>
              </a:ext>
            </a:extLst>
          </p:cNvPr>
          <p:cNvSpPr>
            <a:spLocks xmlns:a="http://schemas.openxmlformats.org/drawingml/2006/main" noGrp="1"/>
          </p:cNvSpPr>
          <p:nvPr/>
        </p:nvSpPr>
        <p:spPr>
          <a:xfrm xmlns:a="http://schemas.openxmlformats.org/drawingml/2006/main">
            <a:off x="7985125" y="276225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639A214-F9A5-4890-8661-4746170EE82E}"/>
              </a:ext>
            </a:extLst>
          </p:cNvPr>
          <p:cNvSpPr>
            <a:spLocks xmlns:a="http://schemas.openxmlformats.org/drawingml/2006/main" noGrp="1"/>
          </p:cNvSpPr>
          <p:nvPr/>
        </p:nvSpPr>
        <p:spPr>
          <a:xfrm xmlns:a="http://schemas.openxmlformats.org/drawingml/2006/main">
            <a:off x="9858375" y="3390900"/>
            <a:ext cx="38100" cy="74295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1183A49-D87F-4BBF-A220-222792F75557}"/>
              </a:ext>
            </a:extLst>
          </p:cNvPr>
          <p:cNvSpPr>
            <a:spLocks xmlns:a="http://schemas.openxmlformats.org/drawingml/2006/main" noGrp="1"/>
          </p:cNvSpPr>
          <p:nvPr/>
        </p:nvSpPr>
        <p:spPr>
          <a:xfrm xmlns:a="http://schemas.openxmlformats.org/drawingml/2006/main">
            <a:off x="9791700" y="3962400"/>
            <a:ext cx="171450" cy="190500"/>
          </a:xfrm>
          <a:prstGeom xmlns:a="http://schemas.openxmlformats.org/drawingml/2006/main" prst="downArrow">
            <a:avLst/>
          </a:prstGeom>
          <a:solidFill xmlns:a="http://schemas.openxmlformats.org/drawingml/2006/main">
            <a:srgbClr val="007F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A8DEA8F-9FFC-484A-A992-B064BC33DC04}"/>
              </a:ext>
            </a:extLst>
          </p:cNvPr>
          <p:cNvSpPr>
            <a:spLocks xmlns:a="http://schemas.openxmlformats.org/drawingml/2006/main" noGrp="1"/>
          </p:cNvSpPr>
          <p:nvPr/>
        </p:nvSpPr>
        <p:spPr>
          <a:xfrm xmlns:a="http://schemas.openxmlformats.org/drawingml/2006/main">
            <a:off x="609600" y="3676650"/>
            <a:ext cx="9048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536572"/>
                </a:solidFill>
                <a:latin typeface="Arial"/>
                <a:ea typeface="Arial"/>
                <a:cs typeface="Arial"/>
              </a:defRPr>
            </a:pPr>
            <a:r>
              <a:rPr sz="1650" b="1">
                <a:solidFill>
                  <a:srgbClr val="536572"/>
                </a:solidFill>
                <a:latin typeface="Arial"/>
                <a:ea typeface="Arial"/>
                <a:cs typeface="Arial"/>
              </a:rPr>
              <a:t>LIVE EXTRACTION</a:t>
            </a:r>
          </a:p>
        </p:txBody>
      </p:sp>
      <p:sp>
        <p:nvSpPr>
          <p:cNvPr id="19" name="">
            <a:extLst xmlns:a="http://schemas.openxmlformats.org/drawingml/2006/main">
              <a:ext uri="{FF2B5EF4-FFF2-40B4-BE49-F238E27FC236}">
                <a16:creationId xmlns:a16="http://schemas.microsoft.com/office/drawing/2014/main" id="{24E9DB61-2165-48BB-8890-FDC9FF0E8C32}"/>
              </a:ext>
            </a:extLst>
          </p:cNvPr>
          <p:cNvSpPr>
            <a:spLocks xmlns:a="http://schemas.openxmlformats.org/drawingml/2006/main" noGrp="1"/>
          </p:cNvSpPr>
          <p:nvPr/>
        </p:nvSpPr>
        <p:spPr>
          <a:xfrm xmlns:a="http://schemas.openxmlformats.org/drawingml/2006/main">
            <a:off x="609600" y="4191000"/>
            <a:ext cx="3333750" cy="9715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0" name="">
            <a:extLst xmlns:a="http://schemas.openxmlformats.org/drawingml/2006/main">
              <a:ext uri="{FF2B5EF4-FFF2-40B4-BE49-F238E27FC236}">
                <a16:creationId xmlns:a16="http://schemas.microsoft.com/office/drawing/2014/main" id="{289BFD27-DE00-44FF-9146-08C459F8A18C}"/>
              </a:ext>
            </a:extLst>
          </p:cNvPr>
          <p:cNvSpPr>
            <a:spLocks xmlns:a="http://schemas.openxmlformats.org/drawingml/2006/main" noGrp="1"/>
          </p:cNvSpPr>
          <p:nvPr/>
        </p:nvSpPr>
        <p:spPr>
          <a:xfrm xmlns:a="http://schemas.openxmlformats.org/drawingml/2006/main">
            <a:off x="723900" y="4305300"/>
            <a:ext cx="3105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7F79"/>
                </a:solidFill>
                <a:latin typeface="Arial"/>
                <a:ea typeface="Arial"/>
                <a:cs typeface="Arial"/>
              </a:defRPr>
            </a:pPr>
            <a:r>
              <a:rPr sz="1950" b="1">
                <a:solidFill>
                  <a:srgbClr val="007F79"/>
                </a:solidFill>
                <a:latin typeface="Arial"/>
                <a:ea typeface="Arial"/>
                <a:cs typeface="Arial"/>
              </a:rPr>
              <a:t>Captured secrets</a:t>
            </a:r>
          </a:p>
          <a:p xmlns:a="http://schemas.openxmlformats.org/drawingml/2006/main">
            <a:pPr>
              <a:defRPr sz="1950" b="1">
                <a:solidFill>
                  <a:srgbClr val="007F79"/>
                </a:solidFill>
                <a:latin typeface="Arial"/>
                <a:ea typeface="Arial"/>
                <a:cs typeface="Arial"/>
              </a:defRPr>
            </a:pPr>
            <a:r>
              <a:rPr sz="1950" b="1">
                <a:solidFill>
                  <a:srgbClr val="007F79"/>
                </a:solidFill>
                <a:latin typeface="Arial"/>
                <a:ea typeface="Arial"/>
                <a:cs typeface="Arial"/>
              </a:rPr>
              <a:t>+ session association</a:t>
            </a:r>
          </a:p>
        </p:txBody>
      </p:sp>
      <p:sp>
        <p:nvSpPr>
          <p:cNvPr id="21" name="">
            <a:extLst xmlns:a="http://schemas.openxmlformats.org/drawingml/2006/main">
              <a:ext uri="{FF2B5EF4-FFF2-40B4-BE49-F238E27FC236}">
                <a16:creationId xmlns:a16="http://schemas.microsoft.com/office/drawing/2014/main" id="{6519AF5E-9855-4EC0-9218-7F0DE962125C}"/>
              </a:ext>
            </a:extLst>
          </p:cNvPr>
          <p:cNvSpPr>
            <a:spLocks xmlns:a="http://schemas.openxmlformats.org/drawingml/2006/main" noGrp="1"/>
          </p:cNvSpPr>
          <p:nvPr/>
        </p:nvSpPr>
        <p:spPr>
          <a:xfrm xmlns:a="http://schemas.openxmlformats.org/drawingml/2006/main">
            <a:off x="4429125" y="4191000"/>
            <a:ext cx="3333750" cy="9715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2" name="">
            <a:extLst xmlns:a="http://schemas.openxmlformats.org/drawingml/2006/main">
              <a:ext uri="{FF2B5EF4-FFF2-40B4-BE49-F238E27FC236}">
                <a16:creationId xmlns:a16="http://schemas.microsoft.com/office/drawing/2014/main" id="{F22D5D6E-B715-44D8-A8EC-B05C317A17C2}"/>
              </a:ext>
            </a:extLst>
          </p:cNvPr>
          <p:cNvSpPr>
            <a:spLocks xmlns:a="http://schemas.openxmlformats.org/drawingml/2006/main" noGrp="1"/>
          </p:cNvSpPr>
          <p:nvPr/>
        </p:nvSpPr>
        <p:spPr>
          <a:xfrm xmlns:a="http://schemas.openxmlformats.org/drawingml/2006/main">
            <a:off x="4543425" y="4305300"/>
            <a:ext cx="3105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7F79"/>
                </a:solidFill>
                <a:latin typeface="Arial"/>
                <a:ea typeface="Arial"/>
                <a:cs typeface="Arial"/>
              </a:defRPr>
            </a:pPr>
            <a:r>
              <a:rPr sz="1950" b="1">
                <a:solidFill>
                  <a:srgbClr val="007F79"/>
                </a:solidFill>
                <a:latin typeface="Arial"/>
                <a:ea typeface="Arial"/>
                <a:cs typeface="Arial"/>
              </a:rPr>
              <a:t>Library-specific</a:t>
            </a:r>
          </a:p>
          <a:p xmlns:a="http://schemas.openxmlformats.org/drawingml/2006/main">
            <a:pPr>
              <a:defRPr sz="1950" b="1">
                <a:solidFill>
                  <a:srgbClr val="007F79"/>
                </a:solidFill>
                <a:latin typeface="Arial"/>
                <a:ea typeface="Arial"/>
                <a:cs typeface="Arial"/>
              </a:defRPr>
            </a:pPr>
            <a:r>
              <a:rPr sz="1950" b="1">
                <a:solidFill>
                  <a:srgbClr val="007F79"/>
                </a:solidFill>
                <a:latin typeface="Arial"/>
                <a:ea typeface="Arial"/>
                <a:cs typeface="Arial"/>
              </a:rPr>
              <a:t>Frida hook</a:t>
            </a:r>
          </a:p>
        </p:txBody>
      </p:sp>
      <p:sp>
        <p:nvSpPr>
          <p:cNvPr id="23" name="">
            <a:extLst xmlns:a="http://schemas.openxmlformats.org/drawingml/2006/main">
              <a:ext uri="{FF2B5EF4-FFF2-40B4-BE49-F238E27FC236}">
                <a16:creationId xmlns:a16="http://schemas.microsoft.com/office/drawing/2014/main" id="{52D15BE7-E82A-4A00-8262-850EBA2D9EDA}"/>
              </a:ext>
            </a:extLst>
          </p:cNvPr>
          <p:cNvSpPr>
            <a:spLocks xmlns:a="http://schemas.openxmlformats.org/drawingml/2006/main" noGrp="1"/>
          </p:cNvSpPr>
          <p:nvPr/>
        </p:nvSpPr>
        <p:spPr>
          <a:xfrm xmlns:a="http://schemas.openxmlformats.org/drawingml/2006/main">
            <a:off x="8248650" y="4191000"/>
            <a:ext cx="3333750" cy="9715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4" name="">
            <a:extLst xmlns:a="http://schemas.openxmlformats.org/drawingml/2006/main">
              <a:ext uri="{FF2B5EF4-FFF2-40B4-BE49-F238E27FC236}">
                <a16:creationId xmlns:a16="http://schemas.microsoft.com/office/drawing/2014/main" id="{81C3977D-F97E-4FD0-9655-D7E4E8C5050C}"/>
              </a:ext>
            </a:extLst>
          </p:cNvPr>
          <p:cNvSpPr>
            <a:spLocks xmlns:a="http://schemas.openxmlformats.org/drawingml/2006/main" noGrp="1"/>
          </p:cNvSpPr>
          <p:nvPr/>
        </p:nvSpPr>
        <p:spPr>
          <a:xfrm xmlns:a="http://schemas.openxmlformats.org/drawingml/2006/main">
            <a:off x="8362950" y="4305300"/>
            <a:ext cx="3105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7F79"/>
                </a:solidFill>
                <a:latin typeface="Arial"/>
                <a:ea typeface="Arial"/>
                <a:cs typeface="Arial"/>
              </a:defRPr>
            </a:pPr>
            <a:r>
              <a:rPr sz="1950" b="1">
                <a:solidFill>
                  <a:srgbClr val="007F79"/>
                </a:solidFill>
                <a:latin typeface="Arial"/>
                <a:ea typeface="Arial"/>
                <a:cs typeface="Arial"/>
              </a:rPr>
              <a:t>Running target</a:t>
            </a:r>
          </a:p>
          <a:p xmlns:a="http://schemas.openxmlformats.org/drawingml/2006/main">
            <a:pPr>
              <a:defRPr sz="1950" b="1">
                <a:solidFill>
                  <a:srgbClr val="007F79"/>
                </a:solidFill>
                <a:latin typeface="Arial"/>
                <a:ea typeface="Arial"/>
                <a:cs typeface="Arial"/>
              </a:defRPr>
            </a:pPr>
            <a:r>
              <a:rPr sz="1950" b="1">
                <a:solidFill>
                  <a:srgbClr val="007F79"/>
                </a:solidFill>
                <a:latin typeface="Arial"/>
                <a:ea typeface="Arial"/>
                <a:cs typeface="Arial"/>
              </a:rPr>
              <a:t>+ fingerprint</a:t>
            </a:r>
          </a:p>
        </p:txBody>
      </p:sp>
      <p:sp>
        <p:nvSpPr>
          <p:cNvPr id="25" name="">
            <a:extLst xmlns:a="http://schemas.openxmlformats.org/drawingml/2006/main">
              <a:ext uri="{FF2B5EF4-FFF2-40B4-BE49-F238E27FC236}">
                <a16:creationId xmlns:a16="http://schemas.microsoft.com/office/drawing/2014/main" id="{D9451E30-1C93-4EF6-862C-50D7C5146403}"/>
              </a:ext>
            </a:extLst>
          </p:cNvPr>
          <p:cNvSpPr>
            <a:spLocks xmlns:a="http://schemas.openxmlformats.org/drawingml/2006/main" noGrp="1"/>
          </p:cNvSpPr>
          <p:nvPr/>
        </p:nvSpPr>
        <p:spPr>
          <a:xfrm xmlns:a="http://schemas.openxmlformats.org/drawingml/2006/main">
            <a:off x="7810500" y="4657725"/>
            <a:ext cx="419100"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E944FB1-E57E-4C60-BE08-235FF6243373}"/>
              </a:ext>
            </a:extLst>
          </p:cNvPr>
          <p:cNvSpPr>
            <a:spLocks xmlns:a="http://schemas.openxmlformats.org/drawingml/2006/main" noGrp="1"/>
          </p:cNvSpPr>
          <p:nvPr/>
        </p:nvSpPr>
        <p:spPr>
          <a:xfrm xmlns:a="http://schemas.openxmlformats.org/drawingml/2006/main">
            <a:off x="7810500" y="4591050"/>
            <a:ext cx="190500" cy="171450"/>
          </a:xfrm>
          <a:prstGeom xmlns:a="http://schemas.openxmlformats.org/drawingml/2006/main" prst="leftArrow">
            <a:avLst/>
          </a:prstGeom>
          <a:solidFill xmlns:a="http://schemas.openxmlformats.org/drawingml/2006/main">
            <a:srgbClr val="007F79"/>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8FCC29C-A324-4F97-A9BF-98CC9252BA3E}"/>
              </a:ext>
            </a:extLst>
          </p:cNvPr>
          <p:cNvSpPr>
            <a:spLocks xmlns:a="http://schemas.openxmlformats.org/drawingml/2006/main" noGrp="1"/>
          </p:cNvSpPr>
          <p:nvPr/>
        </p:nvSpPr>
        <p:spPr>
          <a:xfrm xmlns:a="http://schemas.openxmlformats.org/drawingml/2006/main">
            <a:off x="4000500" y="4657725"/>
            <a:ext cx="39052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BA7B037-CC9E-4E29-8E3D-53D520189EFB}"/>
              </a:ext>
            </a:extLst>
          </p:cNvPr>
          <p:cNvSpPr>
            <a:spLocks xmlns:a="http://schemas.openxmlformats.org/drawingml/2006/main" noGrp="1"/>
          </p:cNvSpPr>
          <p:nvPr/>
        </p:nvSpPr>
        <p:spPr>
          <a:xfrm xmlns:a="http://schemas.openxmlformats.org/drawingml/2006/main">
            <a:off x="4000500" y="4591050"/>
            <a:ext cx="190500" cy="171450"/>
          </a:xfrm>
          <a:prstGeom xmlns:a="http://schemas.openxmlformats.org/drawingml/2006/main" prst="leftArrow">
            <a:avLst/>
          </a:prstGeom>
          <a:solidFill xmlns:a="http://schemas.openxmlformats.org/drawingml/2006/main">
            <a:srgbClr val="007F79"/>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50969BE-94EB-4905-85A5-1772AE0B76C8}"/>
              </a:ext>
            </a:extLst>
          </p:cNvPr>
          <p:cNvSpPr>
            <a:spLocks xmlns:a="http://schemas.openxmlformats.org/drawingml/2006/main" noGrp="1"/>
          </p:cNvSpPr>
          <p:nvPr/>
        </p:nvSpPr>
        <p:spPr>
          <a:xfrm xmlns:a="http://schemas.openxmlformats.org/drawingml/2006/main">
            <a:off x="609600" y="563880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The key must be observed while the target derives it.</a:t>
            </a:r>
          </a:p>
        </p:txBody>
      </p:sp>
    </p:spTree>
    <p:extLst>
      <p:ext uri="{BB962C8B-B14F-4D97-AF65-F5344CB8AC3E}">
        <p14:creationId xmlns:p14="http://schemas.microsoft.com/office/powerpoint/2010/main" val="2016903018"/>
      </p:ext>
    </p:extLst>
  </p:cSld>
</p:sld>
</file>

<file path=ppt/slides/slide1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CF43BBF-5BB9-4207-9730-13E569333A75}"/>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Keys in Flux: measuring secret lifetimes</a:t>
            </a:r>
          </a:p>
        </p:txBody>
      </p:sp>
      <p:sp>
        <p:nvSpPr>
          <p:cNvPr id="2" name="">
            <a:extLst xmlns:a="http://schemas.openxmlformats.org/drawingml/2006/main">
              <a:ext uri="{FF2B5EF4-FFF2-40B4-BE49-F238E27FC236}">
                <a16:creationId xmlns:a16="http://schemas.microsoft.com/office/drawing/2014/main" id="{B633ED0A-5E01-4BD2-9244-8916F069D585}"/>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345DD223-A364-4FDD-96A9-7BC87114D940}"/>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43B2F470-72C1-4982-9B2E-B651C8D08538}"/>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Baier &amp; Lengersdorff (2026), §4 and Figures 5–7</a:t>
            </a:r>
          </a:p>
        </p:txBody>
      </p:sp>
      <p:sp>
        <p:nvSpPr>
          <p:cNvPr id="5" name="">
            <a:extLst xmlns:a="http://schemas.openxmlformats.org/drawingml/2006/main">
              <a:ext uri="{FF2B5EF4-FFF2-40B4-BE49-F238E27FC236}">
                <a16:creationId xmlns:a16="http://schemas.microsoft.com/office/drawing/2014/main" id="{CE8E42D8-A17A-44F1-A5C6-39A616F7C3A6}"/>
              </a:ext>
            </a:extLst>
          </p:cNvPr>
          <p:cNvSpPr>
            <a:spLocks xmlns:a="http://schemas.openxmlformats.org/drawingml/2006/main" noGrp="1"/>
          </p:cNvSpPr>
          <p:nvPr/>
        </p:nvSpPr>
        <p:spPr>
          <a:xfrm xmlns:a="http://schemas.openxmlformats.org/drawingml/2006/main">
            <a:off x="609600" y="2343150"/>
            <a:ext cx="337820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6" name="">
            <a:extLst xmlns:a="http://schemas.openxmlformats.org/drawingml/2006/main">
              <a:ext uri="{FF2B5EF4-FFF2-40B4-BE49-F238E27FC236}">
                <a16:creationId xmlns:a16="http://schemas.microsoft.com/office/drawing/2014/main" id="{CEB7EF03-4639-4938-ACC7-397DEC8DFE24}"/>
              </a:ext>
            </a:extLst>
          </p:cNvPr>
          <p:cNvSpPr>
            <a:spLocks xmlns:a="http://schemas.openxmlformats.org/drawingml/2006/main" noGrp="1"/>
          </p:cNvSpPr>
          <p:nvPr/>
        </p:nvSpPr>
        <p:spPr>
          <a:xfrm xmlns:a="http://schemas.openxmlformats.org/drawingml/2006/main">
            <a:off x="762000" y="2533650"/>
            <a:ext cx="3073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KDF hook</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Creation + value</a:t>
            </a:r>
          </a:p>
        </p:txBody>
      </p:sp>
      <p:sp>
        <p:nvSpPr>
          <p:cNvPr id="7" name="">
            <a:extLst xmlns:a="http://schemas.openxmlformats.org/drawingml/2006/main">
              <a:ext uri="{FF2B5EF4-FFF2-40B4-BE49-F238E27FC236}">
                <a16:creationId xmlns:a16="http://schemas.microsoft.com/office/drawing/2014/main" id="{A6F857F9-9D11-467E-B96A-7A31B560FCE8}"/>
              </a:ext>
            </a:extLst>
          </p:cNvPr>
          <p:cNvSpPr>
            <a:spLocks xmlns:a="http://schemas.openxmlformats.org/drawingml/2006/main" noGrp="1"/>
          </p:cNvSpPr>
          <p:nvPr/>
        </p:nvSpPr>
        <p:spPr>
          <a:xfrm xmlns:a="http://schemas.openxmlformats.org/drawingml/2006/main">
            <a:off x="4406900" y="2343150"/>
            <a:ext cx="337820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8" name="">
            <a:extLst xmlns:a="http://schemas.openxmlformats.org/drawingml/2006/main">
              <a:ext uri="{FF2B5EF4-FFF2-40B4-BE49-F238E27FC236}">
                <a16:creationId xmlns:a16="http://schemas.microsoft.com/office/drawing/2014/main" id="{5BC765F6-82E2-4828-8337-BE1A2A95904C}"/>
              </a:ext>
            </a:extLst>
          </p:cNvPr>
          <p:cNvSpPr>
            <a:spLocks xmlns:a="http://schemas.openxmlformats.org/drawingml/2006/main" noGrp="1"/>
          </p:cNvSpPr>
          <p:nvPr/>
        </p:nvSpPr>
        <p:spPr>
          <a:xfrm xmlns:a="http://schemas.openxmlformats.org/drawingml/2006/main">
            <a:off x="4559300" y="2533650"/>
            <a:ext cx="3073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Watchpoints</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Original buffer</a:t>
            </a:r>
          </a:p>
        </p:txBody>
      </p:sp>
      <p:sp>
        <p:nvSpPr>
          <p:cNvPr id="9" name="">
            <a:extLst xmlns:a="http://schemas.openxmlformats.org/drawingml/2006/main">
              <a:ext uri="{FF2B5EF4-FFF2-40B4-BE49-F238E27FC236}">
                <a16:creationId xmlns:a16="http://schemas.microsoft.com/office/drawing/2014/main" id="{2A5A7E6B-193B-4080-AD90-50E020BE98B6}"/>
              </a:ext>
            </a:extLst>
          </p:cNvPr>
          <p:cNvSpPr>
            <a:spLocks xmlns:a="http://schemas.openxmlformats.org/drawingml/2006/main" noGrp="1"/>
          </p:cNvSpPr>
          <p:nvPr/>
        </p:nvSpPr>
        <p:spPr>
          <a:xfrm xmlns:a="http://schemas.openxmlformats.org/drawingml/2006/main">
            <a:off x="4025900" y="2847975"/>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3C036DF-6C91-47D3-A8C1-DB6750BCFD69}"/>
              </a:ext>
            </a:extLst>
          </p:cNvPr>
          <p:cNvSpPr>
            <a:spLocks xmlns:a="http://schemas.openxmlformats.org/drawingml/2006/main" noGrp="1"/>
          </p:cNvSpPr>
          <p:nvPr/>
        </p:nvSpPr>
        <p:spPr>
          <a:xfrm xmlns:a="http://schemas.openxmlformats.org/drawingml/2006/main">
            <a:off x="4187825" y="278130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CD4CCD8-1615-46E7-9992-D5C21BA5093F}"/>
              </a:ext>
            </a:extLst>
          </p:cNvPr>
          <p:cNvSpPr>
            <a:spLocks xmlns:a="http://schemas.openxmlformats.org/drawingml/2006/main" noGrp="1"/>
          </p:cNvSpPr>
          <p:nvPr/>
        </p:nvSpPr>
        <p:spPr>
          <a:xfrm xmlns:a="http://schemas.openxmlformats.org/drawingml/2006/main">
            <a:off x="8204200" y="2343150"/>
            <a:ext cx="337820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2" name="">
            <a:extLst xmlns:a="http://schemas.openxmlformats.org/drawingml/2006/main">
              <a:ext uri="{FF2B5EF4-FFF2-40B4-BE49-F238E27FC236}">
                <a16:creationId xmlns:a16="http://schemas.microsoft.com/office/drawing/2014/main" id="{10C924D8-815E-4375-9FBF-6D9AEDEBF0C4}"/>
              </a:ext>
            </a:extLst>
          </p:cNvPr>
          <p:cNvSpPr>
            <a:spLocks xmlns:a="http://schemas.openxmlformats.org/drawingml/2006/main" noGrp="1"/>
          </p:cNvSpPr>
          <p:nvPr/>
        </p:nvSpPr>
        <p:spPr>
          <a:xfrm xmlns:a="http://schemas.openxmlformats.org/drawingml/2006/main">
            <a:off x="8356600" y="2533650"/>
            <a:ext cx="3073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State snapshots</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Search all copies</a:t>
            </a:r>
          </a:p>
        </p:txBody>
      </p:sp>
      <p:sp>
        <p:nvSpPr>
          <p:cNvPr id="13" name="">
            <a:extLst xmlns:a="http://schemas.openxmlformats.org/drawingml/2006/main">
              <a:ext uri="{FF2B5EF4-FFF2-40B4-BE49-F238E27FC236}">
                <a16:creationId xmlns:a16="http://schemas.microsoft.com/office/drawing/2014/main" id="{0881AD31-EA5F-4F29-BBAB-78251E0FA389}"/>
              </a:ext>
            </a:extLst>
          </p:cNvPr>
          <p:cNvSpPr>
            <a:spLocks xmlns:a="http://schemas.openxmlformats.org/drawingml/2006/main" noGrp="1"/>
          </p:cNvSpPr>
          <p:nvPr/>
        </p:nvSpPr>
        <p:spPr>
          <a:xfrm xmlns:a="http://schemas.openxmlformats.org/drawingml/2006/main">
            <a:off x="7823200" y="2847975"/>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C935E06-2036-43FF-85DF-0CD5A8F659D6}"/>
              </a:ext>
            </a:extLst>
          </p:cNvPr>
          <p:cNvSpPr>
            <a:spLocks xmlns:a="http://schemas.openxmlformats.org/drawingml/2006/main" noGrp="1"/>
          </p:cNvSpPr>
          <p:nvPr/>
        </p:nvSpPr>
        <p:spPr>
          <a:xfrm xmlns:a="http://schemas.openxmlformats.org/drawingml/2006/main">
            <a:off x="7985125" y="278130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2306355-3504-4213-BA7A-F242323320D0}"/>
              </a:ext>
            </a:extLst>
          </p:cNvPr>
          <p:cNvSpPr>
            <a:spLocks xmlns:a="http://schemas.openxmlformats.org/drawingml/2006/main" noGrp="1"/>
          </p:cNvSpPr>
          <p:nvPr/>
        </p:nvSpPr>
        <p:spPr>
          <a:xfrm xmlns:a="http://schemas.openxmlformats.org/drawingml/2006/main">
            <a:off x="609600" y="3638550"/>
            <a:ext cx="323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2"/>
                </a:solidFill>
                <a:latin typeface="Arial"/>
                <a:ea typeface="Arial"/>
                <a:cs typeface="Arial"/>
              </a:defRPr>
            </a:pPr>
            <a:r>
              <a:rPr sz="1800" b="0">
                <a:solidFill>
                  <a:srgbClr val="536572"/>
                </a:solidFill>
                <a:latin typeface="Arial"/>
                <a:ea typeface="Arial"/>
                <a:cs typeface="Arial"/>
              </a:rPr>
              <a:t>When does it appear?</a:t>
            </a:r>
          </a:p>
        </p:txBody>
      </p:sp>
      <p:sp>
        <p:nvSpPr>
          <p:cNvPr id="16" name="">
            <a:extLst xmlns:a="http://schemas.openxmlformats.org/drawingml/2006/main">
              <a:ext uri="{FF2B5EF4-FFF2-40B4-BE49-F238E27FC236}">
                <a16:creationId xmlns:a16="http://schemas.microsoft.com/office/drawing/2014/main" id="{9C7E1815-E9B6-451A-AD05-919A6245D13F}"/>
              </a:ext>
            </a:extLst>
          </p:cNvPr>
          <p:cNvSpPr>
            <a:spLocks xmlns:a="http://schemas.openxmlformats.org/drawingml/2006/main" noGrp="1"/>
          </p:cNvSpPr>
          <p:nvPr/>
        </p:nvSpPr>
        <p:spPr>
          <a:xfrm xmlns:a="http://schemas.openxmlformats.org/drawingml/2006/main">
            <a:off x="4381500" y="3638550"/>
            <a:ext cx="331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2"/>
                </a:solidFill>
                <a:latin typeface="Arial"/>
                <a:ea typeface="Arial"/>
                <a:cs typeface="Arial"/>
              </a:defRPr>
            </a:pPr>
            <a:r>
              <a:rPr sz="1800" b="0">
                <a:solidFill>
                  <a:srgbClr val="536572"/>
                </a:solidFill>
                <a:latin typeface="Arial"/>
                <a:ea typeface="Arial"/>
                <a:cs typeface="Arial"/>
              </a:rPr>
              <a:t>When is it overwritten?</a:t>
            </a:r>
          </a:p>
        </p:txBody>
      </p:sp>
      <p:sp>
        <p:nvSpPr>
          <p:cNvPr id="17" name="">
            <a:extLst xmlns:a="http://schemas.openxmlformats.org/drawingml/2006/main">
              <a:ext uri="{FF2B5EF4-FFF2-40B4-BE49-F238E27FC236}">
                <a16:creationId xmlns:a16="http://schemas.microsoft.com/office/drawing/2014/main" id="{23E3031E-BBE3-474E-BDF9-E271859FA9AC}"/>
              </a:ext>
            </a:extLst>
          </p:cNvPr>
          <p:cNvSpPr>
            <a:spLocks xmlns:a="http://schemas.openxmlformats.org/drawingml/2006/main" noGrp="1"/>
          </p:cNvSpPr>
          <p:nvPr/>
        </p:nvSpPr>
        <p:spPr>
          <a:xfrm xmlns:a="http://schemas.openxmlformats.org/drawingml/2006/main">
            <a:off x="8162925" y="3638550"/>
            <a:ext cx="342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2"/>
                </a:solidFill>
                <a:latin typeface="Arial"/>
                <a:ea typeface="Arial"/>
                <a:cs typeface="Arial"/>
              </a:defRPr>
            </a:pPr>
            <a:r>
              <a:rPr sz="1800" b="0">
                <a:solidFill>
                  <a:srgbClr val="536572"/>
                </a:solidFill>
                <a:latin typeface="Arial"/>
                <a:ea typeface="Arial"/>
                <a:cs typeface="Arial"/>
              </a:rPr>
              <a:t>Do copies still remain?</a:t>
            </a:r>
          </a:p>
        </p:txBody>
      </p:sp>
      <p:sp>
        <p:nvSpPr>
          <p:cNvPr id="18" name="">
            <a:extLst xmlns:a="http://schemas.openxmlformats.org/drawingml/2006/main">
              <a:ext uri="{FF2B5EF4-FFF2-40B4-BE49-F238E27FC236}">
                <a16:creationId xmlns:a16="http://schemas.microsoft.com/office/drawing/2014/main" id="{44099C72-1B58-42A2-8EE7-A23660C247E6}"/>
              </a:ext>
            </a:extLst>
          </p:cNvPr>
          <p:cNvSpPr>
            <a:spLocks xmlns:a="http://schemas.openxmlformats.org/drawingml/2006/main" noGrp="1"/>
          </p:cNvSpPr>
          <p:nvPr/>
        </p:nvSpPr>
        <p:spPr>
          <a:xfrm xmlns:a="http://schemas.openxmlformats.org/drawingml/2006/main">
            <a:off x="609600" y="4400550"/>
            <a:ext cx="5695950" cy="752475"/>
          </a:xfrm>
          <a:prstGeom xmlns:a="http://schemas.openxmlformats.org/drawingml/2006/main" prst="rect">
            <a:avLst/>
          </a:prstGeom>
          <a:solidFill xmlns:a="http://schemas.openxmlformats.org/drawingml/2006/main">
            <a:srgbClr val="E1EFEC"/>
          </a:solidFill>
          <a:ln xmlns:a="http://schemas.openxmlformats.org/drawingml/2006/main" w="28575">
            <a:solidFill>
              <a:srgbClr val="A75B17"/>
            </a:solidFill>
          </a:ln>
        </p:spPr>
      </p:sp>
      <p:sp>
        <p:nvSpPr>
          <p:cNvPr id="19" name="">
            <a:extLst xmlns:a="http://schemas.openxmlformats.org/drawingml/2006/main">
              <a:ext uri="{FF2B5EF4-FFF2-40B4-BE49-F238E27FC236}">
                <a16:creationId xmlns:a16="http://schemas.microsoft.com/office/drawing/2014/main" id="{F003493E-1B2B-4C93-8934-B94318D455F2}"/>
              </a:ext>
            </a:extLst>
          </p:cNvPr>
          <p:cNvSpPr>
            <a:spLocks xmlns:a="http://schemas.openxmlformats.org/drawingml/2006/main" noGrp="1"/>
          </p:cNvSpPr>
          <p:nvPr/>
        </p:nvSpPr>
        <p:spPr>
          <a:xfrm xmlns:a="http://schemas.openxmlformats.org/drawingml/2006/main">
            <a:off x="723900" y="4514850"/>
            <a:ext cx="5467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A75B17"/>
                </a:solidFill>
                <a:latin typeface="Arial"/>
                <a:ea typeface="Arial"/>
                <a:cs typeface="Arial"/>
              </a:defRPr>
            </a:pPr>
            <a:r>
              <a:rPr sz="1950" b="1">
                <a:solidFill>
                  <a:srgbClr val="A75B17"/>
                </a:solidFill>
                <a:latin typeface="Arial"/>
                <a:ea typeface="Arial"/>
                <a:cs typeface="Arial"/>
              </a:rPr>
              <a:t>PCAP state + peer-exported reference</a:t>
            </a:r>
          </a:p>
        </p:txBody>
      </p:sp>
      <p:sp>
        <p:nvSpPr>
          <p:cNvPr id="20" name="">
            <a:extLst xmlns:a="http://schemas.openxmlformats.org/drawingml/2006/main">
              <a:ext uri="{FF2B5EF4-FFF2-40B4-BE49-F238E27FC236}">
                <a16:creationId xmlns:a16="http://schemas.microsoft.com/office/drawing/2014/main" id="{B5EB4B3E-9732-44B4-8B7C-4008D1255D6C}"/>
              </a:ext>
            </a:extLst>
          </p:cNvPr>
          <p:cNvSpPr>
            <a:spLocks xmlns:a="http://schemas.openxmlformats.org/drawingml/2006/main" noGrp="1"/>
          </p:cNvSpPr>
          <p:nvPr/>
        </p:nvSpPr>
        <p:spPr>
          <a:xfrm xmlns:a="http://schemas.openxmlformats.org/drawingml/2006/main">
            <a:off x="6334125" y="4762500"/>
            <a:ext cx="666750" cy="38100"/>
          </a:xfrm>
          <a:prstGeom xmlns:a="http://schemas.openxmlformats.org/drawingml/2006/main" prst="rect">
            <a:avLst/>
          </a:prstGeom>
          <a:solidFill xmlns:a="http://schemas.openxmlformats.org/drawingml/2006/main">
            <a:srgbClr val="A75B1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8BD833A-77FF-4089-8C39-EF2C63235CA4}"/>
              </a:ext>
            </a:extLst>
          </p:cNvPr>
          <p:cNvSpPr>
            <a:spLocks xmlns:a="http://schemas.openxmlformats.org/drawingml/2006/main" noGrp="1"/>
          </p:cNvSpPr>
          <p:nvPr/>
        </p:nvSpPr>
        <p:spPr>
          <a:xfrm xmlns:a="http://schemas.openxmlformats.org/drawingml/2006/main">
            <a:off x="6829425" y="4695825"/>
            <a:ext cx="190500" cy="171450"/>
          </a:xfrm>
          <a:prstGeom xmlns:a="http://schemas.openxmlformats.org/drawingml/2006/main" prst="rightArrow">
            <a:avLst/>
          </a:prstGeom>
          <a:solidFill xmlns:a="http://schemas.openxmlformats.org/drawingml/2006/main">
            <a:srgbClr val="A75B1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854A2F4-B6E7-4FFA-B1FB-76F8A845E230}"/>
              </a:ext>
            </a:extLst>
          </p:cNvPr>
          <p:cNvSpPr>
            <a:spLocks xmlns:a="http://schemas.openxmlformats.org/drawingml/2006/main" noGrp="1"/>
          </p:cNvSpPr>
          <p:nvPr/>
        </p:nvSpPr>
        <p:spPr>
          <a:xfrm xmlns:a="http://schemas.openxmlformats.org/drawingml/2006/main">
            <a:off x="7124700" y="4400550"/>
            <a:ext cx="4457700" cy="7524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3" name="">
            <a:extLst xmlns:a="http://schemas.openxmlformats.org/drawingml/2006/main">
              <a:ext uri="{FF2B5EF4-FFF2-40B4-BE49-F238E27FC236}">
                <a16:creationId xmlns:a16="http://schemas.microsoft.com/office/drawing/2014/main" id="{62DFBF38-AC7E-40BD-A187-D773883B5355}"/>
              </a:ext>
            </a:extLst>
          </p:cNvPr>
          <p:cNvSpPr>
            <a:spLocks xmlns:a="http://schemas.openxmlformats.org/drawingml/2006/main" noGrp="1"/>
          </p:cNvSpPr>
          <p:nvPr/>
        </p:nvSpPr>
        <p:spPr>
          <a:xfrm xmlns:a="http://schemas.openxmlformats.org/drawingml/2006/main">
            <a:off x="7239000" y="4514850"/>
            <a:ext cx="42291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7F79"/>
                </a:solidFill>
                <a:latin typeface="Arial"/>
                <a:ea typeface="Arial"/>
                <a:cs typeface="Arial"/>
              </a:defRPr>
            </a:pPr>
            <a:r>
              <a:rPr sz="1950" b="1">
                <a:solidFill>
                  <a:srgbClr val="007F79"/>
                </a:solidFill>
                <a:latin typeface="Arial"/>
                <a:ea typeface="Arial"/>
                <a:cs typeface="Arial"/>
              </a:rPr>
              <a:t>Secret lifetime timeline</a:t>
            </a:r>
          </a:p>
        </p:txBody>
      </p:sp>
      <p:sp>
        <p:nvSpPr>
          <p:cNvPr id="24" name="">
            <a:extLst xmlns:a="http://schemas.openxmlformats.org/drawingml/2006/main">
              <a:ext uri="{FF2B5EF4-FFF2-40B4-BE49-F238E27FC236}">
                <a16:creationId xmlns:a16="http://schemas.microsoft.com/office/drawing/2014/main" id="{B0785201-432C-4B3C-8AEE-A58147602A56}"/>
              </a:ext>
            </a:extLst>
          </p:cNvPr>
          <p:cNvSpPr>
            <a:spLocks xmlns:a="http://schemas.openxmlformats.org/drawingml/2006/main" noGrp="1"/>
          </p:cNvSpPr>
          <p:nvPr/>
        </p:nvSpPr>
        <p:spPr>
          <a:xfrm xmlns:a="http://schemas.openxmlformats.org/drawingml/2006/main">
            <a:off x="11353800" y="3419475"/>
            <a:ext cx="38100" cy="93345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8961B33-3DE1-4E53-B2D3-6F15558A1147}"/>
              </a:ext>
            </a:extLst>
          </p:cNvPr>
          <p:cNvSpPr>
            <a:spLocks xmlns:a="http://schemas.openxmlformats.org/drawingml/2006/main" noGrp="1"/>
          </p:cNvSpPr>
          <p:nvPr/>
        </p:nvSpPr>
        <p:spPr>
          <a:xfrm xmlns:a="http://schemas.openxmlformats.org/drawingml/2006/main">
            <a:off x="11287125" y="4181475"/>
            <a:ext cx="171450" cy="190500"/>
          </a:xfrm>
          <a:prstGeom xmlns:a="http://schemas.openxmlformats.org/drawingml/2006/main" prst="downArrow">
            <a:avLst/>
          </a:prstGeom>
          <a:solidFill xmlns:a="http://schemas.openxmlformats.org/drawingml/2006/main">
            <a:srgbClr val="007F79"/>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FC1C313-3BE1-4CE8-8702-5ABD07B71F04}"/>
              </a:ext>
            </a:extLst>
          </p:cNvPr>
          <p:cNvSpPr>
            <a:spLocks xmlns:a="http://schemas.openxmlformats.org/drawingml/2006/main" noGrp="1"/>
          </p:cNvSpPr>
          <p:nvPr/>
        </p:nvSpPr>
        <p:spPr>
          <a:xfrm xmlns:a="http://schemas.openxmlformats.org/drawingml/2006/main">
            <a:off x="609600" y="567690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A known secret can remain in memory even after its original buffer changes.</a:t>
            </a:r>
          </a:p>
        </p:txBody>
      </p:sp>
    </p:spTree>
    <p:extLst>
      <p:ext uri="{BB962C8B-B14F-4D97-AF65-F5344CB8AC3E}">
        <p14:creationId xmlns:p14="http://schemas.microsoft.com/office/powerpoint/2010/main" val="1466381115"/>
      </p:ext>
    </p:extLst>
  </p:cSld>
</p:sld>
</file>

<file path=ppt/slides/slide1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BA22D82-0BE3-4433-97CC-7F49B3B5DE2A}"/>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X-Ray-TLS: recovery from memory changes</a:t>
            </a:r>
          </a:p>
        </p:txBody>
      </p:sp>
      <p:sp>
        <p:nvSpPr>
          <p:cNvPr id="2" name="">
            <a:extLst xmlns:a="http://schemas.openxmlformats.org/drawingml/2006/main">
              <a:ext uri="{FF2B5EF4-FFF2-40B4-BE49-F238E27FC236}">
                <a16:creationId xmlns:a16="http://schemas.microsoft.com/office/drawing/2014/main" id="{364F734D-433C-4F2F-A0AB-B03C655B829D}"/>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01C3C746-D727-4106-888A-8980F960D030}"/>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C0116DA1-4C64-4860-91C5-D62CA4939E26}"/>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Moriconi et al. (2024), §3 and Figure 1</a:t>
            </a:r>
          </a:p>
        </p:txBody>
      </p:sp>
      <p:sp>
        <p:nvSpPr>
          <p:cNvPr id="5" name="">
            <a:extLst xmlns:a="http://schemas.openxmlformats.org/drawingml/2006/main">
              <a:ext uri="{FF2B5EF4-FFF2-40B4-BE49-F238E27FC236}">
                <a16:creationId xmlns:a16="http://schemas.microsoft.com/office/drawing/2014/main" id="{44860E04-0C24-46BB-A0F1-AB3BCDA353B9}"/>
              </a:ext>
            </a:extLst>
          </p:cNvPr>
          <p:cNvSpPr>
            <a:spLocks xmlns:a="http://schemas.openxmlformats.org/drawingml/2006/main" noGrp="1"/>
          </p:cNvSpPr>
          <p:nvPr/>
        </p:nvSpPr>
        <p:spPr>
          <a:xfrm xmlns:a="http://schemas.openxmlformats.org/drawingml/2006/main">
            <a:off x="609600" y="18288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9"/>
                </a:solidFill>
                <a:latin typeface="Arial"/>
                <a:ea typeface="Arial"/>
                <a:cs typeface="Arial"/>
              </a:defRPr>
            </a:pPr>
            <a:r>
              <a:rPr sz="2250" b="1">
                <a:solidFill>
                  <a:srgbClr val="007F79"/>
                </a:solidFill>
                <a:latin typeface="Arial"/>
                <a:ea typeface="Arial"/>
                <a:cs typeface="Arial"/>
              </a:rPr>
              <a:t>Live network events trigger two snapshots of the same process.</a:t>
            </a:r>
          </a:p>
        </p:txBody>
      </p:sp>
      <p:sp>
        <p:nvSpPr>
          <p:cNvPr id="6" name="">
            <a:extLst xmlns:a="http://schemas.openxmlformats.org/drawingml/2006/main">
              <a:ext uri="{FF2B5EF4-FFF2-40B4-BE49-F238E27FC236}">
                <a16:creationId xmlns:a16="http://schemas.microsoft.com/office/drawing/2014/main" id="{0C039CC9-C681-42F8-B9FF-2402680BE8B9}"/>
              </a:ext>
            </a:extLst>
          </p:cNvPr>
          <p:cNvSpPr>
            <a:spLocks xmlns:a="http://schemas.openxmlformats.org/drawingml/2006/main" noGrp="1"/>
          </p:cNvSpPr>
          <p:nvPr/>
        </p:nvSpPr>
        <p:spPr>
          <a:xfrm xmlns:a="http://schemas.openxmlformats.org/drawingml/2006/main">
            <a:off x="609600" y="2781300"/>
            <a:ext cx="3448050" cy="952500"/>
          </a:xfrm>
          <a:prstGeom xmlns:a="http://schemas.openxmlformats.org/drawingml/2006/main" prst="rect">
            <a:avLst/>
          </a:prstGeom>
          <a:solidFill xmlns:a="http://schemas.openxmlformats.org/drawingml/2006/main">
            <a:srgbClr val="E1EFEC"/>
          </a:solidFill>
          <a:ln xmlns:a="http://schemas.openxmlformats.org/drawingml/2006/main" w="28575">
            <a:solidFill>
              <a:srgbClr val="142E3E"/>
            </a:solidFill>
          </a:ln>
        </p:spPr>
      </p:sp>
      <p:sp>
        <p:nvSpPr>
          <p:cNvPr id="7" name="">
            <a:extLst xmlns:a="http://schemas.openxmlformats.org/drawingml/2006/main">
              <a:ext uri="{FF2B5EF4-FFF2-40B4-BE49-F238E27FC236}">
                <a16:creationId xmlns:a16="http://schemas.microsoft.com/office/drawing/2014/main" id="{BC832D7F-4686-4FCF-A7FA-C9AB34D8400D}"/>
              </a:ext>
            </a:extLst>
          </p:cNvPr>
          <p:cNvSpPr>
            <a:spLocks xmlns:a="http://schemas.openxmlformats.org/drawingml/2006/main" noGrp="1"/>
          </p:cNvSpPr>
          <p:nvPr/>
        </p:nvSpPr>
        <p:spPr>
          <a:xfrm xmlns:a="http://schemas.openxmlformats.org/drawingml/2006/main">
            <a:off x="723900" y="2895600"/>
            <a:ext cx="3219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E3E"/>
                </a:solidFill>
                <a:latin typeface="Arial"/>
                <a:ea typeface="Arial"/>
                <a:cs typeface="Arial"/>
              </a:defRPr>
            </a:pPr>
            <a:r>
              <a:rPr sz="1950" b="1">
                <a:solidFill>
                  <a:srgbClr val="142E3E"/>
                </a:solidFill>
                <a:latin typeface="Arial"/>
                <a:ea typeface="Arial"/>
                <a:cs typeface="Arial"/>
              </a:rPr>
              <a:t>Before key exchange</a:t>
            </a:r>
          </a:p>
          <a:p xmlns:a="http://schemas.openxmlformats.org/drawingml/2006/main">
            <a:pPr>
              <a:defRPr sz="1950" b="1">
                <a:solidFill>
                  <a:srgbClr val="142E3E"/>
                </a:solidFill>
                <a:latin typeface="Arial"/>
                <a:ea typeface="Arial"/>
                <a:cs typeface="Arial"/>
              </a:defRPr>
            </a:pPr>
            <a:r>
              <a:rPr sz="1950" b="1">
                <a:solidFill>
                  <a:srgbClr val="142E3E"/>
                </a:solidFill>
                <a:latin typeface="Arial"/>
                <a:ea typeface="Arial"/>
                <a:cs typeface="Arial"/>
              </a:rPr>
              <a:t>Writable memory A</a:t>
            </a:r>
          </a:p>
        </p:txBody>
      </p:sp>
      <p:sp>
        <p:nvSpPr>
          <p:cNvPr id="8" name="">
            <a:extLst xmlns:a="http://schemas.openxmlformats.org/drawingml/2006/main">
              <a:ext uri="{FF2B5EF4-FFF2-40B4-BE49-F238E27FC236}">
                <a16:creationId xmlns:a16="http://schemas.microsoft.com/office/drawing/2014/main" id="{B9444090-FDD3-4945-81CD-517AB4E9EAC0}"/>
              </a:ext>
            </a:extLst>
          </p:cNvPr>
          <p:cNvSpPr>
            <a:spLocks xmlns:a="http://schemas.openxmlformats.org/drawingml/2006/main" noGrp="1"/>
          </p:cNvSpPr>
          <p:nvPr/>
        </p:nvSpPr>
        <p:spPr>
          <a:xfrm xmlns:a="http://schemas.openxmlformats.org/drawingml/2006/main">
            <a:off x="8134350" y="2781300"/>
            <a:ext cx="3448050" cy="952500"/>
          </a:xfrm>
          <a:prstGeom xmlns:a="http://schemas.openxmlformats.org/drawingml/2006/main" prst="rect">
            <a:avLst/>
          </a:prstGeom>
          <a:solidFill xmlns:a="http://schemas.openxmlformats.org/drawingml/2006/main">
            <a:srgbClr val="E1EFEC"/>
          </a:solidFill>
          <a:ln xmlns:a="http://schemas.openxmlformats.org/drawingml/2006/main" w="28575">
            <a:solidFill>
              <a:srgbClr val="142E3E"/>
            </a:solidFill>
          </a:ln>
        </p:spPr>
      </p:sp>
      <p:sp>
        <p:nvSpPr>
          <p:cNvPr id="9" name="">
            <a:extLst xmlns:a="http://schemas.openxmlformats.org/drawingml/2006/main">
              <a:ext uri="{FF2B5EF4-FFF2-40B4-BE49-F238E27FC236}">
                <a16:creationId xmlns:a16="http://schemas.microsoft.com/office/drawing/2014/main" id="{DEAB9D4B-5D44-4B2D-A71B-766C1AD7AAAB}"/>
              </a:ext>
            </a:extLst>
          </p:cNvPr>
          <p:cNvSpPr>
            <a:spLocks xmlns:a="http://schemas.openxmlformats.org/drawingml/2006/main" noGrp="1"/>
          </p:cNvSpPr>
          <p:nvPr/>
        </p:nvSpPr>
        <p:spPr>
          <a:xfrm xmlns:a="http://schemas.openxmlformats.org/drawingml/2006/main">
            <a:off x="8248650" y="2895600"/>
            <a:ext cx="3219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E3E"/>
                </a:solidFill>
                <a:latin typeface="Arial"/>
                <a:ea typeface="Arial"/>
                <a:cs typeface="Arial"/>
              </a:defRPr>
            </a:pPr>
            <a:r>
              <a:rPr sz="1950" b="1">
                <a:solidFill>
                  <a:srgbClr val="142E3E"/>
                </a:solidFill>
                <a:latin typeface="Arial"/>
                <a:ea typeface="Arial"/>
                <a:cs typeface="Arial"/>
              </a:rPr>
              <a:t>After key exchange</a:t>
            </a:r>
          </a:p>
          <a:p xmlns:a="http://schemas.openxmlformats.org/drawingml/2006/main">
            <a:pPr>
              <a:defRPr sz="1950" b="1">
                <a:solidFill>
                  <a:srgbClr val="142E3E"/>
                </a:solidFill>
                <a:latin typeface="Arial"/>
                <a:ea typeface="Arial"/>
                <a:cs typeface="Arial"/>
              </a:defRPr>
            </a:pPr>
            <a:r>
              <a:rPr sz="1950" b="1">
                <a:solidFill>
                  <a:srgbClr val="142E3E"/>
                </a:solidFill>
                <a:latin typeface="Arial"/>
                <a:ea typeface="Arial"/>
                <a:cs typeface="Arial"/>
              </a:rPr>
              <a:t>Writable memory B</a:t>
            </a:r>
          </a:p>
        </p:txBody>
      </p:sp>
      <p:sp>
        <p:nvSpPr>
          <p:cNvPr id="10" name="">
            <a:extLst xmlns:a="http://schemas.openxmlformats.org/drawingml/2006/main">
              <a:ext uri="{FF2B5EF4-FFF2-40B4-BE49-F238E27FC236}">
                <a16:creationId xmlns:a16="http://schemas.microsoft.com/office/drawing/2014/main" id="{A51B89B6-BAFF-459B-A899-693F04B8809B}"/>
              </a:ext>
            </a:extLst>
          </p:cNvPr>
          <p:cNvSpPr>
            <a:spLocks xmlns:a="http://schemas.openxmlformats.org/drawingml/2006/main" noGrp="1"/>
          </p:cNvSpPr>
          <p:nvPr/>
        </p:nvSpPr>
        <p:spPr>
          <a:xfrm xmlns:a="http://schemas.openxmlformats.org/drawingml/2006/main">
            <a:off x="4095750" y="3238500"/>
            <a:ext cx="54292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4A3C6F3-5D28-4C91-9E5C-FD5684971EA1}"/>
              </a:ext>
            </a:extLst>
          </p:cNvPr>
          <p:cNvSpPr>
            <a:spLocks xmlns:a="http://schemas.openxmlformats.org/drawingml/2006/main" noGrp="1"/>
          </p:cNvSpPr>
          <p:nvPr/>
        </p:nvSpPr>
        <p:spPr>
          <a:xfrm xmlns:a="http://schemas.openxmlformats.org/drawingml/2006/main">
            <a:off x="4467225" y="317182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FB58212-F3A0-4568-9CFA-1FAF5BC5D96B}"/>
              </a:ext>
            </a:extLst>
          </p:cNvPr>
          <p:cNvSpPr>
            <a:spLocks xmlns:a="http://schemas.openxmlformats.org/drawingml/2006/main" noGrp="1"/>
          </p:cNvSpPr>
          <p:nvPr/>
        </p:nvSpPr>
        <p:spPr>
          <a:xfrm xmlns:a="http://schemas.openxmlformats.org/drawingml/2006/main">
            <a:off x="7524750" y="3238500"/>
            <a:ext cx="571500"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DE1380C-A29C-4F5C-9843-57BD7C46C7ED}"/>
              </a:ext>
            </a:extLst>
          </p:cNvPr>
          <p:cNvSpPr>
            <a:spLocks xmlns:a="http://schemas.openxmlformats.org/drawingml/2006/main" noGrp="1"/>
          </p:cNvSpPr>
          <p:nvPr/>
        </p:nvSpPr>
        <p:spPr>
          <a:xfrm xmlns:a="http://schemas.openxmlformats.org/drawingml/2006/main">
            <a:off x="7524750" y="3171825"/>
            <a:ext cx="190500" cy="171450"/>
          </a:xfrm>
          <a:prstGeom xmlns:a="http://schemas.openxmlformats.org/drawingml/2006/main" prst="leftArrow">
            <a:avLst/>
          </a:prstGeom>
          <a:solidFill xmlns:a="http://schemas.openxmlformats.org/drawingml/2006/main">
            <a:srgbClr val="007F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933FDBF-0A00-4397-B20E-A80624FAC790}"/>
              </a:ext>
            </a:extLst>
          </p:cNvPr>
          <p:cNvSpPr>
            <a:spLocks xmlns:a="http://schemas.openxmlformats.org/drawingml/2006/main" noGrp="1"/>
          </p:cNvSpPr>
          <p:nvPr/>
        </p:nvSpPr>
        <p:spPr>
          <a:xfrm xmlns:a="http://schemas.openxmlformats.org/drawingml/2006/main">
            <a:off x="4762500" y="2743200"/>
            <a:ext cx="2638425" cy="102870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5" name="">
            <a:extLst xmlns:a="http://schemas.openxmlformats.org/drawingml/2006/main">
              <a:ext uri="{FF2B5EF4-FFF2-40B4-BE49-F238E27FC236}">
                <a16:creationId xmlns:a16="http://schemas.microsoft.com/office/drawing/2014/main" id="{5211301A-5A11-4B92-87FB-9B7C902F8DDC}"/>
              </a:ext>
            </a:extLst>
          </p:cNvPr>
          <p:cNvSpPr>
            <a:spLocks xmlns:a="http://schemas.openxmlformats.org/drawingml/2006/main" noGrp="1"/>
          </p:cNvSpPr>
          <p:nvPr/>
        </p:nvSpPr>
        <p:spPr>
          <a:xfrm xmlns:a="http://schemas.openxmlformats.org/drawingml/2006/main">
            <a:off x="4876800" y="2857500"/>
            <a:ext cx="24098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Memory</a:t>
            </a:r>
          </a:p>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difference</a:t>
            </a:r>
          </a:p>
        </p:txBody>
      </p:sp>
      <p:sp>
        <p:nvSpPr>
          <p:cNvPr id="16" name="">
            <a:extLst xmlns:a="http://schemas.openxmlformats.org/drawingml/2006/main">
              <a:ext uri="{FF2B5EF4-FFF2-40B4-BE49-F238E27FC236}">
                <a16:creationId xmlns:a16="http://schemas.microsoft.com/office/drawing/2014/main" id="{BA818A15-F6DB-49D8-A59E-8544FFA9DA0F}"/>
              </a:ext>
            </a:extLst>
          </p:cNvPr>
          <p:cNvSpPr>
            <a:spLocks xmlns:a="http://schemas.openxmlformats.org/drawingml/2006/main" noGrp="1"/>
          </p:cNvSpPr>
          <p:nvPr/>
        </p:nvSpPr>
        <p:spPr>
          <a:xfrm xmlns:a="http://schemas.openxmlformats.org/drawingml/2006/main">
            <a:off x="6057900" y="3810000"/>
            <a:ext cx="38100" cy="20955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569B4B2-ADE0-4990-8BB9-4B382696EA28}"/>
              </a:ext>
            </a:extLst>
          </p:cNvPr>
          <p:cNvSpPr>
            <a:spLocks xmlns:a="http://schemas.openxmlformats.org/drawingml/2006/main" noGrp="1"/>
          </p:cNvSpPr>
          <p:nvPr/>
        </p:nvSpPr>
        <p:spPr>
          <a:xfrm xmlns:a="http://schemas.openxmlformats.org/drawingml/2006/main">
            <a:off x="609600" y="4314825"/>
            <a:ext cx="4476750" cy="8667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8" name="">
            <a:extLst xmlns:a="http://schemas.openxmlformats.org/drawingml/2006/main">
              <a:ext uri="{FF2B5EF4-FFF2-40B4-BE49-F238E27FC236}">
                <a16:creationId xmlns:a16="http://schemas.microsoft.com/office/drawing/2014/main" id="{57F46946-4023-42A8-A425-3360E02B26F2}"/>
              </a:ext>
            </a:extLst>
          </p:cNvPr>
          <p:cNvSpPr>
            <a:spLocks xmlns:a="http://schemas.openxmlformats.org/drawingml/2006/main" noGrp="1"/>
          </p:cNvSpPr>
          <p:nvPr/>
        </p:nvSpPr>
        <p:spPr>
          <a:xfrm xmlns:a="http://schemas.openxmlformats.org/drawingml/2006/main">
            <a:off x="723900" y="4429125"/>
            <a:ext cx="4248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Aligned entropy candidates</a:t>
            </a:r>
          </a:p>
        </p:txBody>
      </p:sp>
      <p:sp>
        <p:nvSpPr>
          <p:cNvPr id="19" name="">
            <a:extLst xmlns:a="http://schemas.openxmlformats.org/drawingml/2006/main">
              <a:ext uri="{FF2B5EF4-FFF2-40B4-BE49-F238E27FC236}">
                <a16:creationId xmlns:a16="http://schemas.microsoft.com/office/drawing/2014/main" id="{ABB63A6F-AC46-4E57-8C2C-D07B0B7DDDCD}"/>
              </a:ext>
            </a:extLst>
          </p:cNvPr>
          <p:cNvSpPr>
            <a:spLocks xmlns:a="http://schemas.openxmlformats.org/drawingml/2006/main" noGrp="1"/>
          </p:cNvSpPr>
          <p:nvPr/>
        </p:nvSpPr>
        <p:spPr>
          <a:xfrm xmlns:a="http://schemas.openxmlformats.org/drawingml/2006/main">
            <a:off x="6791325" y="4314825"/>
            <a:ext cx="4791075" cy="8667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0" name="">
            <a:extLst xmlns:a="http://schemas.openxmlformats.org/drawingml/2006/main">
              <a:ext uri="{FF2B5EF4-FFF2-40B4-BE49-F238E27FC236}">
                <a16:creationId xmlns:a16="http://schemas.microsoft.com/office/drawing/2014/main" id="{7EEE4710-39C8-4828-B4FD-343ABFC5A12B}"/>
              </a:ext>
            </a:extLst>
          </p:cNvPr>
          <p:cNvSpPr>
            <a:spLocks xmlns:a="http://schemas.openxmlformats.org/drawingml/2006/main" noGrp="1"/>
          </p:cNvSpPr>
          <p:nvPr/>
        </p:nvSpPr>
        <p:spPr>
          <a:xfrm xmlns:a="http://schemas.openxmlformats.org/drawingml/2006/main">
            <a:off x="6905625" y="4429125"/>
            <a:ext cx="4562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Patched TShark + PCAP</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Test and decrypt</a:t>
            </a:r>
          </a:p>
        </p:txBody>
      </p:sp>
      <p:sp>
        <p:nvSpPr>
          <p:cNvPr id="21" name="">
            <a:extLst xmlns:a="http://schemas.openxmlformats.org/drawingml/2006/main">
              <a:ext uri="{FF2B5EF4-FFF2-40B4-BE49-F238E27FC236}">
                <a16:creationId xmlns:a16="http://schemas.microsoft.com/office/drawing/2014/main" id="{B25043D6-3955-4F48-ACAE-5AB7F5428942}"/>
              </a:ext>
            </a:extLst>
          </p:cNvPr>
          <p:cNvSpPr>
            <a:spLocks xmlns:a="http://schemas.openxmlformats.org/drawingml/2006/main" noGrp="1"/>
          </p:cNvSpPr>
          <p:nvPr/>
        </p:nvSpPr>
        <p:spPr>
          <a:xfrm xmlns:a="http://schemas.openxmlformats.org/drawingml/2006/main">
            <a:off x="2857500" y="4000500"/>
            <a:ext cx="3219450"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3F26E1C-92F6-491C-BCEA-62BC0A2F8C7A}"/>
              </a:ext>
            </a:extLst>
          </p:cNvPr>
          <p:cNvSpPr>
            <a:spLocks xmlns:a="http://schemas.openxmlformats.org/drawingml/2006/main" noGrp="1"/>
          </p:cNvSpPr>
          <p:nvPr/>
        </p:nvSpPr>
        <p:spPr>
          <a:xfrm xmlns:a="http://schemas.openxmlformats.org/drawingml/2006/main">
            <a:off x="2838450" y="4019550"/>
            <a:ext cx="38100" cy="257175"/>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BFBC93E-FEF2-4F34-8F6A-44FD1A7C5595}"/>
              </a:ext>
            </a:extLst>
          </p:cNvPr>
          <p:cNvSpPr>
            <a:spLocks xmlns:a="http://schemas.openxmlformats.org/drawingml/2006/main" noGrp="1"/>
          </p:cNvSpPr>
          <p:nvPr/>
        </p:nvSpPr>
        <p:spPr>
          <a:xfrm xmlns:a="http://schemas.openxmlformats.org/drawingml/2006/main">
            <a:off x="2771775" y="4105275"/>
            <a:ext cx="171450" cy="190500"/>
          </a:xfrm>
          <a:prstGeom xmlns:a="http://schemas.openxmlformats.org/drawingml/2006/main" prst="downArrow">
            <a:avLst/>
          </a:prstGeom>
          <a:solidFill xmlns:a="http://schemas.openxmlformats.org/drawingml/2006/main">
            <a:srgbClr val="007F7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F0A6CF8-65D6-4270-833F-4F316C1E7766}"/>
              </a:ext>
            </a:extLst>
          </p:cNvPr>
          <p:cNvSpPr>
            <a:spLocks xmlns:a="http://schemas.openxmlformats.org/drawingml/2006/main" noGrp="1"/>
          </p:cNvSpPr>
          <p:nvPr/>
        </p:nvSpPr>
        <p:spPr>
          <a:xfrm xmlns:a="http://schemas.openxmlformats.org/drawingml/2006/main">
            <a:off x="5143500" y="4724400"/>
            <a:ext cx="157162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A7C680C-0AAC-47BA-BBD0-76E89D9BC669}"/>
              </a:ext>
            </a:extLst>
          </p:cNvPr>
          <p:cNvSpPr>
            <a:spLocks xmlns:a="http://schemas.openxmlformats.org/drawingml/2006/main" noGrp="1"/>
          </p:cNvSpPr>
          <p:nvPr/>
        </p:nvSpPr>
        <p:spPr>
          <a:xfrm xmlns:a="http://schemas.openxmlformats.org/drawingml/2006/main">
            <a:off x="6543675" y="465772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173AAD2-525B-401C-B113-4DDE54A22774}"/>
              </a:ext>
            </a:extLst>
          </p:cNvPr>
          <p:cNvSpPr>
            <a:spLocks xmlns:a="http://schemas.openxmlformats.org/drawingml/2006/main" noGrp="1"/>
          </p:cNvSpPr>
          <p:nvPr/>
        </p:nvSpPr>
        <p:spPr>
          <a:xfrm xmlns:a="http://schemas.openxmlformats.org/drawingml/2006/main">
            <a:off x="609600" y="568642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75B17"/>
                </a:solidFill>
                <a:latin typeface="Arial"/>
                <a:ea typeface="Arial"/>
                <a:cs typeface="Arial"/>
              </a:defRPr>
            </a:pPr>
            <a:r>
              <a:rPr sz="1875" b="1">
                <a:solidFill>
                  <a:srgbClr val="A75B17"/>
                </a:solidFill>
                <a:latin typeface="Arial"/>
                <a:ea typeface="Arial"/>
                <a:cs typeface="Arial"/>
              </a:rPr>
              <a:t>Our comparison uses only its full-snapshot baseline. The full method needs richer inputs.</a:t>
            </a:r>
          </a:p>
        </p:txBody>
      </p:sp>
    </p:spTree>
    <p:extLst>
      <p:ext uri="{BB962C8B-B14F-4D97-AF65-F5344CB8AC3E}">
        <p14:creationId xmlns:p14="http://schemas.microsoft.com/office/powerpoint/2010/main" val="1647208090"/>
      </p:ext>
    </p:extLst>
  </p:cSld>
</p:sld>
</file>

<file path=ppt/slides/slide1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FDFD11F-F9DF-4CA3-931B-C25BAEA66042}"/>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How the papers shaped our approach</a:t>
            </a:r>
          </a:p>
        </p:txBody>
      </p:sp>
      <p:sp>
        <p:nvSpPr>
          <p:cNvPr id="2" name="">
            <a:extLst xmlns:a="http://schemas.openxmlformats.org/drawingml/2006/main">
              <a:ext uri="{FF2B5EF4-FFF2-40B4-BE49-F238E27FC236}">
                <a16:creationId xmlns:a16="http://schemas.microsoft.com/office/drawing/2014/main" id="{2C334CB8-9F3B-49C7-941E-3AEDC4EE2A7D}"/>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C43B2E79-6F40-4963-BAC9-9280D92B426D}"/>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EB23E614-13F0-4717-BBB1-66FA79E3A5FA}"/>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Published mechanisms remain attributed to their original authors</a:t>
            </a:r>
          </a:p>
        </p:txBody>
      </p:sp>
      <p:sp>
        <p:nvSpPr>
          <p:cNvPr id="5" name="">
            <a:extLst xmlns:a="http://schemas.openxmlformats.org/drawingml/2006/main">
              <a:ext uri="{FF2B5EF4-FFF2-40B4-BE49-F238E27FC236}">
                <a16:creationId xmlns:a16="http://schemas.microsoft.com/office/drawing/2014/main" id="{B877DA88-EE05-4A9C-B07B-3ADB105D4250}"/>
              </a:ext>
            </a:extLst>
          </p:cNvPr>
          <p:cNvSpPr>
            <a:spLocks xmlns:a="http://schemas.openxmlformats.org/drawingml/2006/main" noGrp="1"/>
          </p:cNvSpPr>
          <p:nvPr/>
        </p:nvSpPr>
        <p:spPr>
          <a:xfrm xmlns:a="http://schemas.openxmlformats.org/drawingml/2006/main">
            <a:off x="609600" y="2057400"/>
            <a:ext cx="3238500" cy="8572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6" name="">
            <a:extLst xmlns:a="http://schemas.openxmlformats.org/drawingml/2006/main">
              <a:ext uri="{FF2B5EF4-FFF2-40B4-BE49-F238E27FC236}">
                <a16:creationId xmlns:a16="http://schemas.microsoft.com/office/drawing/2014/main" id="{68A7BCAA-C566-4AA6-BBC9-DD5CD5267D98}"/>
              </a:ext>
            </a:extLst>
          </p:cNvPr>
          <p:cNvSpPr>
            <a:spLocks xmlns:a="http://schemas.openxmlformats.org/drawingml/2006/main" noGrp="1"/>
          </p:cNvSpPr>
          <p:nvPr/>
        </p:nvSpPr>
        <p:spPr>
          <a:xfrm xmlns:a="http://schemas.openxmlformats.org/drawingml/2006/main">
            <a:off x="723900" y="2171700"/>
            <a:ext cx="3009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TLSKeyHunter</a:t>
            </a:r>
          </a:p>
        </p:txBody>
      </p:sp>
      <p:sp>
        <p:nvSpPr>
          <p:cNvPr id="7" name="">
            <a:extLst xmlns:a="http://schemas.openxmlformats.org/drawingml/2006/main">
              <a:ext uri="{FF2B5EF4-FFF2-40B4-BE49-F238E27FC236}">
                <a16:creationId xmlns:a16="http://schemas.microsoft.com/office/drawing/2014/main" id="{B000CFD4-5099-4335-BEAA-CB74B0F8EF9C}"/>
              </a:ext>
            </a:extLst>
          </p:cNvPr>
          <p:cNvSpPr>
            <a:spLocks xmlns:a="http://schemas.openxmlformats.org/drawingml/2006/main" noGrp="1"/>
          </p:cNvSpPr>
          <p:nvPr/>
        </p:nvSpPr>
        <p:spPr>
          <a:xfrm xmlns:a="http://schemas.openxmlformats.org/drawingml/2006/main">
            <a:off x="3924300" y="2466975"/>
            <a:ext cx="6000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F084D0A-9931-4F15-8FAF-29A86AA4EA27}"/>
              </a:ext>
            </a:extLst>
          </p:cNvPr>
          <p:cNvSpPr>
            <a:spLocks xmlns:a="http://schemas.openxmlformats.org/drawingml/2006/main" noGrp="1"/>
          </p:cNvSpPr>
          <p:nvPr/>
        </p:nvSpPr>
        <p:spPr>
          <a:xfrm xmlns:a="http://schemas.openxmlformats.org/drawingml/2006/main">
            <a:off x="4352925" y="240030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C625691-ABB0-46CA-97B3-E40EB0C6C268}"/>
              </a:ext>
            </a:extLst>
          </p:cNvPr>
          <p:cNvSpPr>
            <a:spLocks xmlns:a="http://schemas.openxmlformats.org/drawingml/2006/main" noGrp="1"/>
          </p:cNvSpPr>
          <p:nvPr/>
        </p:nvSpPr>
        <p:spPr>
          <a:xfrm xmlns:a="http://schemas.openxmlformats.org/drawingml/2006/main">
            <a:off x="4686300" y="2152650"/>
            <a:ext cx="6896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3E"/>
                </a:solidFill>
                <a:latin typeface="Arial"/>
                <a:ea typeface="Arial"/>
                <a:cs typeface="Arial"/>
              </a:defRPr>
            </a:pPr>
            <a:r>
              <a:rPr sz="2175" b="0">
                <a:solidFill>
                  <a:srgbClr val="142E3E"/>
                </a:solidFill>
                <a:latin typeface="Arial"/>
                <a:ea typeface="Arial"/>
                <a:cs typeface="Arial"/>
              </a:rPr>
              <a:t>Project provenance and derived-secret extraction</a:t>
            </a:r>
          </a:p>
        </p:txBody>
      </p:sp>
      <p:sp>
        <p:nvSpPr>
          <p:cNvPr id="10" name="">
            <a:extLst xmlns:a="http://schemas.openxmlformats.org/drawingml/2006/main">
              <a:ext uri="{FF2B5EF4-FFF2-40B4-BE49-F238E27FC236}">
                <a16:creationId xmlns:a16="http://schemas.microsoft.com/office/drawing/2014/main" id="{47E59615-AF96-4DD9-B6E5-8F8F0E65CFA5}"/>
              </a:ext>
            </a:extLst>
          </p:cNvPr>
          <p:cNvSpPr>
            <a:spLocks xmlns:a="http://schemas.openxmlformats.org/drawingml/2006/main" noGrp="1"/>
          </p:cNvSpPr>
          <p:nvPr/>
        </p:nvSpPr>
        <p:spPr>
          <a:xfrm xmlns:a="http://schemas.openxmlformats.org/drawingml/2006/main">
            <a:off x="609600" y="3200400"/>
            <a:ext cx="3238500" cy="857250"/>
          </a:xfrm>
          <a:prstGeom xmlns:a="http://schemas.openxmlformats.org/drawingml/2006/main" prst="rect">
            <a:avLst/>
          </a:prstGeom>
          <a:solidFill xmlns:a="http://schemas.openxmlformats.org/drawingml/2006/main">
            <a:srgbClr val="E1EFEC"/>
          </a:solidFill>
          <a:ln xmlns:a="http://schemas.openxmlformats.org/drawingml/2006/main" w="28575">
            <a:solidFill>
              <a:srgbClr val="A75B17"/>
            </a:solidFill>
          </a:ln>
        </p:spPr>
      </p:sp>
      <p:sp>
        <p:nvSpPr>
          <p:cNvPr id="11" name="">
            <a:extLst xmlns:a="http://schemas.openxmlformats.org/drawingml/2006/main">
              <a:ext uri="{FF2B5EF4-FFF2-40B4-BE49-F238E27FC236}">
                <a16:creationId xmlns:a16="http://schemas.microsoft.com/office/drawing/2014/main" id="{43A6079F-594E-4C89-AAFD-1901218A1B10}"/>
              </a:ext>
            </a:extLst>
          </p:cNvPr>
          <p:cNvSpPr>
            <a:spLocks xmlns:a="http://schemas.openxmlformats.org/drawingml/2006/main" noGrp="1"/>
          </p:cNvSpPr>
          <p:nvPr/>
        </p:nvSpPr>
        <p:spPr>
          <a:xfrm xmlns:a="http://schemas.openxmlformats.org/drawingml/2006/main">
            <a:off x="723900" y="3314700"/>
            <a:ext cx="3009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75B17"/>
                </a:solidFill>
                <a:latin typeface="Arial"/>
                <a:ea typeface="Arial"/>
                <a:cs typeface="Arial"/>
              </a:defRPr>
            </a:pPr>
            <a:r>
              <a:rPr sz="2175" b="1">
                <a:solidFill>
                  <a:srgbClr val="A75B17"/>
                </a:solidFill>
                <a:latin typeface="Arial"/>
                <a:ea typeface="Arial"/>
                <a:cs typeface="Arial"/>
              </a:rPr>
              <a:t>Keys in Flux</a:t>
            </a:r>
          </a:p>
        </p:txBody>
      </p:sp>
      <p:sp>
        <p:nvSpPr>
          <p:cNvPr id="12" name="">
            <a:extLst xmlns:a="http://schemas.openxmlformats.org/drawingml/2006/main">
              <a:ext uri="{FF2B5EF4-FFF2-40B4-BE49-F238E27FC236}">
                <a16:creationId xmlns:a16="http://schemas.microsoft.com/office/drawing/2014/main" id="{0A7E1509-D876-499B-9B0D-FCF103FAA597}"/>
              </a:ext>
            </a:extLst>
          </p:cNvPr>
          <p:cNvSpPr>
            <a:spLocks xmlns:a="http://schemas.openxmlformats.org/drawingml/2006/main" noGrp="1"/>
          </p:cNvSpPr>
          <p:nvPr/>
        </p:nvSpPr>
        <p:spPr>
          <a:xfrm xmlns:a="http://schemas.openxmlformats.org/drawingml/2006/main">
            <a:off x="3924300" y="3609975"/>
            <a:ext cx="6000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3A86A2D-0115-40BC-9ADB-DD7EA6E05D2B}"/>
              </a:ext>
            </a:extLst>
          </p:cNvPr>
          <p:cNvSpPr>
            <a:spLocks xmlns:a="http://schemas.openxmlformats.org/drawingml/2006/main" noGrp="1"/>
          </p:cNvSpPr>
          <p:nvPr/>
        </p:nvSpPr>
        <p:spPr>
          <a:xfrm xmlns:a="http://schemas.openxmlformats.org/drawingml/2006/main">
            <a:off x="4352925" y="354330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0DC6583-F17C-47FA-96E3-65B4E3042448}"/>
              </a:ext>
            </a:extLst>
          </p:cNvPr>
          <p:cNvSpPr>
            <a:spLocks xmlns:a="http://schemas.openxmlformats.org/drawingml/2006/main" noGrp="1"/>
          </p:cNvSpPr>
          <p:nvPr/>
        </p:nvSpPr>
        <p:spPr>
          <a:xfrm xmlns:a="http://schemas.openxmlformats.org/drawingml/2006/main">
            <a:off x="4686300" y="3295650"/>
            <a:ext cx="6896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3E"/>
                </a:solidFill>
                <a:latin typeface="Arial"/>
                <a:ea typeface="Arial"/>
                <a:cs typeface="Arial"/>
              </a:defRPr>
            </a:pPr>
            <a:r>
              <a:rPr sz="2175" b="0">
                <a:solidFill>
                  <a:srgbClr val="142E3E"/>
                </a:solidFill>
                <a:latin typeface="Arial"/>
                <a:ea typeface="Arial"/>
                <a:cs typeface="Arial"/>
              </a:rPr>
              <a:t>Acquisition state and implementation limits</a:t>
            </a:r>
          </a:p>
        </p:txBody>
      </p:sp>
      <p:sp>
        <p:nvSpPr>
          <p:cNvPr id="15" name="">
            <a:extLst xmlns:a="http://schemas.openxmlformats.org/drawingml/2006/main">
              <a:ext uri="{FF2B5EF4-FFF2-40B4-BE49-F238E27FC236}">
                <a16:creationId xmlns:a16="http://schemas.microsoft.com/office/drawing/2014/main" id="{B221CB46-C507-491F-9C78-C27CD18FC28D}"/>
              </a:ext>
            </a:extLst>
          </p:cNvPr>
          <p:cNvSpPr>
            <a:spLocks xmlns:a="http://schemas.openxmlformats.org/drawingml/2006/main" noGrp="1"/>
          </p:cNvSpPr>
          <p:nvPr/>
        </p:nvSpPr>
        <p:spPr>
          <a:xfrm xmlns:a="http://schemas.openxmlformats.org/drawingml/2006/main">
            <a:off x="609600" y="4343400"/>
            <a:ext cx="3238500" cy="8572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6" name="">
            <a:extLst xmlns:a="http://schemas.openxmlformats.org/drawingml/2006/main">
              <a:ext uri="{FF2B5EF4-FFF2-40B4-BE49-F238E27FC236}">
                <a16:creationId xmlns:a16="http://schemas.microsoft.com/office/drawing/2014/main" id="{55AA3A66-1C2E-4395-BD21-CD29B1E5D885}"/>
              </a:ext>
            </a:extLst>
          </p:cNvPr>
          <p:cNvSpPr>
            <a:spLocks xmlns:a="http://schemas.openxmlformats.org/drawingml/2006/main" noGrp="1"/>
          </p:cNvSpPr>
          <p:nvPr/>
        </p:nvSpPr>
        <p:spPr>
          <a:xfrm xmlns:a="http://schemas.openxmlformats.org/drawingml/2006/main">
            <a:off x="723900" y="4457700"/>
            <a:ext cx="3009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X-Ray-TLS</a:t>
            </a:r>
          </a:p>
        </p:txBody>
      </p:sp>
      <p:sp>
        <p:nvSpPr>
          <p:cNvPr id="17" name="">
            <a:extLst xmlns:a="http://schemas.openxmlformats.org/drawingml/2006/main">
              <a:ext uri="{FF2B5EF4-FFF2-40B4-BE49-F238E27FC236}">
                <a16:creationId xmlns:a16="http://schemas.microsoft.com/office/drawing/2014/main" id="{3E1E5104-3672-453E-B9A9-BDA4E9C3B354}"/>
              </a:ext>
            </a:extLst>
          </p:cNvPr>
          <p:cNvSpPr>
            <a:spLocks xmlns:a="http://schemas.openxmlformats.org/drawingml/2006/main" noGrp="1"/>
          </p:cNvSpPr>
          <p:nvPr/>
        </p:nvSpPr>
        <p:spPr>
          <a:xfrm xmlns:a="http://schemas.openxmlformats.org/drawingml/2006/main">
            <a:off x="3924300" y="4752975"/>
            <a:ext cx="6000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EBC6A33-BD40-46D1-8B3B-7696DA20A6E1}"/>
              </a:ext>
            </a:extLst>
          </p:cNvPr>
          <p:cNvSpPr>
            <a:spLocks xmlns:a="http://schemas.openxmlformats.org/drawingml/2006/main" noGrp="1"/>
          </p:cNvSpPr>
          <p:nvPr/>
        </p:nvSpPr>
        <p:spPr>
          <a:xfrm xmlns:a="http://schemas.openxmlformats.org/drawingml/2006/main">
            <a:off x="4352925" y="468630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E9D1291-19E1-4941-853D-FB82829AFBF1}"/>
              </a:ext>
            </a:extLst>
          </p:cNvPr>
          <p:cNvSpPr>
            <a:spLocks xmlns:a="http://schemas.openxmlformats.org/drawingml/2006/main" noGrp="1"/>
          </p:cNvSpPr>
          <p:nvPr/>
        </p:nvSpPr>
        <p:spPr>
          <a:xfrm xmlns:a="http://schemas.openxmlformats.org/drawingml/2006/main">
            <a:off x="4686300" y="4438650"/>
            <a:ext cx="6896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3E"/>
                </a:solidFill>
                <a:latin typeface="Arial"/>
                <a:ea typeface="Arial"/>
                <a:cs typeface="Arial"/>
              </a:defRPr>
            </a:pPr>
            <a:r>
              <a:rPr sz="2175" b="0">
                <a:solidFill>
                  <a:srgbClr val="142E3E"/>
                </a:solidFill>
                <a:latin typeface="Arial"/>
                <a:ea typeface="Arial"/>
                <a:cs typeface="Arial"/>
              </a:rPr>
              <a:t>Search-space reduction and a declared baseline</a:t>
            </a:r>
          </a:p>
        </p:txBody>
      </p:sp>
      <p:sp>
        <p:nvSpPr>
          <p:cNvPr id="20" name="">
            <a:extLst xmlns:a="http://schemas.openxmlformats.org/drawingml/2006/main">
              <a:ext uri="{FF2B5EF4-FFF2-40B4-BE49-F238E27FC236}">
                <a16:creationId xmlns:a16="http://schemas.microsoft.com/office/drawing/2014/main" id="{918D7D44-A5C7-4794-B789-978AD895865F}"/>
              </a:ext>
            </a:extLst>
          </p:cNvPr>
          <p:cNvSpPr>
            <a:spLocks xmlns:a="http://schemas.openxmlformats.org/drawingml/2006/main" noGrp="1"/>
          </p:cNvSpPr>
          <p:nvPr/>
        </p:nvSpPr>
        <p:spPr>
          <a:xfrm xmlns:a="http://schemas.openxmlformats.org/drawingml/2006/main">
            <a:off x="609600" y="569595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Our input contract: one saved core + its traffic + declared build metadata.</a:t>
            </a:r>
          </a:p>
        </p:txBody>
      </p:sp>
    </p:spTree>
    <p:extLst>
      <p:ext uri="{BB962C8B-B14F-4D97-AF65-F5344CB8AC3E}">
        <p14:creationId xmlns:p14="http://schemas.microsoft.com/office/powerpoint/2010/main" val="1015555382"/>
      </p:ext>
    </p:extLst>
  </p:cSld>
</p:sld>
</file>

<file path=ppt/slides/slide1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89B589B-9D4F-43F9-89A6-3AC6E1AC6C05}"/>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Why we did not stop at the broad ideas</a:t>
            </a:r>
          </a:p>
        </p:txBody>
      </p:sp>
      <p:sp>
        <p:nvSpPr>
          <p:cNvPr id="2" name="">
            <a:extLst xmlns:a="http://schemas.openxmlformats.org/drawingml/2006/main">
              <a:ext uri="{FF2B5EF4-FFF2-40B4-BE49-F238E27FC236}">
                <a16:creationId xmlns:a16="http://schemas.microsoft.com/office/drawing/2014/main" id="{E8D8DCE1-77F8-4619-B054-44B0A5B3F8F1}"/>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06DFD7CA-DCA0-452C-B8BA-F544D3D5C47F}"/>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B0026447-4DA5-4782-B6D5-0885A8EEFF2E}"/>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Sources: TLSKeyHunter, X-Ray-TLS, Keys in Flux and prior-work matrix</a:t>
            </a:r>
          </a:p>
        </p:txBody>
      </p:sp>
      <p:sp>
        <p:nvSpPr>
          <p:cNvPr id="5" name="">
            <a:extLst xmlns:a="http://schemas.openxmlformats.org/drawingml/2006/main">
              <a:ext uri="{FF2B5EF4-FFF2-40B4-BE49-F238E27FC236}">
                <a16:creationId xmlns:a16="http://schemas.microsoft.com/office/drawing/2014/main" id="{3E77C7D1-E0DE-4FD3-9EBF-42E9C8A8D3E8}"/>
              </a:ext>
            </a:extLst>
          </p:cNvPr>
          <p:cNvSpPr>
            <a:spLocks xmlns:a="http://schemas.openxmlformats.org/drawingml/2006/main" noGrp="1"/>
          </p:cNvSpPr>
          <p:nvPr/>
        </p:nvSpPr>
        <p:spPr>
          <a:xfrm xmlns:a="http://schemas.openxmlformats.org/drawingml/2006/main">
            <a:off x="609600" y="1866900"/>
            <a:ext cx="5133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E3E"/>
                </a:solidFill>
                <a:latin typeface="Arial"/>
                <a:ea typeface="Arial"/>
                <a:cs typeface="Arial"/>
              </a:defRPr>
            </a:pPr>
            <a:r>
              <a:rPr sz="2100" b="1">
                <a:solidFill>
                  <a:srgbClr val="142E3E"/>
                </a:solidFill>
                <a:latin typeface="Arial"/>
                <a:ea typeface="Arial"/>
                <a:cs typeface="Arial"/>
              </a:rPr>
              <a:t>Route already studied</a:t>
            </a:r>
          </a:p>
        </p:txBody>
      </p:sp>
      <p:sp>
        <p:nvSpPr>
          <p:cNvPr id="6" name="">
            <a:extLst xmlns:a="http://schemas.openxmlformats.org/drawingml/2006/main">
              <a:ext uri="{FF2B5EF4-FFF2-40B4-BE49-F238E27FC236}">
                <a16:creationId xmlns:a16="http://schemas.microsoft.com/office/drawing/2014/main" id="{F17827AE-6B6C-4C8D-B5B8-5D0C964E6EB5}"/>
              </a:ext>
            </a:extLst>
          </p:cNvPr>
          <p:cNvSpPr>
            <a:spLocks xmlns:a="http://schemas.openxmlformats.org/drawingml/2006/main" noGrp="1"/>
          </p:cNvSpPr>
          <p:nvPr/>
        </p:nvSpPr>
        <p:spPr>
          <a:xfrm xmlns:a="http://schemas.openxmlformats.org/drawingml/2006/main">
            <a:off x="6391275" y="1866900"/>
            <a:ext cx="5172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E3E"/>
                </a:solidFill>
                <a:latin typeface="Arial"/>
                <a:ea typeface="Arial"/>
                <a:cs typeface="Arial"/>
              </a:defRPr>
            </a:pPr>
            <a:r>
              <a:rPr sz="2100" b="1">
                <a:solidFill>
                  <a:srgbClr val="142E3E"/>
                </a:solidFill>
                <a:latin typeface="Arial"/>
                <a:ea typeface="Arial"/>
                <a:cs typeface="Arial"/>
              </a:rPr>
              <a:t>Why that changed our direction</a:t>
            </a:r>
          </a:p>
        </p:txBody>
      </p:sp>
      <p:sp>
        <p:nvSpPr>
          <p:cNvPr id="7" name="">
            <a:extLst xmlns:a="http://schemas.openxmlformats.org/drawingml/2006/main">
              <a:ext uri="{FF2B5EF4-FFF2-40B4-BE49-F238E27FC236}">
                <a16:creationId xmlns:a16="http://schemas.microsoft.com/office/drawing/2014/main" id="{C65ADB69-CDD9-4B2C-BD61-58BF549FEC98}"/>
              </a:ext>
            </a:extLst>
          </p:cNvPr>
          <p:cNvSpPr>
            <a:spLocks xmlns:a="http://schemas.openxmlformats.org/drawingml/2006/main" noGrp="1"/>
          </p:cNvSpPr>
          <p:nvPr/>
        </p:nvSpPr>
        <p:spPr>
          <a:xfrm xmlns:a="http://schemas.openxmlformats.org/drawingml/2006/main">
            <a:off x="609600" y="2533650"/>
            <a:ext cx="4705350" cy="8667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8" name="">
            <a:extLst xmlns:a="http://schemas.openxmlformats.org/drawingml/2006/main">
              <a:ext uri="{FF2B5EF4-FFF2-40B4-BE49-F238E27FC236}">
                <a16:creationId xmlns:a16="http://schemas.microsoft.com/office/drawing/2014/main" id="{80DC8884-2D24-450F-9DBB-9931F65A9B11}"/>
              </a:ext>
            </a:extLst>
          </p:cNvPr>
          <p:cNvSpPr>
            <a:spLocks xmlns:a="http://schemas.openxmlformats.org/drawingml/2006/main" noGrp="1"/>
          </p:cNvSpPr>
          <p:nvPr/>
        </p:nvSpPr>
        <p:spPr>
          <a:xfrm xmlns:a="http://schemas.openxmlformats.org/drawingml/2006/main">
            <a:off x="723900" y="2647950"/>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Live interception</a:t>
            </a:r>
          </a:p>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TLSKeyHunter</a:t>
            </a:r>
          </a:p>
        </p:txBody>
      </p:sp>
      <p:sp>
        <p:nvSpPr>
          <p:cNvPr id="9" name="">
            <a:extLst xmlns:a="http://schemas.openxmlformats.org/drawingml/2006/main">
              <a:ext uri="{FF2B5EF4-FFF2-40B4-BE49-F238E27FC236}">
                <a16:creationId xmlns:a16="http://schemas.microsoft.com/office/drawing/2014/main" id="{65B1655A-7F7A-44CF-AF52-1F4850591FEE}"/>
              </a:ext>
            </a:extLst>
          </p:cNvPr>
          <p:cNvSpPr>
            <a:spLocks xmlns:a="http://schemas.openxmlformats.org/drawingml/2006/main" noGrp="1"/>
          </p:cNvSpPr>
          <p:nvPr/>
        </p:nvSpPr>
        <p:spPr>
          <a:xfrm xmlns:a="http://schemas.openxmlformats.org/drawingml/2006/main">
            <a:off x="5343525" y="2933700"/>
            <a:ext cx="800100"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432988A-1594-47D6-8406-2C14A63B6545}"/>
              </a:ext>
            </a:extLst>
          </p:cNvPr>
          <p:cNvSpPr>
            <a:spLocks xmlns:a="http://schemas.openxmlformats.org/drawingml/2006/main" noGrp="1"/>
          </p:cNvSpPr>
          <p:nvPr/>
        </p:nvSpPr>
        <p:spPr>
          <a:xfrm xmlns:a="http://schemas.openxmlformats.org/drawingml/2006/main">
            <a:off x="5972175" y="286702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6483F77-79A5-4296-BF10-2DCDC523F99C}"/>
              </a:ext>
            </a:extLst>
          </p:cNvPr>
          <p:cNvSpPr>
            <a:spLocks xmlns:a="http://schemas.openxmlformats.org/drawingml/2006/main" noGrp="1"/>
          </p:cNvSpPr>
          <p:nvPr/>
        </p:nvSpPr>
        <p:spPr>
          <a:xfrm xmlns:a="http://schemas.openxmlformats.org/drawingml/2006/main">
            <a:off x="6334125" y="2581275"/>
            <a:ext cx="5257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E3E"/>
                </a:solidFill>
                <a:latin typeface="Arial"/>
                <a:ea typeface="Arial"/>
                <a:cs typeface="Arial"/>
              </a:defRPr>
            </a:pPr>
            <a:r>
              <a:rPr sz="1875" b="0">
                <a:solidFill>
                  <a:srgbClr val="142E3E"/>
                </a:solidFill>
                <a:latin typeface="Arial"/>
                <a:ea typeface="Arial"/>
                <a:cs typeface="Arial"/>
              </a:rPr>
              <a:t>Hooking derivation functions already works.</a:t>
            </a:r>
          </a:p>
          <a:p xmlns:a="http://schemas.openxmlformats.org/drawingml/2006/main">
            <a:pPr>
              <a:defRPr sz="1875" b="0">
                <a:solidFill>
                  <a:srgbClr val="142E3E"/>
                </a:solidFill>
                <a:latin typeface="Arial"/>
                <a:ea typeface="Arial"/>
                <a:cs typeface="Arial"/>
              </a:defRPr>
            </a:pPr>
            <a:r>
              <a:rPr sz="1875" b="0">
                <a:solidFill>
                  <a:srgbClr val="142E3E"/>
                </a:solidFill>
                <a:latin typeface="Arial"/>
                <a:ea typeface="Arial"/>
                <a:cs typeface="Arial"/>
              </a:rPr>
              <a:t>We chose recovery after memory is saved.</a:t>
            </a:r>
          </a:p>
        </p:txBody>
      </p:sp>
      <p:sp>
        <p:nvSpPr>
          <p:cNvPr id="12" name="">
            <a:extLst xmlns:a="http://schemas.openxmlformats.org/drawingml/2006/main">
              <a:ext uri="{FF2B5EF4-FFF2-40B4-BE49-F238E27FC236}">
                <a16:creationId xmlns:a16="http://schemas.microsoft.com/office/drawing/2014/main" id="{45719C9E-DA7B-43A4-8E5B-E66BF8D08380}"/>
              </a:ext>
            </a:extLst>
          </p:cNvPr>
          <p:cNvSpPr>
            <a:spLocks xmlns:a="http://schemas.openxmlformats.org/drawingml/2006/main" noGrp="1"/>
          </p:cNvSpPr>
          <p:nvPr/>
        </p:nvSpPr>
        <p:spPr>
          <a:xfrm xmlns:a="http://schemas.openxmlformats.org/drawingml/2006/main">
            <a:off x="609600" y="3590925"/>
            <a:ext cx="4705350" cy="8667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3" name="">
            <a:extLst xmlns:a="http://schemas.openxmlformats.org/drawingml/2006/main">
              <a:ext uri="{FF2B5EF4-FFF2-40B4-BE49-F238E27FC236}">
                <a16:creationId xmlns:a16="http://schemas.microsoft.com/office/drawing/2014/main" id="{4C9CC49A-2E21-40CC-89BF-EA00AD039366}"/>
              </a:ext>
            </a:extLst>
          </p:cNvPr>
          <p:cNvSpPr>
            <a:spLocks xmlns:a="http://schemas.openxmlformats.org/drawingml/2006/main" noGrp="1"/>
          </p:cNvSpPr>
          <p:nvPr/>
        </p:nvSpPr>
        <p:spPr>
          <a:xfrm xmlns:a="http://schemas.openxmlformats.org/drawingml/2006/main">
            <a:off x="723900" y="3705225"/>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Before/after memory changes</a:t>
            </a:r>
          </a:p>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X-Ray-TLS</a:t>
            </a:r>
          </a:p>
        </p:txBody>
      </p:sp>
      <p:sp>
        <p:nvSpPr>
          <p:cNvPr id="14" name="">
            <a:extLst xmlns:a="http://schemas.openxmlformats.org/drawingml/2006/main">
              <a:ext uri="{FF2B5EF4-FFF2-40B4-BE49-F238E27FC236}">
                <a16:creationId xmlns:a16="http://schemas.microsoft.com/office/drawing/2014/main" id="{E1C924F8-63EA-4773-9C23-3EC09624E55F}"/>
              </a:ext>
            </a:extLst>
          </p:cNvPr>
          <p:cNvSpPr>
            <a:spLocks xmlns:a="http://schemas.openxmlformats.org/drawingml/2006/main" noGrp="1"/>
          </p:cNvSpPr>
          <p:nvPr/>
        </p:nvSpPr>
        <p:spPr>
          <a:xfrm xmlns:a="http://schemas.openxmlformats.org/drawingml/2006/main">
            <a:off x="5343525" y="3990975"/>
            <a:ext cx="800100"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67B423A-36D3-4E5D-B02D-8D807115B916}"/>
              </a:ext>
            </a:extLst>
          </p:cNvPr>
          <p:cNvSpPr>
            <a:spLocks xmlns:a="http://schemas.openxmlformats.org/drawingml/2006/main" noGrp="1"/>
          </p:cNvSpPr>
          <p:nvPr/>
        </p:nvSpPr>
        <p:spPr>
          <a:xfrm xmlns:a="http://schemas.openxmlformats.org/drawingml/2006/main">
            <a:off x="5972175" y="392430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DD20FD9-33D4-49C1-B3CC-D6B5DAF0F98D}"/>
              </a:ext>
            </a:extLst>
          </p:cNvPr>
          <p:cNvSpPr>
            <a:spLocks xmlns:a="http://schemas.openxmlformats.org/drawingml/2006/main" noGrp="1"/>
          </p:cNvSpPr>
          <p:nvPr/>
        </p:nvSpPr>
        <p:spPr>
          <a:xfrm xmlns:a="http://schemas.openxmlformats.org/drawingml/2006/main">
            <a:off x="6334125" y="3638550"/>
            <a:ext cx="5257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E3E"/>
                </a:solidFill>
                <a:latin typeface="Arial"/>
                <a:ea typeface="Arial"/>
                <a:cs typeface="Arial"/>
              </a:defRPr>
            </a:pPr>
            <a:r>
              <a:rPr sz="1875" b="0">
                <a:solidFill>
                  <a:srgbClr val="142E3E"/>
                </a:solidFill>
                <a:latin typeface="Arial"/>
                <a:ea typeface="Arial"/>
                <a:cs typeface="Arial"/>
              </a:rPr>
              <a:t>Timed snapshots already support recovery.</a:t>
            </a:r>
          </a:p>
          <a:p xmlns:a="http://schemas.openxmlformats.org/drawingml/2006/main">
            <a:pPr>
              <a:defRPr sz="1875" b="0">
                <a:solidFill>
                  <a:srgbClr val="142E3E"/>
                </a:solidFill>
                <a:latin typeface="Arial"/>
                <a:ea typeface="Arial"/>
                <a:cs typeface="Arial"/>
              </a:defRPr>
            </a:pPr>
            <a:r>
              <a:rPr sz="1875" b="0">
                <a:solidFill>
                  <a:srgbClr val="142E3E"/>
                </a:solidFill>
                <a:latin typeface="Arial"/>
                <a:ea typeface="Arial"/>
                <a:cs typeface="Arial"/>
              </a:rPr>
              <a:t>Our input has one saved image.</a:t>
            </a:r>
          </a:p>
        </p:txBody>
      </p:sp>
      <p:sp>
        <p:nvSpPr>
          <p:cNvPr id="17" name="">
            <a:extLst xmlns:a="http://schemas.openxmlformats.org/drawingml/2006/main">
              <a:ext uri="{FF2B5EF4-FFF2-40B4-BE49-F238E27FC236}">
                <a16:creationId xmlns:a16="http://schemas.microsoft.com/office/drawing/2014/main" id="{E4D66F7A-776D-4F55-B804-AC7C2F55EFD9}"/>
              </a:ext>
            </a:extLst>
          </p:cNvPr>
          <p:cNvSpPr>
            <a:spLocks xmlns:a="http://schemas.openxmlformats.org/drawingml/2006/main" noGrp="1"/>
          </p:cNvSpPr>
          <p:nvPr/>
        </p:nvSpPr>
        <p:spPr>
          <a:xfrm xmlns:a="http://schemas.openxmlformats.org/drawingml/2006/main">
            <a:off x="609600" y="4648200"/>
            <a:ext cx="4705350" cy="8667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8" name="">
            <a:extLst xmlns:a="http://schemas.openxmlformats.org/drawingml/2006/main">
              <a:ext uri="{FF2B5EF4-FFF2-40B4-BE49-F238E27FC236}">
                <a16:creationId xmlns:a16="http://schemas.microsoft.com/office/drawing/2014/main" id="{53C6D34D-808E-4069-86E9-1BC6DA1C83F9}"/>
              </a:ext>
            </a:extLst>
          </p:cNvPr>
          <p:cNvSpPr>
            <a:spLocks xmlns:a="http://schemas.openxmlformats.org/drawingml/2006/main" noGrp="1"/>
          </p:cNvSpPr>
          <p:nvPr/>
        </p:nvSpPr>
        <p:spPr>
          <a:xfrm xmlns:a="http://schemas.openxmlformats.org/drawingml/2006/main">
            <a:off x="723900" y="4762500"/>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How long secrets remain</a:t>
            </a:r>
          </a:p>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Keys in Flux</a:t>
            </a:r>
          </a:p>
        </p:txBody>
      </p:sp>
      <p:sp>
        <p:nvSpPr>
          <p:cNvPr id="19" name="">
            <a:extLst xmlns:a="http://schemas.openxmlformats.org/drawingml/2006/main">
              <a:ext uri="{FF2B5EF4-FFF2-40B4-BE49-F238E27FC236}">
                <a16:creationId xmlns:a16="http://schemas.microsoft.com/office/drawing/2014/main" id="{147DBBE0-B2BD-4BC2-9170-A62437223538}"/>
              </a:ext>
            </a:extLst>
          </p:cNvPr>
          <p:cNvSpPr>
            <a:spLocks xmlns:a="http://schemas.openxmlformats.org/drawingml/2006/main" noGrp="1"/>
          </p:cNvSpPr>
          <p:nvPr/>
        </p:nvSpPr>
        <p:spPr>
          <a:xfrm xmlns:a="http://schemas.openxmlformats.org/drawingml/2006/main">
            <a:off x="5343525" y="5048250"/>
            <a:ext cx="800100"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25D9D8B-660A-467F-BA84-503C052368C5}"/>
              </a:ext>
            </a:extLst>
          </p:cNvPr>
          <p:cNvSpPr>
            <a:spLocks xmlns:a="http://schemas.openxmlformats.org/drawingml/2006/main" noGrp="1"/>
          </p:cNvSpPr>
          <p:nvPr/>
        </p:nvSpPr>
        <p:spPr>
          <a:xfrm xmlns:a="http://schemas.openxmlformats.org/drawingml/2006/main">
            <a:off x="5972175" y="498157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CCE1A11-2F83-4D2D-9E80-0B7C1AD6407C}"/>
              </a:ext>
            </a:extLst>
          </p:cNvPr>
          <p:cNvSpPr>
            <a:spLocks xmlns:a="http://schemas.openxmlformats.org/drawingml/2006/main" noGrp="1"/>
          </p:cNvSpPr>
          <p:nvPr/>
        </p:nvSpPr>
        <p:spPr>
          <a:xfrm xmlns:a="http://schemas.openxmlformats.org/drawingml/2006/main">
            <a:off x="6334125" y="4695825"/>
            <a:ext cx="5257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E3E"/>
                </a:solidFill>
                <a:latin typeface="Arial"/>
                <a:ea typeface="Arial"/>
                <a:cs typeface="Arial"/>
              </a:defRPr>
            </a:pPr>
            <a:r>
              <a:rPr sz="1875" b="0">
                <a:solidFill>
                  <a:srgbClr val="142E3E"/>
                </a:solidFill>
                <a:latin typeface="Arial"/>
                <a:ea typeface="Arial"/>
                <a:cs typeface="Arial"/>
              </a:rPr>
              <a:t>State-based lifetime studies already exist.</a:t>
            </a:r>
          </a:p>
          <a:p xmlns:a="http://schemas.openxmlformats.org/drawingml/2006/main">
            <a:pPr>
              <a:defRPr sz="1875" b="0">
                <a:solidFill>
                  <a:srgbClr val="142E3E"/>
                </a:solidFill>
                <a:latin typeface="Arial"/>
                <a:ea typeface="Arial"/>
                <a:cs typeface="Arial"/>
              </a:defRPr>
            </a:pPr>
            <a:r>
              <a:rPr sz="1875" b="0">
                <a:solidFill>
                  <a:srgbClr val="142E3E"/>
                </a:solidFill>
                <a:latin typeface="Arial"/>
                <a:ea typeface="Arial"/>
                <a:cs typeface="Arial"/>
              </a:rPr>
              <a:t>We focused on recovery and assignment.</a:t>
            </a:r>
          </a:p>
        </p:txBody>
      </p:sp>
      <p:sp>
        <p:nvSpPr>
          <p:cNvPr id="22" name="">
            <a:extLst xmlns:a="http://schemas.openxmlformats.org/drawingml/2006/main">
              <a:ext uri="{FF2B5EF4-FFF2-40B4-BE49-F238E27FC236}">
                <a16:creationId xmlns:a16="http://schemas.microsoft.com/office/drawing/2014/main" id="{E215126E-B460-43BA-8FD7-0B8522188F57}"/>
              </a:ext>
            </a:extLst>
          </p:cNvPr>
          <p:cNvSpPr>
            <a:spLocks xmlns:a="http://schemas.openxmlformats.org/drawingml/2006/main" noGrp="1"/>
          </p:cNvSpPr>
          <p:nvPr/>
        </p:nvSpPr>
        <p:spPr>
          <a:xfrm xmlns:a="http://schemas.openxmlformats.org/drawingml/2006/main">
            <a:off x="609600" y="581025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75B17"/>
                </a:solidFill>
                <a:latin typeface="Arial"/>
                <a:ea typeface="Arial"/>
                <a:cs typeface="Arial"/>
              </a:defRPr>
            </a:pPr>
            <a:r>
              <a:rPr sz="1875" b="1">
                <a:solidFill>
                  <a:srgbClr val="A75B17"/>
                </a:solidFill>
                <a:latin typeface="Arial"/>
                <a:ea typeface="Arial"/>
                <a:cs typeface="Arial"/>
              </a:rPr>
              <a:t>These routes already exist. Our contribution needs a more specific claim.</a:t>
            </a:r>
          </a:p>
        </p:txBody>
      </p:sp>
    </p:spTree>
    <p:extLst>
      <p:ext uri="{BB962C8B-B14F-4D97-AF65-F5344CB8AC3E}">
        <p14:creationId xmlns:p14="http://schemas.microsoft.com/office/powerpoint/2010/main" val="2144267180"/>
      </p:ext>
    </p:extLst>
  </p:cSld>
</p:sld>
</file>

<file path=ppt/slides/slide1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FF0DEE5-7DC7-4877-B9E0-7D2C62028F6D}"/>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Why the question became narrower</a:t>
            </a:r>
          </a:p>
        </p:txBody>
      </p:sp>
      <p:sp>
        <p:nvSpPr>
          <p:cNvPr id="2" name="">
            <a:extLst xmlns:a="http://schemas.openxmlformats.org/drawingml/2006/main">
              <a:ext uri="{FF2B5EF4-FFF2-40B4-BE49-F238E27FC236}">
                <a16:creationId xmlns:a16="http://schemas.microsoft.com/office/drawing/2014/main" id="{BEA6A8F6-4503-49F4-BA4B-B3E1CE5AE6AA}"/>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70CE6FF2-E656-4442-93C9-1C288F2E6CF6}"/>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12E774C1-1AB9-4222-95E7-33435FC6A866}"/>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Sources: development failures, blind-study limits and validation plan</a:t>
            </a:r>
          </a:p>
        </p:txBody>
      </p:sp>
      <p:sp>
        <p:nvSpPr>
          <p:cNvPr id="5" name="">
            <a:extLst xmlns:a="http://schemas.openxmlformats.org/drawingml/2006/main">
              <a:ext uri="{FF2B5EF4-FFF2-40B4-BE49-F238E27FC236}">
                <a16:creationId xmlns:a16="http://schemas.microsoft.com/office/drawing/2014/main" id="{2A53751A-B655-4941-A507-C566F582D0D3}"/>
              </a:ext>
            </a:extLst>
          </p:cNvPr>
          <p:cNvSpPr>
            <a:spLocks xmlns:a="http://schemas.openxmlformats.org/drawingml/2006/main" noGrp="1"/>
          </p:cNvSpPr>
          <p:nvPr/>
        </p:nvSpPr>
        <p:spPr>
          <a:xfrm xmlns:a="http://schemas.openxmlformats.org/drawingml/2006/main">
            <a:off x="609600" y="2038350"/>
            <a:ext cx="4524375" cy="742950"/>
          </a:xfrm>
          <a:prstGeom xmlns:a="http://schemas.openxmlformats.org/drawingml/2006/main" prst="rect">
            <a:avLst/>
          </a:prstGeom>
          <a:solidFill xmlns:a="http://schemas.openxmlformats.org/drawingml/2006/main">
            <a:srgbClr val="E1EFEC"/>
          </a:solidFill>
          <a:ln xmlns:a="http://schemas.openxmlformats.org/drawingml/2006/main" w="28575">
            <a:solidFill>
              <a:srgbClr val="A75B17"/>
            </a:solidFill>
          </a:ln>
        </p:spPr>
      </p:sp>
      <p:sp>
        <p:nvSpPr>
          <p:cNvPr id="6" name="">
            <a:extLst xmlns:a="http://schemas.openxmlformats.org/drawingml/2006/main">
              <a:ext uri="{FF2B5EF4-FFF2-40B4-BE49-F238E27FC236}">
                <a16:creationId xmlns:a16="http://schemas.microsoft.com/office/drawing/2014/main" id="{E0EA18F2-F168-40AB-99C2-AF2923C18AA6}"/>
              </a:ext>
            </a:extLst>
          </p:cNvPr>
          <p:cNvSpPr>
            <a:spLocks xmlns:a="http://schemas.openxmlformats.org/drawingml/2006/main" noGrp="1"/>
          </p:cNvSpPr>
          <p:nvPr/>
        </p:nvSpPr>
        <p:spPr>
          <a:xfrm xmlns:a="http://schemas.openxmlformats.org/drawingml/2006/main">
            <a:off x="723900" y="2152650"/>
            <a:ext cx="42957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75B17"/>
                </a:solidFill>
                <a:latin typeface="Arial"/>
                <a:ea typeface="Arial"/>
                <a:cs typeface="Arial"/>
              </a:defRPr>
            </a:pPr>
            <a:r>
              <a:rPr sz="1875" b="1">
                <a:solidFill>
                  <a:srgbClr val="A75B17"/>
                </a:solidFill>
                <a:latin typeface="Arial"/>
                <a:ea typeface="Arial"/>
                <a:cs typeface="Arial"/>
              </a:rPr>
              <a:t>Memory scores tied</a:t>
            </a:r>
          </a:p>
        </p:txBody>
      </p:sp>
      <p:sp>
        <p:nvSpPr>
          <p:cNvPr id="7" name="">
            <a:extLst xmlns:a="http://schemas.openxmlformats.org/drawingml/2006/main">
              <a:ext uri="{FF2B5EF4-FFF2-40B4-BE49-F238E27FC236}">
                <a16:creationId xmlns:a16="http://schemas.microsoft.com/office/drawing/2014/main" id="{912EC21E-3EC2-4125-824F-5C5FC4B69B68}"/>
              </a:ext>
            </a:extLst>
          </p:cNvPr>
          <p:cNvSpPr>
            <a:spLocks xmlns:a="http://schemas.openxmlformats.org/drawingml/2006/main" noGrp="1"/>
          </p:cNvSpPr>
          <p:nvPr/>
        </p:nvSpPr>
        <p:spPr>
          <a:xfrm xmlns:a="http://schemas.openxmlformats.org/drawingml/2006/main">
            <a:off x="5172075" y="2390775"/>
            <a:ext cx="600075" cy="38100"/>
          </a:xfrm>
          <a:prstGeom xmlns:a="http://schemas.openxmlformats.org/drawingml/2006/main" prst="rect">
            <a:avLst/>
          </a:prstGeom>
          <a:solidFill xmlns:a="http://schemas.openxmlformats.org/drawingml/2006/main">
            <a:srgbClr val="A75B1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2194955-6DBD-4FD2-A7A8-E25F74D22FB8}"/>
              </a:ext>
            </a:extLst>
          </p:cNvPr>
          <p:cNvSpPr>
            <a:spLocks xmlns:a="http://schemas.openxmlformats.org/drawingml/2006/main" noGrp="1"/>
          </p:cNvSpPr>
          <p:nvPr/>
        </p:nvSpPr>
        <p:spPr>
          <a:xfrm xmlns:a="http://schemas.openxmlformats.org/drawingml/2006/main">
            <a:off x="5600700" y="2324100"/>
            <a:ext cx="190500" cy="171450"/>
          </a:xfrm>
          <a:prstGeom xmlns:a="http://schemas.openxmlformats.org/drawingml/2006/main" prst="rightArrow">
            <a:avLst/>
          </a:prstGeom>
          <a:solidFill xmlns:a="http://schemas.openxmlformats.org/drawingml/2006/main">
            <a:srgbClr val="A75B1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2273ED0-DC0D-4F38-A282-8EC9B6AB5BEF}"/>
              </a:ext>
            </a:extLst>
          </p:cNvPr>
          <p:cNvSpPr>
            <a:spLocks xmlns:a="http://schemas.openxmlformats.org/drawingml/2006/main" noGrp="1"/>
          </p:cNvSpPr>
          <p:nvPr/>
        </p:nvSpPr>
        <p:spPr>
          <a:xfrm xmlns:a="http://schemas.openxmlformats.org/drawingml/2006/main">
            <a:off x="5895975" y="2038350"/>
            <a:ext cx="5686425" cy="7429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0" name="">
            <a:extLst xmlns:a="http://schemas.openxmlformats.org/drawingml/2006/main">
              <a:ext uri="{FF2B5EF4-FFF2-40B4-BE49-F238E27FC236}">
                <a16:creationId xmlns:a16="http://schemas.microsoft.com/office/drawing/2014/main" id="{F012131E-04F1-4FD6-8E8D-845ACBB4B963}"/>
              </a:ext>
            </a:extLst>
          </p:cNvPr>
          <p:cNvSpPr>
            <a:spLocks xmlns:a="http://schemas.openxmlformats.org/drawingml/2006/main" noGrp="1"/>
          </p:cNvSpPr>
          <p:nvPr/>
        </p:nvSpPr>
        <p:spPr>
          <a:xfrm xmlns:a="http://schemas.openxmlformats.org/drawingml/2006/main">
            <a:off x="6010275" y="2152650"/>
            <a:ext cx="54578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Use encrypted traffic to test each candidate</a:t>
            </a:r>
          </a:p>
        </p:txBody>
      </p:sp>
      <p:sp>
        <p:nvSpPr>
          <p:cNvPr id="11" name="">
            <a:extLst xmlns:a="http://schemas.openxmlformats.org/drawingml/2006/main">
              <a:ext uri="{FF2B5EF4-FFF2-40B4-BE49-F238E27FC236}">
                <a16:creationId xmlns:a16="http://schemas.microsoft.com/office/drawing/2014/main" id="{BF7F9DC2-15B2-4D73-AB66-B5582CC18D76}"/>
              </a:ext>
            </a:extLst>
          </p:cNvPr>
          <p:cNvSpPr>
            <a:spLocks xmlns:a="http://schemas.openxmlformats.org/drawingml/2006/main" noGrp="1"/>
          </p:cNvSpPr>
          <p:nvPr/>
        </p:nvSpPr>
        <p:spPr>
          <a:xfrm xmlns:a="http://schemas.openxmlformats.org/drawingml/2006/main">
            <a:off x="609600" y="2971800"/>
            <a:ext cx="4524375" cy="742950"/>
          </a:xfrm>
          <a:prstGeom xmlns:a="http://schemas.openxmlformats.org/drawingml/2006/main" prst="rect">
            <a:avLst/>
          </a:prstGeom>
          <a:solidFill xmlns:a="http://schemas.openxmlformats.org/drawingml/2006/main">
            <a:srgbClr val="E1EFEC"/>
          </a:solidFill>
          <a:ln xmlns:a="http://schemas.openxmlformats.org/drawingml/2006/main" w="28575">
            <a:solidFill>
              <a:srgbClr val="A75B17"/>
            </a:solidFill>
          </a:ln>
        </p:spPr>
      </p:sp>
      <p:sp>
        <p:nvSpPr>
          <p:cNvPr id="12" name="">
            <a:extLst xmlns:a="http://schemas.openxmlformats.org/drawingml/2006/main">
              <a:ext uri="{FF2B5EF4-FFF2-40B4-BE49-F238E27FC236}">
                <a16:creationId xmlns:a16="http://schemas.microsoft.com/office/drawing/2014/main" id="{BC8E46B3-6E74-4C5B-9B98-1E21DD461CF4}"/>
              </a:ext>
            </a:extLst>
          </p:cNvPr>
          <p:cNvSpPr>
            <a:spLocks xmlns:a="http://schemas.openxmlformats.org/drawingml/2006/main" noGrp="1"/>
          </p:cNvSpPr>
          <p:nvPr/>
        </p:nvSpPr>
        <p:spPr>
          <a:xfrm xmlns:a="http://schemas.openxmlformats.org/drawingml/2006/main">
            <a:off x="723900" y="3086100"/>
            <a:ext cx="42957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75B17"/>
                </a:solidFill>
                <a:latin typeface="Arial"/>
                <a:ea typeface="Arial"/>
                <a:cs typeface="Arial"/>
              </a:defRPr>
            </a:pPr>
            <a:r>
              <a:rPr sz="1875" b="1">
                <a:solidFill>
                  <a:srgbClr val="A75B17"/>
                </a:solidFill>
                <a:latin typeface="Arial"/>
                <a:ea typeface="Arial"/>
                <a:cs typeface="Arial"/>
              </a:rPr>
              <a:t>Known markers helped the early tests</a:t>
            </a:r>
          </a:p>
        </p:txBody>
      </p:sp>
      <p:sp>
        <p:nvSpPr>
          <p:cNvPr id="13" name="">
            <a:extLst xmlns:a="http://schemas.openxmlformats.org/drawingml/2006/main">
              <a:ext uri="{FF2B5EF4-FFF2-40B4-BE49-F238E27FC236}">
                <a16:creationId xmlns:a16="http://schemas.microsoft.com/office/drawing/2014/main" id="{EC3BB391-59E9-4511-8810-63CA1745BE27}"/>
              </a:ext>
            </a:extLst>
          </p:cNvPr>
          <p:cNvSpPr>
            <a:spLocks xmlns:a="http://schemas.openxmlformats.org/drawingml/2006/main" noGrp="1"/>
          </p:cNvSpPr>
          <p:nvPr/>
        </p:nvSpPr>
        <p:spPr>
          <a:xfrm xmlns:a="http://schemas.openxmlformats.org/drawingml/2006/main">
            <a:off x="5172075" y="3324225"/>
            <a:ext cx="600075" cy="38100"/>
          </a:xfrm>
          <a:prstGeom xmlns:a="http://schemas.openxmlformats.org/drawingml/2006/main" prst="rect">
            <a:avLst/>
          </a:prstGeom>
          <a:solidFill xmlns:a="http://schemas.openxmlformats.org/drawingml/2006/main">
            <a:srgbClr val="A75B1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A746B66-EF73-47D2-86D3-C791F053E8D6}"/>
              </a:ext>
            </a:extLst>
          </p:cNvPr>
          <p:cNvSpPr>
            <a:spLocks xmlns:a="http://schemas.openxmlformats.org/drawingml/2006/main" noGrp="1"/>
          </p:cNvSpPr>
          <p:nvPr/>
        </p:nvSpPr>
        <p:spPr>
          <a:xfrm xmlns:a="http://schemas.openxmlformats.org/drawingml/2006/main">
            <a:off x="5600700" y="3257550"/>
            <a:ext cx="190500" cy="171450"/>
          </a:xfrm>
          <a:prstGeom xmlns:a="http://schemas.openxmlformats.org/drawingml/2006/main" prst="rightArrow">
            <a:avLst/>
          </a:prstGeom>
          <a:solidFill xmlns:a="http://schemas.openxmlformats.org/drawingml/2006/main">
            <a:srgbClr val="A75B1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7888715-3180-4198-A061-09515E6F0AF5}"/>
              </a:ext>
            </a:extLst>
          </p:cNvPr>
          <p:cNvSpPr>
            <a:spLocks xmlns:a="http://schemas.openxmlformats.org/drawingml/2006/main" noGrp="1"/>
          </p:cNvSpPr>
          <p:nvPr/>
        </p:nvSpPr>
        <p:spPr>
          <a:xfrm xmlns:a="http://schemas.openxmlformats.org/drawingml/2006/main">
            <a:off x="5895975" y="2971800"/>
            <a:ext cx="5686425" cy="7429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6" name="">
            <a:extLst xmlns:a="http://schemas.openxmlformats.org/drawingml/2006/main">
              <a:ext uri="{FF2B5EF4-FFF2-40B4-BE49-F238E27FC236}">
                <a16:creationId xmlns:a16="http://schemas.microsoft.com/office/drawing/2014/main" id="{9D497B70-275B-4B7F-9709-70A4CA62A642}"/>
              </a:ext>
            </a:extLst>
          </p:cNvPr>
          <p:cNvSpPr>
            <a:spLocks xmlns:a="http://schemas.openxmlformats.org/drawingml/2006/main" noGrp="1"/>
          </p:cNvSpPr>
          <p:nvPr/>
        </p:nvSpPr>
        <p:spPr>
          <a:xfrm xmlns:a="http://schemas.openxmlformats.org/drawingml/2006/main">
            <a:off x="6010275" y="3086100"/>
            <a:ext cx="54578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Remove message hints in a separate blind study</a:t>
            </a:r>
          </a:p>
        </p:txBody>
      </p:sp>
      <p:sp>
        <p:nvSpPr>
          <p:cNvPr id="17" name="">
            <a:extLst xmlns:a="http://schemas.openxmlformats.org/drawingml/2006/main">
              <a:ext uri="{FF2B5EF4-FFF2-40B4-BE49-F238E27FC236}">
                <a16:creationId xmlns:a16="http://schemas.microsoft.com/office/drawing/2014/main" id="{9B334C31-7BF3-4FEA-B2BC-8FE975BD32E3}"/>
              </a:ext>
            </a:extLst>
          </p:cNvPr>
          <p:cNvSpPr>
            <a:spLocks xmlns:a="http://schemas.openxmlformats.org/drawingml/2006/main" noGrp="1"/>
          </p:cNvSpPr>
          <p:nvPr/>
        </p:nvSpPr>
        <p:spPr>
          <a:xfrm xmlns:a="http://schemas.openxmlformats.org/drawingml/2006/main">
            <a:off x="609600" y="3905250"/>
            <a:ext cx="4524375" cy="742950"/>
          </a:xfrm>
          <a:prstGeom xmlns:a="http://schemas.openxmlformats.org/drawingml/2006/main" prst="rect">
            <a:avLst/>
          </a:prstGeom>
          <a:solidFill xmlns:a="http://schemas.openxmlformats.org/drawingml/2006/main">
            <a:srgbClr val="E1EFEC"/>
          </a:solidFill>
          <a:ln xmlns:a="http://schemas.openxmlformats.org/drawingml/2006/main" w="28575">
            <a:solidFill>
              <a:srgbClr val="A75B17"/>
            </a:solidFill>
          </a:ln>
        </p:spPr>
      </p:sp>
      <p:sp>
        <p:nvSpPr>
          <p:cNvPr id="18" name="">
            <a:extLst xmlns:a="http://schemas.openxmlformats.org/drawingml/2006/main">
              <a:ext uri="{FF2B5EF4-FFF2-40B4-BE49-F238E27FC236}">
                <a16:creationId xmlns:a16="http://schemas.microsoft.com/office/drawing/2014/main" id="{741851A1-0330-415C-8E47-087E03A166CA}"/>
              </a:ext>
            </a:extLst>
          </p:cNvPr>
          <p:cNvSpPr>
            <a:spLocks xmlns:a="http://schemas.openxmlformats.org/drawingml/2006/main" noGrp="1"/>
          </p:cNvSpPr>
          <p:nvPr/>
        </p:nvSpPr>
        <p:spPr>
          <a:xfrm xmlns:a="http://schemas.openxmlformats.org/drawingml/2006/main">
            <a:off x="723900" y="4019550"/>
            <a:ext cx="42957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75B17"/>
                </a:solidFill>
                <a:latin typeface="Arial"/>
                <a:ea typeface="Arial"/>
                <a:cs typeface="Arial"/>
              </a:defRPr>
            </a:pPr>
            <a:r>
              <a:rPr sz="1875" b="1">
                <a:solidFill>
                  <a:srgbClr val="A75B17"/>
                </a:solidFill>
                <a:latin typeface="Arial"/>
                <a:ea typeface="Arial"/>
                <a:cs typeface="Arial"/>
              </a:rPr>
              <a:t>One entropy baseline was insufficient</a:t>
            </a:r>
          </a:p>
        </p:txBody>
      </p:sp>
      <p:sp>
        <p:nvSpPr>
          <p:cNvPr id="19" name="">
            <a:extLst xmlns:a="http://schemas.openxmlformats.org/drawingml/2006/main">
              <a:ext uri="{FF2B5EF4-FFF2-40B4-BE49-F238E27FC236}">
                <a16:creationId xmlns:a16="http://schemas.microsoft.com/office/drawing/2014/main" id="{E8634581-9BEC-4049-9CE6-EE2298B6EA86}"/>
              </a:ext>
            </a:extLst>
          </p:cNvPr>
          <p:cNvSpPr>
            <a:spLocks xmlns:a="http://schemas.openxmlformats.org/drawingml/2006/main" noGrp="1"/>
          </p:cNvSpPr>
          <p:nvPr/>
        </p:nvSpPr>
        <p:spPr>
          <a:xfrm xmlns:a="http://schemas.openxmlformats.org/drawingml/2006/main">
            <a:off x="5172075" y="4257675"/>
            <a:ext cx="600075" cy="38100"/>
          </a:xfrm>
          <a:prstGeom xmlns:a="http://schemas.openxmlformats.org/drawingml/2006/main" prst="rect">
            <a:avLst/>
          </a:prstGeom>
          <a:solidFill xmlns:a="http://schemas.openxmlformats.org/drawingml/2006/main">
            <a:srgbClr val="A75B1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0184622-0579-472E-A36A-96E8E0A34D21}"/>
              </a:ext>
            </a:extLst>
          </p:cNvPr>
          <p:cNvSpPr>
            <a:spLocks xmlns:a="http://schemas.openxmlformats.org/drawingml/2006/main" noGrp="1"/>
          </p:cNvSpPr>
          <p:nvPr/>
        </p:nvSpPr>
        <p:spPr>
          <a:xfrm xmlns:a="http://schemas.openxmlformats.org/drawingml/2006/main">
            <a:off x="5600700" y="4191000"/>
            <a:ext cx="190500" cy="171450"/>
          </a:xfrm>
          <a:prstGeom xmlns:a="http://schemas.openxmlformats.org/drawingml/2006/main" prst="rightArrow">
            <a:avLst/>
          </a:prstGeom>
          <a:solidFill xmlns:a="http://schemas.openxmlformats.org/drawingml/2006/main">
            <a:srgbClr val="A75B1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A8A6976-A827-4236-BA54-4926701A12A7}"/>
              </a:ext>
            </a:extLst>
          </p:cNvPr>
          <p:cNvSpPr>
            <a:spLocks xmlns:a="http://schemas.openxmlformats.org/drawingml/2006/main" noGrp="1"/>
          </p:cNvSpPr>
          <p:nvPr/>
        </p:nvSpPr>
        <p:spPr>
          <a:xfrm xmlns:a="http://schemas.openxmlformats.org/drawingml/2006/main">
            <a:off x="5895975" y="3905250"/>
            <a:ext cx="5686425" cy="7429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2" name="">
            <a:extLst xmlns:a="http://schemas.openxmlformats.org/drawingml/2006/main">
              <a:ext uri="{FF2B5EF4-FFF2-40B4-BE49-F238E27FC236}">
                <a16:creationId xmlns:a16="http://schemas.microsoft.com/office/drawing/2014/main" id="{349B4662-48E2-49F5-B046-1A1A8164BE09}"/>
              </a:ext>
            </a:extLst>
          </p:cNvPr>
          <p:cNvSpPr>
            <a:spLocks xmlns:a="http://schemas.openxmlformats.org/drawingml/2006/main" noGrp="1"/>
          </p:cNvSpPr>
          <p:nvPr/>
        </p:nvSpPr>
        <p:spPr>
          <a:xfrm xmlns:a="http://schemas.openxmlformats.org/drawingml/2006/main">
            <a:off x="6010275" y="4019550"/>
            <a:ext cx="54578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Add structural and prior-work comparisons</a:t>
            </a:r>
          </a:p>
        </p:txBody>
      </p:sp>
      <p:sp>
        <p:nvSpPr>
          <p:cNvPr id="23" name="">
            <a:extLst xmlns:a="http://schemas.openxmlformats.org/drawingml/2006/main">
              <a:ext uri="{FF2B5EF4-FFF2-40B4-BE49-F238E27FC236}">
                <a16:creationId xmlns:a16="http://schemas.microsoft.com/office/drawing/2014/main" id="{4CD73D9F-127B-4E95-ACA7-109075340338}"/>
              </a:ext>
            </a:extLst>
          </p:cNvPr>
          <p:cNvSpPr>
            <a:spLocks xmlns:a="http://schemas.openxmlformats.org/drawingml/2006/main" noGrp="1"/>
          </p:cNvSpPr>
          <p:nvPr/>
        </p:nvSpPr>
        <p:spPr>
          <a:xfrm xmlns:a="http://schemas.openxmlformats.org/drawingml/2006/main">
            <a:off x="609600" y="4838700"/>
            <a:ext cx="4524375" cy="742950"/>
          </a:xfrm>
          <a:prstGeom xmlns:a="http://schemas.openxmlformats.org/drawingml/2006/main" prst="rect">
            <a:avLst/>
          </a:prstGeom>
          <a:solidFill xmlns:a="http://schemas.openxmlformats.org/drawingml/2006/main">
            <a:srgbClr val="E1EFEC"/>
          </a:solidFill>
          <a:ln xmlns:a="http://schemas.openxmlformats.org/drawingml/2006/main" w="28575">
            <a:solidFill>
              <a:srgbClr val="A75B17"/>
            </a:solidFill>
          </a:ln>
        </p:spPr>
      </p:sp>
      <p:sp>
        <p:nvSpPr>
          <p:cNvPr id="24" name="">
            <a:extLst xmlns:a="http://schemas.openxmlformats.org/drawingml/2006/main">
              <a:ext uri="{FF2B5EF4-FFF2-40B4-BE49-F238E27FC236}">
                <a16:creationId xmlns:a16="http://schemas.microsoft.com/office/drawing/2014/main" id="{1A448E9D-CB5A-413C-BCF7-BA2E18359026}"/>
              </a:ext>
            </a:extLst>
          </p:cNvPr>
          <p:cNvSpPr>
            <a:spLocks xmlns:a="http://schemas.openxmlformats.org/drawingml/2006/main" noGrp="1"/>
          </p:cNvSpPr>
          <p:nvPr/>
        </p:nvSpPr>
        <p:spPr>
          <a:xfrm xmlns:a="http://schemas.openxmlformats.org/drawingml/2006/main">
            <a:off x="723900" y="4953000"/>
            <a:ext cx="42957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75B17"/>
                </a:solidFill>
                <a:latin typeface="Arial"/>
                <a:ea typeface="Arial"/>
                <a:cs typeface="Arial"/>
              </a:defRPr>
            </a:pPr>
            <a:r>
              <a:rPr sz="1875" b="1">
                <a:solidFill>
                  <a:srgbClr val="A75B17"/>
                </a:solidFill>
                <a:latin typeface="Arial"/>
                <a:ea typeface="Arial"/>
                <a:cs typeface="Arial"/>
              </a:rPr>
              <a:t>One build and reused data limit the claim</a:t>
            </a:r>
          </a:p>
        </p:txBody>
      </p:sp>
      <p:sp>
        <p:nvSpPr>
          <p:cNvPr id="25" name="">
            <a:extLst xmlns:a="http://schemas.openxmlformats.org/drawingml/2006/main">
              <a:ext uri="{FF2B5EF4-FFF2-40B4-BE49-F238E27FC236}">
                <a16:creationId xmlns:a16="http://schemas.microsoft.com/office/drawing/2014/main" id="{0FF336A3-8A57-4D4D-ABE1-D084659D89F4}"/>
              </a:ext>
            </a:extLst>
          </p:cNvPr>
          <p:cNvSpPr>
            <a:spLocks xmlns:a="http://schemas.openxmlformats.org/drawingml/2006/main" noGrp="1"/>
          </p:cNvSpPr>
          <p:nvPr/>
        </p:nvSpPr>
        <p:spPr>
          <a:xfrm xmlns:a="http://schemas.openxmlformats.org/drawingml/2006/main">
            <a:off x="5172075" y="5191125"/>
            <a:ext cx="600075" cy="38100"/>
          </a:xfrm>
          <a:prstGeom xmlns:a="http://schemas.openxmlformats.org/drawingml/2006/main" prst="rect">
            <a:avLst/>
          </a:prstGeom>
          <a:solidFill xmlns:a="http://schemas.openxmlformats.org/drawingml/2006/main">
            <a:srgbClr val="A75B17"/>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4A87F8B-8834-4DCB-9EB8-D87AFA6398C7}"/>
              </a:ext>
            </a:extLst>
          </p:cNvPr>
          <p:cNvSpPr>
            <a:spLocks xmlns:a="http://schemas.openxmlformats.org/drawingml/2006/main" noGrp="1"/>
          </p:cNvSpPr>
          <p:nvPr/>
        </p:nvSpPr>
        <p:spPr>
          <a:xfrm xmlns:a="http://schemas.openxmlformats.org/drawingml/2006/main">
            <a:off x="5600700" y="5124450"/>
            <a:ext cx="190500" cy="171450"/>
          </a:xfrm>
          <a:prstGeom xmlns:a="http://schemas.openxmlformats.org/drawingml/2006/main" prst="rightArrow">
            <a:avLst/>
          </a:prstGeom>
          <a:solidFill xmlns:a="http://schemas.openxmlformats.org/drawingml/2006/main">
            <a:srgbClr val="A75B1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D4F67E4-91E1-4785-ACA2-4DED991F4158}"/>
              </a:ext>
            </a:extLst>
          </p:cNvPr>
          <p:cNvSpPr>
            <a:spLocks xmlns:a="http://schemas.openxmlformats.org/drawingml/2006/main" noGrp="1"/>
          </p:cNvSpPr>
          <p:nvPr/>
        </p:nvSpPr>
        <p:spPr>
          <a:xfrm xmlns:a="http://schemas.openxmlformats.org/drawingml/2006/main">
            <a:off x="5895975" y="4838700"/>
            <a:ext cx="5686425" cy="7429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8" name="">
            <a:extLst xmlns:a="http://schemas.openxmlformats.org/drawingml/2006/main">
              <a:ext uri="{FF2B5EF4-FFF2-40B4-BE49-F238E27FC236}">
                <a16:creationId xmlns:a16="http://schemas.microsoft.com/office/drawing/2014/main" id="{E55919C7-82E3-4B42-A7DD-126B30E70F82}"/>
              </a:ext>
            </a:extLst>
          </p:cNvPr>
          <p:cNvSpPr>
            <a:spLocks xmlns:a="http://schemas.openxmlformats.org/drawingml/2006/main" noGrp="1"/>
          </p:cNvSpPr>
          <p:nvPr/>
        </p:nvSpPr>
        <p:spPr>
          <a:xfrm xmlns:a="http://schemas.openxmlformats.org/drawingml/2006/main">
            <a:off x="6010275" y="4953000"/>
            <a:ext cx="54578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Test new builds, then fresh confirmation cases</a:t>
            </a:r>
          </a:p>
        </p:txBody>
      </p:sp>
      <p:sp>
        <p:nvSpPr>
          <p:cNvPr id="29" name="">
            <a:extLst xmlns:a="http://schemas.openxmlformats.org/drawingml/2006/main">
              <a:ext uri="{FF2B5EF4-FFF2-40B4-BE49-F238E27FC236}">
                <a16:creationId xmlns:a16="http://schemas.microsoft.com/office/drawing/2014/main" id="{82BAE562-C600-4229-825F-E3C0C4A0589F}"/>
              </a:ext>
            </a:extLst>
          </p:cNvPr>
          <p:cNvSpPr>
            <a:spLocks xmlns:a="http://schemas.openxmlformats.org/drawingml/2006/main" noGrp="1"/>
          </p:cNvSpPr>
          <p:nvPr/>
        </p:nvSpPr>
        <p:spPr>
          <a:xfrm xmlns:a="http://schemas.openxmlformats.org/drawingml/2006/main">
            <a:off x="609600" y="586740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Selected question: can one saved image support correct, blind TLS 1.3 role assignment?</a:t>
            </a:r>
          </a:p>
        </p:txBody>
      </p:sp>
    </p:spTree>
    <p:extLst>
      <p:ext uri="{BB962C8B-B14F-4D97-AF65-F5344CB8AC3E}">
        <p14:creationId xmlns:p14="http://schemas.microsoft.com/office/powerpoint/2010/main" val="283232167"/>
      </p:ext>
    </p:extLst>
  </p:cSld>
</p:sld>
</file>

<file path=ppt/slides/slide1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97A2A05-4F63-46DA-BD64-00C65F0B3680}"/>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How the active pipeline changed</a:t>
            </a:r>
          </a:p>
        </p:txBody>
      </p:sp>
      <p:sp>
        <p:nvSpPr>
          <p:cNvPr id="2" name="">
            <a:extLst xmlns:a="http://schemas.openxmlformats.org/drawingml/2006/main">
              <a:ext uri="{FF2B5EF4-FFF2-40B4-BE49-F238E27FC236}">
                <a16:creationId xmlns:a16="http://schemas.microsoft.com/office/drawing/2014/main" id="{EC4CC0AC-D71C-4C49-8195-3C65C6EF4B34}"/>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29F9BDA5-E471-4C17-8EAC-C3993F282506}"/>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B1203B2E-3590-4B73-91E0-34595F21CBD2}"/>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Sources: upstream workflow, active thesis scope and saved-memory modules</a:t>
            </a:r>
          </a:p>
        </p:txBody>
      </p:sp>
      <p:sp>
        <p:nvSpPr>
          <p:cNvPr id="5" name="">
            <a:extLst xmlns:a="http://schemas.openxmlformats.org/drawingml/2006/main">
              <a:ext uri="{FF2B5EF4-FFF2-40B4-BE49-F238E27FC236}">
                <a16:creationId xmlns:a16="http://schemas.microsoft.com/office/drawing/2014/main" id="{0C5E79AA-983F-4637-9FD7-F387E5FD71E4}"/>
              </a:ext>
            </a:extLst>
          </p:cNvPr>
          <p:cNvSpPr>
            <a:spLocks xmlns:a="http://schemas.openxmlformats.org/drawingml/2006/main" noGrp="1"/>
          </p:cNvSpPr>
          <p:nvPr/>
        </p:nvSpPr>
        <p:spPr>
          <a:xfrm xmlns:a="http://schemas.openxmlformats.org/drawingml/2006/main">
            <a:off x="609600" y="18383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536572"/>
                </a:solidFill>
                <a:latin typeface="Arial"/>
                <a:ea typeface="Arial"/>
                <a:cs typeface="Arial"/>
              </a:defRPr>
            </a:pPr>
            <a:r>
              <a:rPr sz="1800" b="1">
                <a:solidFill>
                  <a:srgbClr val="536572"/>
                </a:solidFill>
                <a:latin typeface="Arial"/>
                <a:ea typeface="Arial"/>
                <a:cs typeface="Arial"/>
              </a:rPr>
              <a:t>ORIGINAL TLSKEYHUNTER</a:t>
            </a:r>
          </a:p>
        </p:txBody>
      </p:sp>
      <p:sp>
        <p:nvSpPr>
          <p:cNvPr id="6" name="">
            <a:extLst xmlns:a="http://schemas.openxmlformats.org/drawingml/2006/main">
              <a:ext uri="{FF2B5EF4-FFF2-40B4-BE49-F238E27FC236}">
                <a16:creationId xmlns:a16="http://schemas.microsoft.com/office/drawing/2014/main" id="{764393A5-66D7-4B84-9E20-0E5357E5A7A7}"/>
              </a:ext>
            </a:extLst>
          </p:cNvPr>
          <p:cNvSpPr>
            <a:spLocks xmlns:a="http://schemas.openxmlformats.org/drawingml/2006/main" noGrp="1"/>
          </p:cNvSpPr>
          <p:nvPr/>
        </p:nvSpPr>
        <p:spPr>
          <a:xfrm xmlns:a="http://schemas.openxmlformats.org/drawingml/2006/main">
            <a:off x="609600" y="2409825"/>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7" name="">
            <a:extLst xmlns:a="http://schemas.openxmlformats.org/drawingml/2006/main">
              <a:ext uri="{FF2B5EF4-FFF2-40B4-BE49-F238E27FC236}">
                <a16:creationId xmlns:a16="http://schemas.microsoft.com/office/drawing/2014/main" id="{94028DA5-DBB6-4A08-89B8-B2C6B71A7F88}"/>
              </a:ext>
            </a:extLst>
          </p:cNvPr>
          <p:cNvSpPr>
            <a:spLocks xmlns:a="http://schemas.openxmlformats.org/drawingml/2006/main" noGrp="1"/>
          </p:cNvSpPr>
          <p:nvPr/>
        </p:nvSpPr>
        <p:spPr>
          <a:xfrm xmlns:a="http://schemas.openxmlformats.org/drawingml/2006/main">
            <a:off x="762000" y="2600325"/>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Analyze binary</a:t>
            </a:r>
          </a:p>
        </p:txBody>
      </p:sp>
      <p:sp>
        <p:nvSpPr>
          <p:cNvPr id="8" name="">
            <a:extLst xmlns:a="http://schemas.openxmlformats.org/drawingml/2006/main">
              <a:ext uri="{FF2B5EF4-FFF2-40B4-BE49-F238E27FC236}">
                <a16:creationId xmlns:a16="http://schemas.microsoft.com/office/drawing/2014/main" id="{31D40628-D543-4A53-88D2-B7ECD24175D2}"/>
              </a:ext>
            </a:extLst>
          </p:cNvPr>
          <p:cNvSpPr>
            <a:spLocks xmlns:a="http://schemas.openxmlformats.org/drawingml/2006/main" noGrp="1"/>
          </p:cNvSpPr>
          <p:nvPr/>
        </p:nvSpPr>
        <p:spPr>
          <a:xfrm xmlns:a="http://schemas.openxmlformats.org/drawingml/2006/main">
            <a:off x="3457575" y="2409825"/>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9" name="">
            <a:extLst xmlns:a="http://schemas.openxmlformats.org/drawingml/2006/main">
              <a:ext uri="{FF2B5EF4-FFF2-40B4-BE49-F238E27FC236}">
                <a16:creationId xmlns:a16="http://schemas.microsoft.com/office/drawing/2014/main" id="{5D4EA07E-9AFC-40A6-A045-C925ADE9C02D}"/>
              </a:ext>
            </a:extLst>
          </p:cNvPr>
          <p:cNvSpPr>
            <a:spLocks xmlns:a="http://schemas.openxmlformats.org/drawingml/2006/main" noGrp="1"/>
          </p:cNvSpPr>
          <p:nvPr/>
        </p:nvSpPr>
        <p:spPr>
          <a:xfrm xmlns:a="http://schemas.openxmlformats.org/drawingml/2006/main">
            <a:off x="3609975" y="2600325"/>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Locate live KDF</a:t>
            </a:r>
          </a:p>
        </p:txBody>
      </p:sp>
      <p:sp>
        <p:nvSpPr>
          <p:cNvPr id="10" name="">
            <a:extLst xmlns:a="http://schemas.openxmlformats.org/drawingml/2006/main">
              <a:ext uri="{FF2B5EF4-FFF2-40B4-BE49-F238E27FC236}">
                <a16:creationId xmlns:a16="http://schemas.microsoft.com/office/drawing/2014/main" id="{A59BCE48-DE67-4F39-A285-B703F226FB51}"/>
              </a:ext>
            </a:extLst>
          </p:cNvPr>
          <p:cNvSpPr>
            <a:spLocks xmlns:a="http://schemas.openxmlformats.org/drawingml/2006/main" noGrp="1"/>
          </p:cNvSpPr>
          <p:nvPr/>
        </p:nvSpPr>
        <p:spPr>
          <a:xfrm xmlns:a="http://schemas.openxmlformats.org/drawingml/2006/main">
            <a:off x="3076575" y="2914650"/>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BFD12EB-9AAF-4E76-8471-C024D86A1BB9}"/>
              </a:ext>
            </a:extLst>
          </p:cNvPr>
          <p:cNvSpPr>
            <a:spLocks xmlns:a="http://schemas.openxmlformats.org/drawingml/2006/main" noGrp="1"/>
          </p:cNvSpPr>
          <p:nvPr/>
        </p:nvSpPr>
        <p:spPr>
          <a:xfrm xmlns:a="http://schemas.openxmlformats.org/drawingml/2006/main">
            <a:off x="3238500" y="284797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E941E73-4893-46E2-B713-DD101B6FAFB2}"/>
              </a:ext>
            </a:extLst>
          </p:cNvPr>
          <p:cNvSpPr>
            <a:spLocks xmlns:a="http://schemas.openxmlformats.org/drawingml/2006/main" noGrp="1"/>
          </p:cNvSpPr>
          <p:nvPr/>
        </p:nvSpPr>
        <p:spPr>
          <a:xfrm xmlns:a="http://schemas.openxmlformats.org/drawingml/2006/main">
            <a:off x="6305550" y="2409825"/>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3" name="">
            <a:extLst xmlns:a="http://schemas.openxmlformats.org/drawingml/2006/main">
              <a:ext uri="{FF2B5EF4-FFF2-40B4-BE49-F238E27FC236}">
                <a16:creationId xmlns:a16="http://schemas.microsoft.com/office/drawing/2014/main" id="{55F5B42D-A0A7-4014-9DC1-0B3C28B82A7A}"/>
              </a:ext>
            </a:extLst>
          </p:cNvPr>
          <p:cNvSpPr>
            <a:spLocks xmlns:a="http://schemas.openxmlformats.org/drawingml/2006/main" noGrp="1"/>
          </p:cNvSpPr>
          <p:nvPr/>
        </p:nvSpPr>
        <p:spPr>
          <a:xfrm xmlns:a="http://schemas.openxmlformats.org/drawingml/2006/main">
            <a:off x="6457950" y="2600325"/>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Hook derivation</a:t>
            </a:r>
          </a:p>
        </p:txBody>
      </p:sp>
      <p:sp>
        <p:nvSpPr>
          <p:cNvPr id="14" name="">
            <a:extLst xmlns:a="http://schemas.openxmlformats.org/drawingml/2006/main">
              <a:ext uri="{FF2B5EF4-FFF2-40B4-BE49-F238E27FC236}">
                <a16:creationId xmlns:a16="http://schemas.microsoft.com/office/drawing/2014/main" id="{334B6017-2F86-4925-8E06-276D5A19C70E}"/>
              </a:ext>
            </a:extLst>
          </p:cNvPr>
          <p:cNvSpPr>
            <a:spLocks xmlns:a="http://schemas.openxmlformats.org/drawingml/2006/main" noGrp="1"/>
          </p:cNvSpPr>
          <p:nvPr/>
        </p:nvSpPr>
        <p:spPr>
          <a:xfrm xmlns:a="http://schemas.openxmlformats.org/drawingml/2006/main">
            <a:off x="5924550" y="2914650"/>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2EF164C-25F4-45D1-B532-EFF40522F5F6}"/>
              </a:ext>
            </a:extLst>
          </p:cNvPr>
          <p:cNvSpPr>
            <a:spLocks xmlns:a="http://schemas.openxmlformats.org/drawingml/2006/main" noGrp="1"/>
          </p:cNvSpPr>
          <p:nvPr/>
        </p:nvSpPr>
        <p:spPr>
          <a:xfrm xmlns:a="http://schemas.openxmlformats.org/drawingml/2006/main">
            <a:off x="6086475" y="284797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056343C-7BA6-4615-BB36-7D1010BEE5CB}"/>
              </a:ext>
            </a:extLst>
          </p:cNvPr>
          <p:cNvSpPr>
            <a:spLocks xmlns:a="http://schemas.openxmlformats.org/drawingml/2006/main" noGrp="1"/>
          </p:cNvSpPr>
          <p:nvPr/>
        </p:nvSpPr>
        <p:spPr>
          <a:xfrm xmlns:a="http://schemas.openxmlformats.org/drawingml/2006/main">
            <a:off x="9153525" y="2409825"/>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7" name="">
            <a:extLst xmlns:a="http://schemas.openxmlformats.org/drawingml/2006/main">
              <a:ext uri="{FF2B5EF4-FFF2-40B4-BE49-F238E27FC236}">
                <a16:creationId xmlns:a16="http://schemas.microsoft.com/office/drawing/2014/main" id="{CD7A3137-CCA2-4EF4-84A8-A9BFD203BC80}"/>
              </a:ext>
            </a:extLst>
          </p:cNvPr>
          <p:cNvSpPr>
            <a:spLocks xmlns:a="http://schemas.openxmlformats.org/drawingml/2006/main" noGrp="1"/>
          </p:cNvSpPr>
          <p:nvPr/>
        </p:nvSpPr>
        <p:spPr>
          <a:xfrm xmlns:a="http://schemas.openxmlformats.org/drawingml/2006/main">
            <a:off x="9305925" y="2600325"/>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Associate secrets</a:t>
            </a:r>
          </a:p>
        </p:txBody>
      </p:sp>
      <p:sp>
        <p:nvSpPr>
          <p:cNvPr id="18" name="">
            <a:extLst xmlns:a="http://schemas.openxmlformats.org/drawingml/2006/main">
              <a:ext uri="{FF2B5EF4-FFF2-40B4-BE49-F238E27FC236}">
                <a16:creationId xmlns:a16="http://schemas.microsoft.com/office/drawing/2014/main" id="{005B1A56-5DD3-4968-AE59-672F2D27D11E}"/>
              </a:ext>
            </a:extLst>
          </p:cNvPr>
          <p:cNvSpPr>
            <a:spLocks xmlns:a="http://schemas.openxmlformats.org/drawingml/2006/main" noGrp="1"/>
          </p:cNvSpPr>
          <p:nvPr/>
        </p:nvSpPr>
        <p:spPr>
          <a:xfrm xmlns:a="http://schemas.openxmlformats.org/drawingml/2006/main">
            <a:off x="8772525" y="2914650"/>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098715F-E6A6-4921-AB32-9CEBCFA07996}"/>
              </a:ext>
            </a:extLst>
          </p:cNvPr>
          <p:cNvSpPr>
            <a:spLocks xmlns:a="http://schemas.openxmlformats.org/drawingml/2006/main" noGrp="1"/>
          </p:cNvSpPr>
          <p:nvPr/>
        </p:nvSpPr>
        <p:spPr>
          <a:xfrm xmlns:a="http://schemas.openxmlformats.org/drawingml/2006/main">
            <a:off x="8934450" y="284797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708EFEE-57CB-43AB-97FB-3DC772DCD9F1}"/>
              </a:ext>
            </a:extLst>
          </p:cNvPr>
          <p:cNvSpPr>
            <a:spLocks xmlns:a="http://schemas.openxmlformats.org/drawingml/2006/main" noGrp="1"/>
          </p:cNvSpPr>
          <p:nvPr/>
        </p:nvSpPr>
        <p:spPr>
          <a:xfrm xmlns:a="http://schemas.openxmlformats.org/drawingml/2006/main">
            <a:off x="609600" y="38195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9"/>
                </a:solidFill>
                <a:latin typeface="Arial"/>
                <a:ea typeface="Arial"/>
                <a:cs typeface="Arial"/>
              </a:defRPr>
            </a:pPr>
            <a:r>
              <a:rPr sz="1800" b="1">
                <a:solidFill>
                  <a:srgbClr val="007F79"/>
                </a:solidFill>
                <a:latin typeface="Arial"/>
                <a:ea typeface="Arial"/>
                <a:cs typeface="Arial"/>
              </a:rPr>
              <a:t>OUR ACTIVE SAVED-MEMORY PATH</a:t>
            </a:r>
          </a:p>
        </p:txBody>
      </p:sp>
      <p:sp>
        <p:nvSpPr>
          <p:cNvPr id="21" name="">
            <a:extLst xmlns:a="http://schemas.openxmlformats.org/drawingml/2006/main">
              <a:ext uri="{FF2B5EF4-FFF2-40B4-BE49-F238E27FC236}">
                <a16:creationId xmlns:a16="http://schemas.microsoft.com/office/drawing/2014/main" id="{8FDBC35E-A4BC-4A90-AA8A-797ACC539D4F}"/>
              </a:ext>
            </a:extLst>
          </p:cNvPr>
          <p:cNvSpPr>
            <a:spLocks xmlns:a="http://schemas.openxmlformats.org/drawingml/2006/main" noGrp="1"/>
          </p:cNvSpPr>
          <p:nvPr/>
        </p:nvSpPr>
        <p:spPr>
          <a:xfrm xmlns:a="http://schemas.openxmlformats.org/drawingml/2006/main">
            <a:off x="609600" y="4419600"/>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2" name="">
            <a:extLst xmlns:a="http://schemas.openxmlformats.org/drawingml/2006/main">
              <a:ext uri="{FF2B5EF4-FFF2-40B4-BE49-F238E27FC236}">
                <a16:creationId xmlns:a16="http://schemas.microsoft.com/office/drawing/2014/main" id="{2E1DA9F2-E7C7-468B-ABE4-6340E950308D}"/>
              </a:ext>
            </a:extLst>
          </p:cNvPr>
          <p:cNvSpPr>
            <a:spLocks xmlns:a="http://schemas.openxmlformats.org/drawingml/2006/main" noGrp="1"/>
          </p:cNvSpPr>
          <p:nvPr/>
        </p:nvSpPr>
        <p:spPr>
          <a:xfrm xmlns:a="http://schemas.openxmlformats.org/drawingml/2006/main">
            <a:off x="762000" y="4610100"/>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Saved core</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 traffic</a:t>
            </a:r>
          </a:p>
        </p:txBody>
      </p:sp>
      <p:sp>
        <p:nvSpPr>
          <p:cNvPr id="23" name="">
            <a:extLst xmlns:a="http://schemas.openxmlformats.org/drawingml/2006/main">
              <a:ext uri="{FF2B5EF4-FFF2-40B4-BE49-F238E27FC236}">
                <a16:creationId xmlns:a16="http://schemas.microsoft.com/office/drawing/2014/main" id="{63C6CE37-6533-4B4E-B83F-DE913B10332F}"/>
              </a:ext>
            </a:extLst>
          </p:cNvPr>
          <p:cNvSpPr>
            <a:spLocks xmlns:a="http://schemas.openxmlformats.org/drawingml/2006/main" noGrp="1"/>
          </p:cNvSpPr>
          <p:nvPr/>
        </p:nvSpPr>
        <p:spPr>
          <a:xfrm xmlns:a="http://schemas.openxmlformats.org/drawingml/2006/main">
            <a:off x="3457575" y="4419600"/>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4" name="">
            <a:extLst xmlns:a="http://schemas.openxmlformats.org/drawingml/2006/main">
              <a:ext uri="{FF2B5EF4-FFF2-40B4-BE49-F238E27FC236}">
                <a16:creationId xmlns:a16="http://schemas.microsoft.com/office/drawing/2014/main" id="{0ABC7714-5760-4F55-AE5C-453A1659745F}"/>
              </a:ext>
            </a:extLst>
          </p:cNvPr>
          <p:cNvSpPr>
            <a:spLocks xmlns:a="http://schemas.openxmlformats.org/drawingml/2006/main" noGrp="1"/>
          </p:cNvSpPr>
          <p:nvPr/>
        </p:nvSpPr>
        <p:spPr>
          <a:xfrm xmlns:a="http://schemas.openxmlformats.org/drawingml/2006/main">
            <a:off x="3609975" y="4610100"/>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Discover</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candidates</a:t>
            </a:r>
          </a:p>
        </p:txBody>
      </p:sp>
      <p:sp>
        <p:nvSpPr>
          <p:cNvPr id="25" name="">
            <a:extLst xmlns:a="http://schemas.openxmlformats.org/drawingml/2006/main">
              <a:ext uri="{FF2B5EF4-FFF2-40B4-BE49-F238E27FC236}">
                <a16:creationId xmlns:a16="http://schemas.microsoft.com/office/drawing/2014/main" id="{F70AAB78-4E4B-4640-B487-F9038A36FBE3}"/>
              </a:ext>
            </a:extLst>
          </p:cNvPr>
          <p:cNvSpPr>
            <a:spLocks xmlns:a="http://schemas.openxmlformats.org/drawingml/2006/main" noGrp="1"/>
          </p:cNvSpPr>
          <p:nvPr/>
        </p:nvSpPr>
        <p:spPr>
          <a:xfrm xmlns:a="http://schemas.openxmlformats.org/drawingml/2006/main">
            <a:off x="3076575" y="4924425"/>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9F35275-A865-47D2-96F6-C5664CF1B4B6}"/>
              </a:ext>
            </a:extLst>
          </p:cNvPr>
          <p:cNvSpPr>
            <a:spLocks xmlns:a="http://schemas.openxmlformats.org/drawingml/2006/main" noGrp="1"/>
          </p:cNvSpPr>
          <p:nvPr/>
        </p:nvSpPr>
        <p:spPr>
          <a:xfrm xmlns:a="http://schemas.openxmlformats.org/drawingml/2006/main">
            <a:off x="3238500" y="485775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79736E8-B84B-449B-A1E0-BE675C069CEE}"/>
              </a:ext>
            </a:extLst>
          </p:cNvPr>
          <p:cNvSpPr>
            <a:spLocks xmlns:a="http://schemas.openxmlformats.org/drawingml/2006/main" noGrp="1"/>
          </p:cNvSpPr>
          <p:nvPr/>
        </p:nvSpPr>
        <p:spPr>
          <a:xfrm xmlns:a="http://schemas.openxmlformats.org/drawingml/2006/main">
            <a:off x="6305550" y="4419600"/>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8" name="">
            <a:extLst xmlns:a="http://schemas.openxmlformats.org/drawingml/2006/main">
              <a:ext uri="{FF2B5EF4-FFF2-40B4-BE49-F238E27FC236}">
                <a16:creationId xmlns:a16="http://schemas.microsoft.com/office/drawing/2014/main" id="{E814EA2B-E076-4EE6-A068-5B7DA0EA9C90}"/>
              </a:ext>
            </a:extLst>
          </p:cNvPr>
          <p:cNvSpPr>
            <a:spLocks xmlns:a="http://schemas.openxmlformats.org/drawingml/2006/main" noGrp="1"/>
          </p:cNvSpPr>
          <p:nvPr/>
        </p:nvSpPr>
        <p:spPr>
          <a:xfrm xmlns:a="http://schemas.openxmlformats.org/drawingml/2006/main">
            <a:off x="6457950" y="4610100"/>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Authenticate</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flow + direction</a:t>
            </a:r>
          </a:p>
        </p:txBody>
      </p:sp>
      <p:sp>
        <p:nvSpPr>
          <p:cNvPr id="29" name="">
            <a:extLst xmlns:a="http://schemas.openxmlformats.org/drawingml/2006/main">
              <a:ext uri="{FF2B5EF4-FFF2-40B4-BE49-F238E27FC236}">
                <a16:creationId xmlns:a16="http://schemas.microsoft.com/office/drawing/2014/main" id="{D011B01D-EF96-479C-8BAB-EEC6758A4438}"/>
              </a:ext>
            </a:extLst>
          </p:cNvPr>
          <p:cNvSpPr>
            <a:spLocks xmlns:a="http://schemas.openxmlformats.org/drawingml/2006/main" noGrp="1"/>
          </p:cNvSpPr>
          <p:nvPr/>
        </p:nvSpPr>
        <p:spPr>
          <a:xfrm xmlns:a="http://schemas.openxmlformats.org/drawingml/2006/main">
            <a:off x="5924550" y="4924425"/>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22D6B09-705C-4CBC-8348-410D99F5BD67}"/>
              </a:ext>
            </a:extLst>
          </p:cNvPr>
          <p:cNvSpPr>
            <a:spLocks xmlns:a="http://schemas.openxmlformats.org/drawingml/2006/main" noGrp="1"/>
          </p:cNvSpPr>
          <p:nvPr/>
        </p:nvSpPr>
        <p:spPr>
          <a:xfrm xmlns:a="http://schemas.openxmlformats.org/drawingml/2006/main">
            <a:off x="6086475" y="485775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2588A73-9B98-465B-84A8-239D416C6C7D}"/>
              </a:ext>
            </a:extLst>
          </p:cNvPr>
          <p:cNvSpPr>
            <a:spLocks xmlns:a="http://schemas.openxmlformats.org/drawingml/2006/main" noGrp="1"/>
          </p:cNvSpPr>
          <p:nvPr/>
        </p:nvSpPr>
        <p:spPr>
          <a:xfrm xmlns:a="http://schemas.openxmlformats.org/drawingml/2006/main">
            <a:off x="9153525" y="4419600"/>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32" name="">
            <a:extLst xmlns:a="http://schemas.openxmlformats.org/drawingml/2006/main">
              <a:ext uri="{FF2B5EF4-FFF2-40B4-BE49-F238E27FC236}">
                <a16:creationId xmlns:a16="http://schemas.microsoft.com/office/drawing/2014/main" id="{4439BD16-4219-4AC4-B247-29E2DFFACD66}"/>
              </a:ext>
            </a:extLst>
          </p:cNvPr>
          <p:cNvSpPr>
            <a:spLocks xmlns:a="http://schemas.openxmlformats.org/drawingml/2006/main" noGrp="1"/>
          </p:cNvSpPr>
          <p:nvPr/>
        </p:nvSpPr>
        <p:spPr>
          <a:xfrm xmlns:a="http://schemas.openxmlformats.org/drawingml/2006/main">
            <a:off x="9305925" y="4610100"/>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Seal, then</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score outputs</a:t>
            </a:r>
          </a:p>
        </p:txBody>
      </p:sp>
      <p:sp>
        <p:nvSpPr>
          <p:cNvPr id="33" name="">
            <a:extLst xmlns:a="http://schemas.openxmlformats.org/drawingml/2006/main">
              <a:ext uri="{FF2B5EF4-FFF2-40B4-BE49-F238E27FC236}">
                <a16:creationId xmlns:a16="http://schemas.microsoft.com/office/drawing/2014/main" id="{E393A864-E4E4-4CD4-A07D-942A3FD7D8E8}"/>
              </a:ext>
            </a:extLst>
          </p:cNvPr>
          <p:cNvSpPr>
            <a:spLocks xmlns:a="http://schemas.openxmlformats.org/drawingml/2006/main" noGrp="1"/>
          </p:cNvSpPr>
          <p:nvPr/>
        </p:nvSpPr>
        <p:spPr>
          <a:xfrm xmlns:a="http://schemas.openxmlformats.org/drawingml/2006/main">
            <a:off x="8772525" y="4924425"/>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EB7B8C99-2EB6-45F1-AA53-3EE357ABE256}"/>
              </a:ext>
            </a:extLst>
          </p:cNvPr>
          <p:cNvSpPr>
            <a:spLocks xmlns:a="http://schemas.openxmlformats.org/drawingml/2006/main" noGrp="1"/>
          </p:cNvSpPr>
          <p:nvPr/>
        </p:nvSpPr>
        <p:spPr>
          <a:xfrm xmlns:a="http://schemas.openxmlformats.org/drawingml/2006/main">
            <a:off x="8934450" y="485775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79CE4B86-7839-4167-86EB-E4A42B300559}"/>
              </a:ext>
            </a:extLst>
          </p:cNvPr>
          <p:cNvSpPr>
            <a:spLocks xmlns:a="http://schemas.openxmlformats.org/drawingml/2006/main" noGrp="1"/>
          </p:cNvSpPr>
          <p:nvPr/>
        </p:nvSpPr>
        <p:spPr>
          <a:xfrm xmlns:a="http://schemas.openxmlformats.org/drawingml/2006/main">
            <a:off x="609600" y="579120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75B17"/>
                </a:solidFill>
                <a:latin typeface="Arial"/>
                <a:ea typeface="Arial"/>
                <a:cs typeface="Arial"/>
              </a:defRPr>
            </a:pPr>
            <a:r>
              <a:rPr sz="1875" b="1">
                <a:solidFill>
                  <a:srgbClr val="A75B17"/>
                </a:solidFill>
                <a:latin typeface="Arial"/>
                <a:ea typeface="Arial"/>
                <a:cs typeface="Arial"/>
              </a:rPr>
              <a:t>The extraction point moved from a running function to an already-saved memory image.</a:t>
            </a:r>
          </a:p>
        </p:txBody>
      </p:sp>
    </p:spTree>
    <p:extLst>
      <p:ext uri="{BB962C8B-B14F-4D97-AF65-F5344CB8AC3E}">
        <p14:creationId xmlns:p14="http://schemas.microsoft.com/office/powerpoint/2010/main" val="471663078"/>
      </p:ext>
    </p:extLst>
  </p:cSld>
</p:sld>
</file>

<file path=ppt/slides/slide2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D0524B5E-454F-4048-A37B-9546C876BC7F}"/>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Where the added files fit</a:t>
            </a:r>
          </a:p>
        </p:txBody>
      </p:sp>
      <p:sp>
        <p:nvSpPr>
          <p:cNvPr id="2" name="">
            <a:extLst xmlns:a="http://schemas.openxmlformats.org/drawingml/2006/main">
              <a:ext uri="{FF2B5EF4-FFF2-40B4-BE49-F238E27FC236}">
                <a16:creationId xmlns:a16="http://schemas.microsoft.com/office/drawing/2014/main" id="{CFD96312-F0CA-485B-9700-B7415DF4D64E}"/>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6F4A0628-1B3A-43B3-B543-673D4F707807}"/>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DA07C702-EFC1-49C5-B6EA-D536BC5D9410}"/>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Selected active modules, not a claim that every repository file is new</a:t>
            </a:r>
          </a:p>
        </p:txBody>
      </p:sp>
      <p:sp>
        <p:nvSpPr>
          <p:cNvPr id="5" name="">
            <a:extLst xmlns:a="http://schemas.openxmlformats.org/drawingml/2006/main">
              <a:ext uri="{FF2B5EF4-FFF2-40B4-BE49-F238E27FC236}">
                <a16:creationId xmlns:a16="http://schemas.microsoft.com/office/drawing/2014/main" id="{16BC95EF-720F-4F05-82E7-4EF5B79036A5}"/>
              </a:ext>
            </a:extLst>
          </p:cNvPr>
          <p:cNvSpPr>
            <a:spLocks xmlns:a="http://schemas.openxmlformats.org/drawingml/2006/main" noGrp="1"/>
          </p:cNvSpPr>
          <p:nvPr/>
        </p:nvSpPr>
        <p:spPr>
          <a:xfrm xmlns:a="http://schemas.openxmlformats.org/drawingml/2006/main">
            <a:off x="609600" y="1847850"/>
            <a:ext cx="340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9"/>
                </a:solidFill>
                <a:latin typeface="Arial"/>
                <a:ea typeface="Arial"/>
                <a:cs typeface="Arial"/>
              </a:defRPr>
            </a:pPr>
            <a:r>
              <a:rPr sz="1725" b="1">
                <a:solidFill>
                  <a:srgbClr val="007F79"/>
                </a:solidFill>
                <a:latin typeface="Arial"/>
                <a:ea typeface="Arial"/>
                <a:cs typeface="Arial"/>
              </a:rPr>
              <a:t>OFFLINE INPUTS</a:t>
            </a:r>
          </a:p>
        </p:txBody>
      </p:sp>
      <p:sp>
        <p:nvSpPr>
          <p:cNvPr id="6" name="">
            <a:extLst xmlns:a="http://schemas.openxmlformats.org/drawingml/2006/main">
              <a:ext uri="{FF2B5EF4-FFF2-40B4-BE49-F238E27FC236}">
                <a16:creationId xmlns:a16="http://schemas.microsoft.com/office/drawing/2014/main" id="{FAD588A8-5F4A-44DF-93EF-155B5C16284E}"/>
              </a:ext>
            </a:extLst>
          </p:cNvPr>
          <p:cNvSpPr>
            <a:spLocks xmlns:a="http://schemas.openxmlformats.org/drawingml/2006/main" noGrp="1"/>
          </p:cNvSpPr>
          <p:nvPr/>
        </p:nvSpPr>
        <p:spPr>
          <a:xfrm xmlns:a="http://schemas.openxmlformats.org/drawingml/2006/main">
            <a:off x="4391025" y="1847850"/>
            <a:ext cx="340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9"/>
                </a:solidFill>
                <a:latin typeface="Arial"/>
                <a:ea typeface="Arial"/>
                <a:cs typeface="Arial"/>
              </a:defRPr>
            </a:pPr>
            <a:r>
              <a:rPr sz="1725" b="1">
                <a:solidFill>
                  <a:srgbClr val="007F79"/>
                </a:solidFill>
                <a:latin typeface="Arial"/>
                <a:ea typeface="Arial"/>
                <a:cs typeface="Arial"/>
              </a:rPr>
              <a:t>BLIND STUDY</a:t>
            </a:r>
          </a:p>
        </p:txBody>
      </p:sp>
      <p:sp>
        <p:nvSpPr>
          <p:cNvPr id="7" name="">
            <a:extLst xmlns:a="http://schemas.openxmlformats.org/drawingml/2006/main">
              <a:ext uri="{FF2B5EF4-FFF2-40B4-BE49-F238E27FC236}">
                <a16:creationId xmlns:a16="http://schemas.microsoft.com/office/drawing/2014/main" id="{1584ACF2-8B70-467C-B7A3-1401336666F3}"/>
              </a:ext>
            </a:extLst>
          </p:cNvPr>
          <p:cNvSpPr>
            <a:spLocks xmlns:a="http://schemas.openxmlformats.org/drawingml/2006/main" noGrp="1"/>
          </p:cNvSpPr>
          <p:nvPr/>
        </p:nvSpPr>
        <p:spPr>
          <a:xfrm xmlns:a="http://schemas.openxmlformats.org/drawingml/2006/main">
            <a:off x="8172450" y="1847850"/>
            <a:ext cx="340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A75B17"/>
                </a:solidFill>
                <a:latin typeface="Arial"/>
                <a:ea typeface="Arial"/>
                <a:cs typeface="Arial"/>
              </a:defRPr>
            </a:pPr>
            <a:r>
              <a:rPr sz="1725" b="1">
                <a:solidFill>
                  <a:srgbClr val="A75B17"/>
                </a:solidFill>
                <a:latin typeface="Arial"/>
                <a:ea typeface="Arial"/>
                <a:cs typeface="Arial"/>
              </a:rPr>
              <a:t>ISOLATED VALIDATION</a:t>
            </a:r>
          </a:p>
        </p:txBody>
      </p:sp>
      <p:sp>
        <p:nvSpPr>
          <p:cNvPr id="8" name="">
            <a:extLst xmlns:a="http://schemas.openxmlformats.org/drawingml/2006/main">
              <a:ext uri="{FF2B5EF4-FFF2-40B4-BE49-F238E27FC236}">
                <a16:creationId xmlns:a16="http://schemas.microsoft.com/office/drawing/2014/main" id="{C6B9343B-1F41-4619-938B-05A3A3A00C10}"/>
              </a:ext>
            </a:extLst>
          </p:cNvPr>
          <p:cNvSpPr>
            <a:spLocks xmlns:a="http://schemas.openxmlformats.org/drawingml/2006/main" noGrp="1"/>
          </p:cNvSpPr>
          <p:nvPr/>
        </p:nvSpPr>
        <p:spPr>
          <a:xfrm xmlns:a="http://schemas.openxmlformats.org/drawingml/2006/main">
            <a:off x="609600" y="2371725"/>
            <a:ext cx="3409950" cy="8667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9" name="">
            <a:extLst xmlns:a="http://schemas.openxmlformats.org/drawingml/2006/main">
              <a:ext uri="{FF2B5EF4-FFF2-40B4-BE49-F238E27FC236}">
                <a16:creationId xmlns:a16="http://schemas.microsoft.com/office/drawing/2014/main" id="{B06659A0-1611-4490-ABB9-26B755A986B5}"/>
              </a:ext>
            </a:extLst>
          </p:cNvPr>
          <p:cNvSpPr>
            <a:spLocks xmlns:a="http://schemas.openxmlformats.org/drawingml/2006/main" noGrp="1"/>
          </p:cNvSpPr>
          <p:nvPr/>
        </p:nvSpPr>
        <p:spPr>
          <a:xfrm xmlns:a="http://schemas.openxmlformats.org/drawingml/2006/main">
            <a:off x="723900" y="2486025"/>
            <a:ext cx="3181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9"/>
                </a:solidFill>
                <a:latin typeface="Arial"/>
                <a:ea typeface="Arial"/>
                <a:cs typeface="Arial"/>
              </a:defRPr>
            </a:pPr>
            <a:r>
              <a:rPr sz="1800" b="1">
                <a:solidFill>
                  <a:srgbClr val="007F79"/>
                </a:solidFill>
                <a:latin typeface="Arial"/>
                <a:ea typeface="Arial"/>
                <a:cs typeface="Arial"/>
              </a:rPr>
              <a:t>capture_firefox.py</a:t>
            </a:r>
          </a:p>
        </p:txBody>
      </p:sp>
      <p:sp>
        <p:nvSpPr>
          <p:cNvPr id="10" name="">
            <a:extLst xmlns:a="http://schemas.openxmlformats.org/drawingml/2006/main">
              <a:ext uri="{FF2B5EF4-FFF2-40B4-BE49-F238E27FC236}">
                <a16:creationId xmlns:a16="http://schemas.microsoft.com/office/drawing/2014/main" id="{C8D37769-CB9C-4C0C-9591-6E65E8711731}"/>
              </a:ext>
            </a:extLst>
          </p:cNvPr>
          <p:cNvSpPr>
            <a:spLocks xmlns:a="http://schemas.openxmlformats.org/drawingml/2006/main" noGrp="1"/>
          </p:cNvSpPr>
          <p:nvPr/>
        </p:nvSpPr>
        <p:spPr>
          <a:xfrm xmlns:a="http://schemas.openxmlformats.org/drawingml/2006/main">
            <a:off x="723900" y="2876550"/>
            <a:ext cx="318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2"/>
                </a:solidFill>
                <a:latin typeface="Arial"/>
                <a:ea typeface="Arial"/>
                <a:cs typeface="Arial"/>
              </a:defRPr>
            </a:pPr>
            <a:r>
              <a:rPr sz="1425" b="0">
                <a:solidFill>
                  <a:srgbClr val="536572"/>
                </a:solidFill>
                <a:latin typeface="Arial"/>
                <a:ea typeface="Arial"/>
                <a:cs typeface="Arial"/>
              </a:rPr>
              <a:t>Capture core + PCAP</a:t>
            </a:r>
          </a:p>
        </p:txBody>
      </p:sp>
      <p:sp>
        <p:nvSpPr>
          <p:cNvPr id="11" name="">
            <a:extLst xmlns:a="http://schemas.openxmlformats.org/drawingml/2006/main">
              <a:ext uri="{FF2B5EF4-FFF2-40B4-BE49-F238E27FC236}">
                <a16:creationId xmlns:a16="http://schemas.microsoft.com/office/drawing/2014/main" id="{E7C178E6-4915-4D5C-A08E-CC6975E1AEF2}"/>
              </a:ext>
            </a:extLst>
          </p:cNvPr>
          <p:cNvSpPr>
            <a:spLocks xmlns:a="http://schemas.openxmlformats.org/drawingml/2006/main" noGrp="1"/>
          </p:cNvSpPr>
          <p:nvPr/>
        </p:nvSpPr>
        <p:spPr>
          <a:xfrm xmlns:a="http://schemas.openxmlformats.org/drawingml/2006/main">
            <a:off x="609600" y="3400425"/>
            <a:ext cx="3409950" cy="8667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2" name="">
            <a:extLst xmlns:a="http://schemas.openxmlformats.org/drawingml/2006/main">
              <a:ext uri="{FF2B5EF4-FFF2-40B4-BE49-F238E27FC236}">
                <a16:creationId xmlns:a16="http://schemas.microsoft.com/office/drawing/2014/main" id="{D7E1029A-37C0-4633-AEC6-2AB653E37944}"/>
              </a:ext>
            </a:extLst>
          </p:cNvPr>
          <p:cNvSpPr>
            <a:spLocks xmlns:a="http://schemas.openxmlformats.org/drawingml/2006/main" noGrp="1"/>
          </p:cNvSpPr>
          <p:nvPr/>
        </p:nvSpPr>
        <p:spPr>
          <a:xfrm xmlns:a="http://schemas.openxmlformats.org/drawingml/2006/main">
            <a:off x="723900" y="3514725"/>
            <a:ext cx="3181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9"/>
                </a:solidFill>
                <a:latin typeface="Arial"/>
                <a:ea typeface="Arial"/>
                <a:cs typeface="Arial"/>
              </a:defRPr>
            </a:pPr>
            <a:r>
              <a:rPr sz="1800" b="1">
                <a:solidFill>
                  <a:srgbClr val="007F79"/>
                </a:solidFill>
                <a:latin typeface="Arial"/>
                <a:ea typeface="Arial"/>
                <a:cs typeface="Arial"/>
              </a:rPr>
              <a:t>core_memory.py</a:t>
            </a:r>
          </a:p>
        </p:txBody>
      </p:sp>
      <p:sp>
        <p:nvSpPr>
          <p:cNvPr id="13" name="">
            <a:extLst xmlns:a="http://schemas.openxmlformats.org/drawingml/2006/main">
              <a:ext uri="{FF2B5EF4-FFF2-40B4-BE49-F238E27FC236}">
                <a16:creationId xmlns:a16="http://schemas.microsoft.com/office/drawing/2014/main" id="{1702C497-B6BE-4B28-8A48-83FFD58EBC4A}"/>
              </a:ext>
            </a:extLst>
          </p:cNvPr>
          <p:cNvSpPr>
            <a:spLocks xmlns:a="http://schemas.openxmlformats.org/drawingml/2006/main" noGrp="1"/>
          </p:cNvSpPr>
          <p:nvPr/>
        </p:nvSpPr>
        <p:spPr>
          <a:xfrm xmlns:a="http://schemas.openxmlformats.org/drawingml/2006/main">
            <a:off x="723900" y="3905250"/>
            <a:ext cx="318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2"/>
                </a:solidFill>
                <a:latin typeface="Arial"/>
                <a:ea typeface="Arial"/>
                <a:cs typeface="Arial"/>
              </a:defRPr>
            </a:pPr>
            <a:r>
              <a:rPr sz="1425" b="0">
                <a:solidFill>
                  <a:srgbClr val="536572"/>
                </a:solidFill>
                <a:latin typeface="Arial"/>
                <a:ea typeface="Arial"/>
                <a:cs typeface="Arial"/>
              </a:rPr>
              <a:t>Read saved ELF segments</a:t>
            </a:r>
          </a:p>
        </p:txBody>
      </p:sp>
      <p:sp>
        <p:nvSpPr>
          <p:cNvPr id="14" name="">
            <a:extLst xmlns:a="http://schemas.openxmlformats.org/drawingml/2006/main">
              <a:ext uri="{FF2B5EF4-FFF2-40B4-BE49-F238E27FC236}">
                <a16:creationId xmlns:a16="http://schemas.microsoft.com/office/drawing/2014/main" id="{2AC43F2D-7D6B-41AE-B44A-71DA61D32B6D}"/>
              </a:ext>
            </a:extLst>
          </p:cNvPr>
          <p:cNvSpPr>
            <a:spLocks xmlns:a="http://schemas.openxmlformats.org/drawingml/2006/main" noGrp="1"/>
          </p:cNvSpPr>
          <p:nvPr/>
        </p:nvSpPr>
        <p:spPr>
          <a:xfrm xmlns:a="http://schemas.openxmlformats.org/drawingml/2006/main">
            <a:off x="609600" y="4429125"/>
            <a:ext cx="3409950" cy="8667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5" name="">
            <a:extLst xmlns:a="http://schemas.openxmlformats.org/drawingml/2006/main">
              <a:ext uri="{FF2B5EF4-FFF2-40B4-BE49-F238E27FC236}">
                <a16:creationId xmlns:a16="http://schemas.microsoft.com/office/drawing/2014/main" id="{D8D6BC0B-AA3A-4394-BF19-62859BC10031}"/>
              </a:ext>
            </a:extLst>
          </p:cNvPr>
          <p:cNvSpPr>
            <a:spLocks xmlns:a="http://schemas.openxmlformats.org/drawingml/2006/main" noGrp="1"/>
          </p:cNvSpPr>
          <p:nvPr/>
        </p:nvSpPr>
        <p:spPr>
          <a:xfrm xmlns:a="http://schemas.openxmlformats.org/drawingml/2006/main">
            <a:off x="723900" y="4543425"/>
            <a:ext cx="3181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9"/>
                </a:solidFill>
                <a:latin typeface="Arial"/>
                <a:ea typeface="Arial"/>
                <a:cs typeface="Arial"/>
              </a:defRPr>
            </a:pPr>
            <a:r>
              <a:rPr sz="1800" b="1">
                <a:solidFill>
                  <a:srgbClr val="007F79"/>
                </a:solidFill>
                <a:latin typeface="Arial"/>
                <a:ea typeface="Arial"/>
                <a:cs typeface="Arial"/>
              </a:rPr>
              <a:t>rank_tls13.py</a:t>
            </a:r>
          </a:p>
        </p:txBody>
      </p:sp>
      <p:sp>
        <p:nvSpPr>
          <p:cNvPr id="16" name="">
            <a:extLst xmlns:a="http://schemas.openxmlformats.org/drawingml/2006/main">
              <a:ext uri="{FF2B5EF4-FFF2-40B4-BE49-F238E27FC236}">
                <a16:creationId xmlns:a16="http://schemas.microsoft.com/office/drawing/2014/main" id="{DF5BC5D8-963F-4C29-9EC1-7A054A592131}"/>
              </a:ext>
            </a:extLst>
          </p:cNvPr>
          <p:cNvSpPr>
            <a:spLocks xmlns:a="http://schemas.openxmlformats.org/drawingml/2006/main" noGrp="1"/>
          </p:cNvSpPr>
          <p:nvPr/>
        </p:nvSpPr>
        <p:spPr>
          <a:xfrm xmlns:a="http://schemas.openxmlformats.org/drawingml/2006/main">
            <a:off x="723900" y="4933950"/>
            <a:ext cx="318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2"/>
                </a:solidFill>
                <a:latin typeface="Arial"/>
                <a:ea typeface="Arial"/>
                <a:cs typeface="Arial"/>
              </a:defRPr>
            </a:pPr>
            <a:r>
              <a:rPr sz="1425" b="0">
                <a:solidFill>
                  <a:srgbClr val="536572"/>
                </a:solidFill>
                <a:latin typeface="Arial"/>
                <a:ea typeface="Arial"/>
                <a:cs typeface="Arial"/>
              </a:rPr>
              <a:t>Enumerate structural candidates</a:t>
            </a:r>
          </a:p>
        </p:txBody>
      </p:sp>
      <p:sp>
        <p:nvSpPr>
          <p:cNvPr id="17" name="">
            <a:extLst xmlns:a="http://schemas.openxmlformats.org/drawingml/2006/main">
              <a:ext uri="{FF2B5EF4-FFF2-40B4-BE49-F238E27FC236}">
                <a16:creationId xmlns:a16="http://schemas.microsoft.com/office/drawing/2014/main" id="{E8837901-C88E-4B61-9886-79371D49050E}"/>
              </a:ext>
            </a:extLst>
          </p:cNvPr>
          <p:cNvSpPr>
            <a:spLocks xmlns:a="http://schemas.openxmlformats.org/drawingml/2006/main" noGrp="1"/>
          </p:cNvSpPr>
          <p:nvPr/>
        </p:nvSpPr>
        <p:spPr>
          <a:xfrm xmlns:a="http://schemas.openxmlformats.org/drawingml/2006/main">
            <a:off x="4391025" y="2371725"/>
            <a:ext cx="3409950" cy="8667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8" name="">
            <a:extLst xmlns:a="http://schemas.openxmlformats.org/drawingml/2006/main">
              <a:ext uri="{FF2B5EF4-FFF2-40B4-BE49-F238E27FC236}">
                <a16:creationId xmlns:a16="http://schemas.microsoft.com/office/drawing/2014/main" id="{E2A2FD7F-E5E2-49EF-8CC0-D2E2A7EBBE75}"/>
              </a:ext>
            </a:extLst>
          </p:cNvPr>
          <p:cNvSpPr>
            <a:spLocks xmlns:a="http://schemas.openxmlformats.org/drawingml/2006/main" noGrp="1"/>
          </p:cNvSpPr>
          <p:nvPr/>
        </p:nvSpPr>
        <p:spPr>
          <a:xfrm xmlns:a="http://schemas.openxmlformats.org/drawingml/2006/main">
            <a:off x="4505325" y="2486025"/>
            <a:ext cx="3181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9"/>
                </a:solidFill>
                <a:latin typeface="Arial"/>
                <a:ea typeface="Arial"/>
                <a:cs typeface="Arial"/>
              </a:defRPr>
            </a:pPr>
            <a:r>
              <a:rPr sz="1800" b="1">
                <a:solidFill>
                  <a:srgbClr val="007F79"/>
                </a:solidFill>
                <a:latin typeface="Arial"/>
                <a:ea typeface="Arial"/>
                <a:cs typeface="Arial"/>
              </a:rPr>
              <a:t>recover.py</a:t>
            </a:r>
          </a:p>
        </p:txBody>
      </p:sp>
      <p:sp>
        <p:nvSpPr>
          <p:cNvPr id="19" name="">
            <a:extLst xmlns:a="http://schemas.openxmlformats.org/drawingml/2006/main">
              <a:ext uri="{FF2B5EF4-FFF2-40B4-BE49-F238E27FC236}">
                <a16:creationId xmlns:a16="http://schemas.microsoft.com/office/drawing/2014/main" id="{1E65F09B-EB2A-44A4-8ACC-43A66D49745A}"/>
              </a:ext>
            </a:extLst>
          </p:cNvPr>
          <p:cNvSpPr>
            <a:spLocks xmlns:a="http://schemas.openxmlformats.org/drawingml/2006/main" noGrp="1"/>
          </p:cNvSpPr>
          <p:nvPr/>
        </p:nvSpPr>
        <p:spPr>
          <a:xfrm xmlns:a="http://schemas.openxmlformats.org/drawingml/2006/main">
            <a:off x="4505325" y="2876550"/>
            <a:ext cx="318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2"/>
                </a:solidFill>
                <a:latin typeface="Arial"/>
                <a:ea typeface="Arial"/>
                <a:cs typeface="Arial"/>
              </a:defRPr>
            </a:pPr>
            <a:r>
              <a:rPr sz="1425" b="0">
                <a:solidFill>
                  <a:srgbClr val="536572"/>
                </a:solidFill>
                <a:latin typeface="Arial"/>
                <a:ea typeface="Arial"/>
                <a:cs typeface="Arial"/>
              </a:rPr>
              <a:t>Discover and assign roles</a:t>
            </a:r>
          </a:p>
        </p:txBody>
      </p:sp>
      <p:sp>
        <p:nvSpPr>
          <p:cNvPr id="20" name="">
            <a:extLst xmlns:a="http://schemas.openxmlformats.org/drawingml/2006/main">
              <a:ext uri="{FF2B5EF4-FFF2-40B4-BE49-F238E27FC236}">
                <a16:creationId xmlns:a16="http://schemas.microsoft.com/office/drawing/2014/main" id="{98A9CA84-B38A-41F7-A5E6-18ABBDE0A763}"/>
              </a:ext>
            </a:extLst>
          </p:cNvPr>
          <p:cNvSpPr>
            <a:spLocks xmlns:a="http://schemas.openxmlformats.org/drawingml/2006/main" noGrp="1"/>
          </p:cNvSpPr>
          <p:nvPr/>
        </p:nvSpPr>
        <p:spPr>
          <a:xfrm xmlns:a="http://schemas.openxmlformats.org/drawingml/2006/main">
            <a:off x="4391025" y="3400425"/>
            <a:ext cx="3409950" cy="8667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1" name="">
            <a:extLst xmlns:a="http://schemas.openxmlformats.org/drawingml/2006/main">
              <a:ext uri="{FF2B5EF4-FFF2-40B4-BE49-F238E27FC236}">
                <a16:creationId xmlns:a16="http://schemas.microsoft.com/office/drawing/2014/main" id="{28194771-3CFD-4131-8F27-CC1E68F93586}"/>
              </a:ext>
            </a:extLst>
          </p:cNvPr>
          <p:cNvSpPr>
            <a:spLocks xmlns:a="http://schemas.openxmlformats.org/drawingml/2006/main" noGrp="1"/>
          </p:cNvSpPr>
          <p:nvPr/>
        </p:nvSpPr>
        <p:spPr>
          <a:xfrm xmlns:a="http://schemas.openxmlformats.org/drawingml/2006/main">
            <a:off x="4505325" y="3514725"/>
            <a:ext cx="3181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9"/>
                </a:solidFill>
                <a:latin typeface="Arial"/>
                <a:ea typeface="Arial"/>
                <a:cs typeface="Arial"/>
              </a:defRPr>
            </a:pPr>
            <a:r>
              <a:rPr sz="1800" b="1">
                <a:solidFill>
                  <a:srgbClr val="007F79"/>
                </a:solidFill>
                <a:latin typeface="Arial"/>
                <a:ea typeface="Arial"/>
                <a:cs typeface="Arial"/>
              </a:rPr>
              <a:t>record_auth.py</a:t>
            </a:r>
          </a:p>
        </p:txBody>
      </p:sp>
      <p:sp>
        <p:nvSpPr>
          <p:cNvPr id="22" name="">
            <a:extLst xmlns:a="http://schemas.openxmlformats.org/drawingml/2006/main">
              <a:ext uri="{FF2B5EF4-FFF2-40B4-BE49-F238E27FC236}">
                <a16:creationId xmlns:a16="http://schemas.microsoft.com/office/drawing/2014/main" id="{BC61E250-9091-4CB0-8A17-DAACD5056BE7}"/>
              </a:ext>
            </a:extLst>
          </p:cNvPr>
          <p:cNvSpPr>
            <a:spLocks xmlns:a="http://schemas.openxmlformats.org/drawingml/2006/main" noGrp="1"/>
          </p:cNvSpPr>
          <p:nvPr/>
        </p:nvSpPr>
        <p:spPr>
          <a:xfrm xmlns:a="http://schemas.openxmlformats.org/drawingml/2006/main">
            <a:off x="4505325" y="3905250"/>
            <a:ext cx="318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2"/>
                </a:solidFill>
                <a:latin typeface="Arial"/>
                <a:ea typeface="Arial"/>
                <a:cs typeface="Arial"/>
              </a:defRPr>
            </a:pPr>
            <a:r>
              <a:rPr sz="1425" b="0">
                <a:solidFill>
                  <a:srgbClr val="536572"/>
                </a:solidFill>
                <a:latin typeface="Arial"/>
                <a:ea typeface="Arial"/>
                <a:cs typeface="Arial"/>
              </a:rPr>
              <a:t>Authenticate encrypted records</a:t>
            </a:r>
          </a:p>
        </p:txBody>
      </p:sp>
      <p:sp>
        <p:nvSpPr>
          <p:cNvPr id="23" name="">
            <a:extLst xmlns:a="http://schemas.openxmlformats.org/drawingml/2006/main">
              <a:ext uri="{FF2B5EF4-FFF2-40B4-BE49-F238E27FC236}">
                <a16:creationId xmlns:a16="http://schemas.microsoft.com/office/drawing/2014/main" id="{85285E37-6078-4438-A0DD-136C249D7F27}"/>
              </a:ext>
            </a:extLst>
          </p:cNvPr>
          <p:cNvSpPr>
            <a:spLocks xmlns:a="http://schemas.openxmlformats.org/drawingml/2006/main" noGrp="1"/>
          </p:cNvSpPr>
          <p:nvPr/>
        </p:nvSpPr>
        <p:spPr>
          <a:xfrm xmlns:a="http://schemas.openxmlformats.org/drawingml/2006/main">
            <a:off x="4391025" y="4429125"/>
            <a:ext cx="3409950" cy="8667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4" name="">
            <a:extLst xmlns:a="http://schemas.openxmlformats.org/drawingml/2006/main">
              <a:ext uri="{FF2B5EF4-FFF2-40B4-BE49-F238E27FC236}">
                <a16:creationId xmlns:a16="http://schemas.microsoft.com/office/drawing/2014/main" id="{72C59A34-0101-4F56-AC3E-AAEF1BF2D920}"/>
              </a:ext>
            </a:extLst>
          </p:cNvPr>
          <p:cNvSpPr>
            <a:spLocks xmlns:a="http://schemas.openxmlformats.org/drawingml/2006/main" noGrp="1"/>
          </p:cNvSpPr>
          <p:nvPr/>
        </p:nvSpPr>
        <p:spPr>
          <a:xfrm xmlns:a="http://schemas.openxmlformats.org/drawingml/2006/main">
            <a:off x="4505325" y="4543425"/>
            <a:ext cx="3181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9"/>
                </a:solidFill>
                <a:latin typeface="Arial"/>
                <a:ea typeface="Arial"/>
                <a:cs typeface="Arial"/>
              </a:defRPr>
            </a:pPr>
            <a:r>
              <a:rPr sz="1800" b="1">
                <a:solidFill>
                  <a:srgbClr val="007F79"/>
                </a:solidFill>
                <a:latin typeface="Arial"/>
                <a:ea typeface="Arial"/>
                <a:cs typeface="Arial"/>
              </a:rPr>
              <a:t>evaluate.py</a:t>
            </a:r>
          </a:p>
        </p:txBody>
      </p:sp>
      <p:sp>
        <p:nvSpPr>
          <p:cNvPr id="25" name="">
            <a:extLst xmlns:a="http://schemas.openxmlformats.org/drawingml/2006/main">
              <a:ext uri="{FF2B5EF4-FFF2-40B4-BE49-F238E27FC236}">
                <a16:creationId xmlns:a16="http://schemas.microsoft.com/office/drawing/2014/main" id="{35CD7F0A-EBC4-4F65-9C55-757DC4CA5DBD}"/>
              </a:ext>
            </a:extLst>
          </p:cNvPr>
          <p:cNvSpPr>
            <a:spLocks xmlns:a="http://schemas.openxmlformats.org/drawingml/2006/main" noGrp="1"/>
          </p:cNvSpPr>
          <p:nvPr/>
        </p:nvSpPr>
        <p:spPr>
          <a:xfrm xmlns:a="http://schemas.openxmlformats.org/drawingml/2006/main">
            <a:off x="4505325" y="4933950"/>
            <a:ext cx="318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2"/>
                </a:solidFill>
                <a:latin typeface="Arial"/>
                <a:ea typeface="Arial"/>
                <a:cs typeface="Arial"/>
              </a:defRPr>
            </a:pPr>
            <a:r>
              <a:rPr sz="1425" b="0">
                <a:solidFill>
                  <a:srgbClr val="536572"/>
                </a:solidFill>
                <a:latin typeface="Arial"/>
                <a:ea typeface="Arial"/>
                <a:cs typeface="Arial"/>
              </a:rPr>
              <a:t>Score sealed decisions</a:t>
            </a:r>
          </a:p>
        </p:txBody>
      </p:sp>
      <p:sp>
        <p:nvSpPr>
          <p:cNvPr id="26" name="">
            <a:extLst xmlns:a="http://schemas.openxmlformats.org/drawingml/2006/main">
              <a:ext uri="{FF2B5EF4-FFF2-40B4-BE49-F238E27FC236}">
                <a16:creationId xmlns:a16="http://schemas.microsoft.com/office/drawing/2014/main" id="{4E67BF4A-BAD4-4C79-8082-812B1D7B95D9}"/>
              </a:ext>
            </a:extLst>
          </p:cNvPr>
          <p:cNvSpPr>
            <a:spLocks xmlns:a="http://schemas.openxmlformats.org/drawingml/2006/main" noGrp="1"/>
          </p:cNvSpPr>
          <p:nvPr/>
        </p:nvSpPr>
        <p:spPr>
          <a:xfrm xmlns:a="http://schemas.openxmlformats.org/drawingml/2006/main">
            <a:off x="8172450" y="2371725"/>
            <a:ext cx="3409950" cy="866775"/>
          </a:xfrm>
          <a:prstGeom xmlns:a="http://schemas.openxmlformats.org/drawingml/2006/main" prst="rect">
            <a:avLst/>
          </a:prstGeom>
          <a:solidFill xmlns:a="http://schemas.openxmlformats.org/drawingml/2006/main">
            <a:srgbClr val="E1EFEC"/>
          </a:solidFill>
          <a:ln xmlns:a="http://schemas.openxmlformats.org/drawingml/2006/main" w="28575">
            <a:solidFill>
              <a:srgbClr val="A75B17"/>
            </a:solidFill>
          </a:ln>
        </p:spPr>
      </p:sp>
      <p:sp>
        <p:nvSpPr>
          <p:cNvPr id="27" name="">
            <a:extLst xmlns:a="http://schemas.openxmlformats.org/drawingml/2006/main">
              <a:ext uri="{FF2B5EF4-FFF2-40B4-BE49-F238E27FC236}">
                <a16:creationId xmlns:a16="http://schemas.microsoft.com/office/drawing/2014/main" id="{5CC9EA32-B496-4A5C-ACCF-C486FA919768}"/>
              </a:ext>
            </a:extLst>
          </p:cNvPr>
          <p:cNvSpPr>
            <a:spLocks xmlns:a="http://schemas.openxmlformats.org/drawingml/2006/main" noGrp="1"/>
          </p:cNvSpPr>
          <p:nvPr/>
        </p:nvSpPr>
        <p:spPr>
          <a:xfrm xmlns:a="http://schemas.openxmlformats.org/drawingml/2006/main">
            <a:off x="8286750" y="2486025"/>
            <a:ext cx="3181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75B17"/>
                </a:solidFill>
                <a:latin typeface="Arial"/>
                <a:ea typeface="Arial"/>
                <a:cs typeface="Arial"/>
              </a:defRPr>
            </a:pPr>
            <a:r>
              <a:rPr sz="1800" b="1">
                <a:solidFill>
                  <a:srgbClr val="A75B17"/>
                </a:solidFill>
                <a:latin typeface="Arial"/>
                <a:ea typeface="Arial"/>
                <a:cs typeface="Arial"/>
              </a:rPr>
              <a:t>sandbox.py + seals.py</a:t>
            </a:r>
          </a:p>
        </p:txBody>
      </p:sp>
      <p:sp>
        <p:nvSpPr>
          <p:cNvPr id="28" name="">
            <a:extLst xmlns:a="http://schemas.openxmlformats.org/drawingml/2006/main">
              <a:ext uri="{FF2B5EF4-FFF2-40B4-BE49-F238E27FC236}">
                <a16:creationId xmlns:a16="http://schemas.microsoft.com/office/drawing/2014/main" id="{C26055D7-E56B-44B9-9062-A1A33A4610CF}"/>
              </a:ext>
            </a:extLst>
          </p:cNvPr>
          <p:cNvSpPr>
            <a:spLocks xmlns:a="http://schemas.openxmlformats.org/drawingml/2006/main" noGrp="1"/>
          </p:cNvSpPr>
          <p:nvPr/>
        </p:nvSpPr>
        <p:spPr>
          <a:xfrm xmlns:a="http://schemas.openxmlformats.org/drawingml/2006/main">
            <a:off x="8286750" y="2876550"/>
            <a:ext cx="318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2"/>
                </a:solidFill>
                <a:latin typeface="Arial"/>
                <a:ea typeface="Arial"/>
                <a:cs typeface="Arial"/>
              </a:defRPr>
            </a:pPr>
            <a:r>
              <a:rPr sz="1425" b="0">
                <a:solidFill>
                  <a:srgbClr val="536572"/>
                </a:solidFill>
                <a:latin typeface="Arial"/>
                <a:ea typeface="Arial"/>
                <a:cs typeface="Arial"/>
              </a:rPr>
              <a:t>Hide answers, fix outputs</a:t>
            </a:r>
          </a:p>
        </p:txBody>
      </p:sp>
      <p:sp>
        <p:nvSpPr>
          <p:cNvPr id="29" name="">
            <a:extLst xmlns:a="http://schemas.openxmlformats.org/drawingml/2006/main">
              <a:ext uri="{FF2B5EF4-FFF2-40B4-BE49-F238E27FC236}">
                <a16:creationId xmlns:a16="http://schemas.microsoft.com/office/drawing/2014/main" id="{5617FED9-986B-4684-A9F8-CC9C99B538BF}"/>
              </a:ext>
            </a:extLst>
          </p:cNvPr>
          <p:cNvSpPr>
            <a:spLocks xmlns:a="http://schemas.openxmlformats.org/drawingml/2006/main" noGrp="1"/>
          </p:cNvSpPr>
          <p:nvPr/>
        </p:nvSpPr>
        <p:spPr>
          <a:xfrm xmlns:a="http://schemas.openxmlformats.org/drawingml/2006/main">
            <a:off x="8172450" y="3400425"/>
            <a:ext cx="3409950" cy="866775"/>
          </a:xfrm>
          <a:prstGeom xmlns:a="http://schemas.openxmlformats.org/drawingml/2006/main" prst="rect">
            <a:avLst/>
          </a:prstGeom>
          <a:solidFill xmlns:a="http://schemas.openxmlformats.org/drawingml/2006/main">
            <a:srgbClr val="E1EFEC"/>
          </a:solidFill>
          <a:ln xmlns:a="http://schemas.openxmlformats.org/drawingml/2006/main" w="28575">
            <a:solidFill>
              <a:srgbClr val="A75B17"/>
            </a:solidFill>
          </a:ln>
        </p:spPr>
      </p:sp>
      <p:sp>
        <p:nvSpPr>
          <p:cNvPr id="30" name="">
            <a:extLst xmlns:a="http://schemas.openxmlformats.org/drawingml/2006/main">
              <a:ext uri="{FF2B5EF4-FFF2-40B4-BE49-F238E27FC236}">
                <a16:creationId xmlns:a16="http://schemas.microsoft.com/office/drawing/2014/main" id="{95558B4F-1997-409A-8E1C-C1C999AE24B2}"/>
              </a:ext>
            </a:extLst>
          </p:cNvPr>
          <p:cNvSpPr>
            <a:spLocks xmlns:a="http://schemas.openxmlformats.org/drawingml/2006/main" noGrp="1"/>
          </p:cNvSpPr>
          <p:nvPr/>
        </p:nvSpPr>
        <p:spPr>
          <a:xfrm xmlns:a="http://schemas.openxmlformats.org/drawingml/2006/main">
            <a:off x="8286750" y="3514725"/>
            <a:ext cx="3181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75B17"/>
                </a:solidFill>
                <a:latin typeface="Arial"/>
                <a:ea typeface="Arial"/>
                <a:cs typeface="Arial"/>
              </a:defRPr>
            </a:pPr>
            <a:r>
              <a:rPr sz="1800" b="1">
                <a:solidFill>
                  <a:srgbClr val="A75B17"/>
                </a:solidFill>
                <a:latin typeface="Arial"/>
                <a:ea typeface="Arial"/>
                <a:cs typeface="Arial"/>
              </a:rPr>
              <a:t>comparators.py</a:t>
            </a:r>
          </a:p>
        </p:txBody>
      </p:sp>
      <p:sp>
        <p:nvSpPr>
          <p:cNvPr id="31" name="">
            <a:extLst xmlns:a="http://schemas.openxmlformats.org/drawingml/2006/main">
              <a:ext uri="{FF2B5EF4-FFF2-40B4-BE49-F238E27FC236}">
                <a16:creationId xmlns:a16="http://schemas.microsoft.com/office/drawing/2014/main" id="{6C5973D8-C0D9-4ABD-AC46-880C83921688}"/>
              </a:ext>
            </a:extLst>
          </p:cNvPr>
          <p:cNvSpPr>
            <a:spLocks xmlns:a="http://schemas.openxmlformats.org/drawingml/2006/main" noGrp="1"/>
          </p:cNvSpPr>
          <p:nvPr/>
        </p:nvSpPr>
        <p:spPr>
          <a:xfrm xmlns:a="http://schemas.openxmlformats.org/drawingml/2006/main">
            <a:off x="8286750" y="3905250"/>
            <a:ext cx="318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2"/>
                </a:solidFill>
                <a:latin typeface="Arial"/>
                <a:ea typeface="Arial"/>
                <a:cs typeface="Arial"/>
              </a:defRPr>
            </a:pPr>
            <a:r>
              <a:rPr sz="1425" b="0">
                <a:solidFill>
                  <a:srgbClr val="536572"/>
                </a:solidFill>
                <a:latin typeface="Arial"/>
                <a:ea typeface="Arial"/>
                <a:cs typeface="Arial"/>
              </a:rPr>
              <a:t>Implement comparison arms</a:t>
            </a:r>
          </a:p>
        </p:txBody>
      </p:sp>
      <p:sp>
        <p:nvSpPr>
          <p:cNvPr id="32" name="">
            <a:extLst xmlns:a="http://schemas.openxmlformats.org/drawingml/2006/main">
              <a:ext uri="{FF2B5EF4-FFF2-40B4-BE49-F238E27FC236}">
                <a16:creationId xmlns:a16="http://schemas.microsoft.com/office/drawing/2014/main" id="{A67EACE7-441E-4B17-B534-96FB7380881E}"/>
              </a:ext>
            </a:extLst>
          </p:cNvPr>
          <p:cNvSpPr>
            <a:spLocks xmlns:a="http://schemas.openxmlformats.org/drawingml/2006/main" noGrp="1"/>
          </p:cNvSpPr>
          <p:nvPr/>
        </p:nvSpPr>
        <p:spPr>
          <a:xfrm xmlns:a="http://schemas.openxmlformats.org/drawingml/2006/main">
            <a:off x="8172450" y="4429125"/>
            <a:ext cx="3409950" cy="866775"/>
          </a:xfrm>
          <a:prstGeom xmlns:a="http://schemas.openxmlformats.org/drawingml/2006/main" prst="rect">
            <a:avLst/>
          </a:prstGeom>
          <a:solidFill xmlns:a="http://schemas.openxmlformats.org/drawingml/2006/main">
            <a:srgbClr val="E1EFEC"/>
          </a:solidFill>
          <a:ln xmlns:a="http://schemas.openxmlformats.org/drawingml/2006/main" w="28575">
            <a:solidFill>
              <a:srgbClr val="A75B17"/>
            </a:solidFill>
          </a:ln>
        </p:spPr>
      </p:sp>
      <p:sp>
        <p:nvSpPr>
          <p:cNvPr id="33" name="">
            <a:extLst xmlns:a="http://schemas.openxmlformats.org/drawingml/2006/main">
              <a:ext uri="{FF2B5EF4-FFF2-40B4-BE49-F238E27FC236}">
                <a16:creationId xmlns:a16="http://schemas.microsoft.com/office/drawing/2014/main" id="{CF1D3E72-B48B-4FD7-9CCB-4832457D20CA}"/>
              </a:ext>
            </a:extLst>
          </p:cNvPr>
          <p:cNvSpPr>
            <a:spLocks xmlns:a="http://schemas.openxmlformats.org/drawingml/2006/main" noGrp="1"/>
          </p:cNvSpPr>
          <p:nvPr/>
        </p:nvSpPr>
        <p:spPr>
          <a:xfrm xmlns:a="http://schemas.openxmlformats.org/drawingml/2006/main">
            <a:off x="8286750" y="4543425"/>
            <a:ext cx="3181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75B17"/>
                </a:solidFill>
                <a:latin typeface="Arial"/>
                <a:ea typeface="Arial"/>
                <a:cs typeface="Arial"/>
              </a:defRPr>
            </a:pPr>
            <a:r>
              <a:rPr sz="1800" b="1">
                <a:solidFill>
                  <a:srgbClr val="A75B17"/>
                </a:solidFill>
                <a:latin typeface="Arial"/>
                <a:ea typeface="Arial"/>
                <a:cs typeface="Arial"/>
              </a:rPr>
              <a:t>sensitivity_study.py</a:t>
            </a:r>
          </a:p>
        </p:txBody>
      </p:sp>
      <p:sp>
        <p:nvSpPr>
          <p:cNvPr id="34" name="">
            <a:extLst xmlns:a="http://schemas.openxmlformats.org/drawingml/2006/main">
              <a:ext uri="{FF2B5EF4-FFF2-40B4-BE49-F238E27FC236}">
                <a16:creationId xmlns:a16="http://schemas.microsoft.com/office/drawing/2014/main" id="{42A35633-FD33-4448-A8B2-4D9C2BB87D62}"/>
              </a:ext>
            </a:extLst>
          </p:cNvPr>
          <p:cNvSpPr>
            <a:spLocks xmlns:a="http://schemas.openxmlformats.org/drawingml/2006/main" noGrp="1"/>
          </p:cNvSpPr>
          <p:nvPr/>
        </p:nvSpPr>
        <p:spPr>
          <a:xfrm xmlns:a="http://schemas.openxmlformats.org/drawingml/2006/main">
            <a:off x="8286750" y="4933950"/>
            <a:ext cx="318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2"/>
                </a:solidFill>
                <a:latin typeface="Arial"/>
                <a:ea typeface="Arial"/>
                <a:cs typeface="Arial"/>
              </a:defRPr>
            </a:pPr>
            <a:r>
              <a:rPr sz="1425" b="0">
                <a:solidFill>
                  <a:srgbClr val="536572"/>
                </a:solidFill>
                <a:latin typeface="Arial"/>
                <a:ea typeface="Arial"/>
                <a:cs typeface="Arial"/>
              </a:rPr>
              <a:t>Run the resource-limit grid</a:t>
            </a:r>
          </a:p>
        </p:txBody>
      </p:sp>
      <p:sp>
        <p:nvSpPr>
          <p:cNvPr id="35" name="">
            <a:extLst xmlns:a="http://schemas.openxmlformats.org/drawingml/2006/main">
              <a:ext uri="{FF2B5EF4-FFF2-40B4-BE49-F238E27FC236}">
                <a16:creationId xmlns:a16="http://schemas.microsoft.com/office/drawing/2014/main" id="{039BA201-B04F-4F9E-9AF1-0ED800ED2F8A}"/>
              </a:ext>
            </a:extLst>
          </p:cNvPr>
          <p:cNvSpPr>
            <a:spLocks xmlns:a="http://schemas.openxmlformats.org/drawingml/2006/main" noGrp="1"/>
          </p:cNvSpPr>
          <p:nvPr/>
        </p:nvSpPr>
        <p:spPr>
          <a:xfrm xmlns:a="http://schemas.openxmlformats.org/drawingml/2006/main">
            <a:off x="609600" y="5457825"/>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572"/>
                </a:solidFill>
                <a:latin typeface="Arial"/>
                <a:ea typeface="Arial"/>
                <a:cs typeface="Arial"/>
              </a:defRPr>
            </a:pPr>
            <a:r>
              <a:rPr sz="1725" b="0">
                <a:solidFill>
                  <a:srgbClr val="536572"/>
                </a:solidFill>
                <a:latin typeface="Arial"/>
                <a:ea typeface="Arial"/>
                <a:cs typeface="Arial"/>
              </a:rPr>
              <a:t>offline_memory/</a:t>
            </a:r>
          </a:p>
        </p:txBody>
      </p:sp>
      <p:sp>
        <p:nvSpPr>
          <p:cNvPr id="36" name="">
            <a:extLst xmlns:a="http://schemas.openxmlformats.org/drawingml/2006/main">
              <a:ext uri="{FF2B5EF4-FFF2-40B4-BE49-F238E27FC236}">
                <a16:creationId xmlns:a16="http://schemas.microsoft.com/office/drawing/2014/main" id="{05D2164E-A3B0-435D-99CA-2747E1F777CF}"/>
              </a:ext>
            </a:extLst>
          </p:cNvPr>
          <p:cNvSpPr>
            <a:spLocks xmlns:a="http://schemas.openxmlformats.org/drawingml/2006/main" noGrp="1"/>
          </p:cNvSpPr>
          <p:nvPr/>
        </p:nvSpPr>
        <p:spPr>
          <a:xfrm xmlns:a="http://schemas.openxmlformats.org/drawingml/2006/main">
            <a:off x="4391025" y="5457825"/>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572"/>
                </a:solidFill>
                <a:latin typeface="Arial"/>
                <a:ea typeface="Arial"/>
                <a:cs typeface="Arial"/>
              </a:defRPr>
            </a:pPr>
            <a:r>
              <a:rPr sz="1725" b="0">
                <a:solidFill>
                  <a:srgbClr val="536572"/>
                </a:solidFill>
                <a:latin typeface="Arial"/>
                <a:ea typeface="Arial"/>
                <a:cs typeface="Arial"/>
              </a:rPr>
              <a:t>blind_tls13/</a:t>
            </a:r>
          </a:p>
        </p:txBody>
      </p:sp>
      <p:sp>
        <p:nvSpPr>
          <p:cNvPr id="37" name="">
            <a:extLst xmlns:a="http://schemas.openxmlformats.org/drawingml/2006/main">
              <a:ext uri="{FF2B5EF4-FFF2-40B4-BE49-F238E27FC236}">
                <a16:creationId xmlns:a16="http://schemas.microsoft.com/office/drawing/2014/main" id="{91B4AD38-F1EB-4C33-8628-A981ACEFD8A3}"/>
              </a:ext>
            </a:extLst>
          </p:cNvPr>
          <p:cNvSpPr>
            <a:spLocks xmlns:a="http://schemas.openxmlformats.org/drawingml/2006/main" noGrp="1"/>
          </p:cNvSpPr>
          <p:nvPr/>
        </p:nvSpPr>
        <p:spPr>
          <a:xfrm xmlns:a="http://schemas.openxmlformats.org/drawingml/2006/main">
            <a:off x="8172450" y="5457825"/>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572"/>
                </a:solidFill>
                <a:latin typeface="Arial"/>
                <a:ea typeface="Arial"/>
                <a:cs typeface="Arial"/>
              </a:defRPr>
            </a:pPr>
            <a:r>
              <a:rPr sz="1725" b="0">
                <a:solidFill>
                  <a:srgbClr val="536572"/>
                </a:solidFill>
                <a:latin typeface="Arial"/>
                <a:ea typeface="Arial"/>
                <a:cs typeface="Arial"/>
              </a:rPr>
              <a:t>isolated_tls13/</a:t>
            </a:r>
          </a:p>
        </p:txBody>
      </p:sp>
      <p:sp>
        <p:nvSpPr>
          <p:cNvPr id="38" name="">
            <a:extLst xmlns:a="http://schemas.openxmlformats.org/drawingml/2006/main">
              <a:ext uri="{FF2B5EF4-FFF2-40B4-BE49-F238E27FC236}">
                <a16:creationId xmlns:a16="http://schemas.microsoft.com/office/drawing/2014/main" id="{0FA286C3-AAF3-4C67-A1ED-46BA96C8023C}"/>
              </a:ext>
            </a:extLst>
          </p:cNvPr>
          <p:cNvSpPr>
            <a:spLocks xmlns:a="http://schemas.openxmlformats.org/drawingml/2006/main" noGrp="1"/>
          </p:cNvSpPr>
          <p:nvPr/>
        </p:nvSpPr>
        <p:spPr>
          <a:xfrm xmlns:a="http://schemas.openxmlformats.org/drawingml/2006/main">
            <a:off x="609600" y="588645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Acquisition and scoring are separate. Recovery never receives the private answer.</a:t>
            </a:r>
          </a:p>
        </p:txBody>
      </p:sp>
    </p:spTree>
    <p:extLst>
      <p:ext uri="{BB962C8B-B14F-4D97-AF65-F5344CB8AC3E}">
        <p14:creationId xmlns:p14="http://schemas.microsoft.com/office/powerpoint/2010/main" val="2013977832"/>
      </p:ext>
    </p:extLst>
  </p:cSld>
</p:sld>
</file>

<file path=ppt/slides/slide2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826EB42-C71C-4AB1-9AF5-5DC321AD28F5}"/>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TLS 1.3 added direction and generation</a:t>
            </a:r>
          </a:p>
        </p:txBody>
      </p:sp>
      <p:sp>
        <p:nvSpPr>
          <p:cNvPr id="2" name="">
            <a:extLst xmlns:a="http://schemas.openxmlformats.org/drawingml/2006/main">
              <a:ext uri="{FF2B5EF4-FFF2-40B4-BE49-F238E27FC236}">
                <a16:creationId xmlns:a16="http://schemas.microsoft.com/office/drawing/2014/main" id="{A4AC6582-44D8-4C46-B1FB-FF6FB4A560F2}"/>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7456D637-C7AC-4CFA-828E-6984F67A36D6}"/>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E3BEE0D4-4490-487B-B630-B3CE02C5E46C}"/>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Sources: TLS 1.3 implementation and extended validation log</a:t>
            </a:r>
          </a:p>
        </p:txBody>
      </p:sp>
      <p:sp>
        <p:nvSpPr>
          <p:cNvPr id="5" name="">
            <a:extLst xmlns:a="http://schemas.openxmlformats.org/drawingml/2006/main">
              <a:ext uri="{FF2B5EF4-FFF2-40B4-BE49-F238E27FC236}">
                <a16:creationId xmlns:a16="http://schemas.microsoft.com/office/drawing/2014/main" id="{10D629ED-FBF3-4AC1-B320-290648432421}"/>
              </a:ext>
            </a:extLst>
          </p:cNvPr>
          <p:cNvSpPr>
            <a:spLocks xmlns:a="http://schemas.openxmlformats.org/drawingml/2006/main" noGrp="1"/>
          </p:cNvSpPr>
          <p:nvPr/>
        </p:nvSpPr>
        <p:spPr>
          <a:xfrm xmlns:a="http://schemas.openxmlformats.org/drawingml/2006/main">
            <a:off x="914400" y="2343150"/>
            <a:ext cx="390525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6" name="">
            <a:extLst xmlns:a="http://schemas.openxmlformats.org/drawingml/2006/main">
              <a:ext uri="{FF2B5EF4-FFF2-40B4-BE49-F238E27FC236}">
                <a16:creationId xmlns:a16="http://schemas.microsoft.com/office/drawing/2014/main" id="{3C998286-4DAB-4D64-A415-8E4B9E02AB80}"/>
              </a:ext>
            </a:extLst>
          </p:cNvPr>
          <p:cNvSpPr>
            <a:spLocks xmlns:a="http://schemas.openxmlformats.org/drawingml/2006/main" noGrp="1"/>
          </p:cNvSpPr>
          <p:nvPr/>
        </p:nvSpPr>
        <p:spPr>
          <a:xfrm xmlns:a="http://schemas.openxmlformats.org/drawingml/2006/main">
            <a:off x="1066800" y="2533650"/>
            <a:ext cx="3600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Client traffic</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secret</a:t>
            </a:r>
          </a:p>
        </p:txBody>
      </p:sp>
      <p:sp>
        <p:nvSpPr>
          <p:cNvPr id="7" name="">
            <a:extLst xmlns:a="http://schemas.openxmlformats.org/drawingml/2006/main">
              <a:ext uri="{FF2B5EF4-FFF2-40B4-BE49-F238E27FC236}">
                <a16:creationId xmlns:a16="http://schemas.microsoft.com/office/drawing/2014/main" id="{2811FACA-B47C-42F8-BE70-FBA4F29B9D72}"/>
              </a:ext>
            </a:extLst>
          </p:cNvPr>
          <p:cNvSpPr>
            <a:spLocks xmlns:a="http://schemas.openxmlformats.org/drawingml/2006/main" noGrp="1"/>
          </p:cNvSpPr>
          <p:nvPr/>
        </p:nvSpPr>
        <p:spPr>
          <a:xfrm xmlns:a="http://schemas.openxmlformats.org/drawingml/2006/main">
            <a:off x="7372350" y="2343150"/>
            <a:ext cx="390525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8" name="">
            <a:extLst xmlns:a="http://schemas.openxmlformats.org/drawingml/2006/main">
              <a:ext uri="{FF2B5EF4-FFF2-40B4-BE49-F238E27FC236}">
                <a16:creationId xmlns:a16="http://schemas.microsoft.com/office/drawing/2014/main" id="{3FEC8947-B3AB-46D6-AE56-171DD131440E}"/>
              </a:ext>
            </a:extLst>
          </p:cNvPr>
          <p:cNvSpPr>
            <a:spLocks xmlns:a="http://schemas.openxmlformats.org/drawingml/2006/main" noGrp="1"/>
          </p:cNvSpPr>
          <p:nvPr/>
        </p:nvSpPr>
        <p:spPr>
          <a:xfrm xmlns:a="http://schemas.openxmlformats.org/drawingml/2006/main">
            <a:off x="7524750" y="2533650"/>
            <a:ext cx="3600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Server traffic</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secret</a:t>
            </a:r>
          </a:p>
        </p:txBody>
      </p:sp>
      <p:sp>
        <p:nvSpPr>
          <p:cNvPr id="9" name="">
            <a:extLst xmlns:a="http://schemas.openxmlformats.org/drawingml/2006/main">
              <a:ext uri="{FF2B5EF4-FFF2-40B4-BE49-F238E27FC236}">
                <a16:creationId xmlns:a16="http://schemas.microsoft.com/office/drawing/2014/main" id="{63BAA1FA-8C6F-4E5E-9E28-3470A73F6071}"/>
              </a:ext>
            </a:extLst>
          </p:cNvPr>
          <p:cNvSpPr>
            <a:spLocks xmlns:a="http://schemas.openxmlformats.org/drawingml/2006/main" noGrp="1"/>
          </p:cNvSpPr>
          <p:nvPr/>
        </p:nvSpPr>
        <p:spPr>
          <a:xfrm xmlns:a="http://schemas.openxmlformats.org/drawingml/2006/main">
            <a:off x="4914900" y="2476500"/>
            <a:ext cx="2305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E3E"/>
                </a:solidFill>
                <a:latin typeface="Arial"/>
                <a:ea typeface="Arial"/>
                <a:cs typeface="Arial"/>
              </a:defRPr>
            </a:pPr>
            <a:r>
              <a:rPr sz="2250" b="1">
                <a:solidFill>
                  <a:srgbClr val="142E3E"/>
                </a:solidFill>
                <a:latin typeface="Arial"/>
                <a:ea typeface="Arial"/>
                <a:cs typeface="Arial"/>
              </a:rPr>
              <a:t>One connection</a:t>
            </a:r>
          </a:p>
          <a:p xmlns:a="http://schemas.openxmlformats.org/drawingml/2006/main">
            <a:pPr>
              <a:defRPr sz="2250" b="1">
                <a:solidFill>
                  <a:srgbClr val="142E3E"/>
                </a:solidFill>
                <a:latin typeface="Arial"/>
                <a:ea typeface="Arial"/>
                <a:cs typeface="Arial"/>
              </a:defRPr>
            </a:pPr>
            <a:r>
              <a:rPr sz="2250" b="1">
                <a:solidFill>
                  <a:srgbClr val="142E3E"/>
                </a:solidFill>
                <a:latin typeface="Arial"/>
                <a:ea typeface="Arial"/>
                <a:cs typeface="Arial"/>
              </a:rPr>
              <a:t>Two directions</a:t>
            </a:r>
          </a:p>
        </p:txBody>
      </p:sp>
      <p:sp>
        <p:nvSpPr>
          <p:cNvPr id="10" name="">
            <a:extLst xmlns:a="http://schemas.openxmlformats.org/drawingml/2006/main">
              <a:ext uri="{FF2B5EF4-FFF2-40B4-BE49-F238E27FC236}">
                <a16:creationId xmlns:a16="http://schemas.microsoft.com/office/drawing/2014/main" id="{B8822BA6-F875-43BD-91D2-7DDA2656A741}"/>
              </a:ext>
            </a:extLst>
          </p:cNvPr>
          <p:cNvSpPr>
            <a:spLocks xmlns:a="http://schemas.openxmlformats.org/drawingml/2006/main" noGrp="1"/>
          </p:cNvSpPr>
          <p:nvPr/>
        </p:nvSpPr>
        <p:spPr>
          <a:xfrm xmlns:a="http://schemas.openxmlformats.org/drawingml/2006/main">
            <a:off x="914400" y="4467225"/>
            <a:ext cx="390525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1" name="">
            <a:extLst xmlns:a="http://schemas.openxmlformats.org/drawingml/2006/main">
              <a:ext uri="{FF2B5EF4-FFF2-40B4-BE49-F238E27FC236}">
                <a16:creationId xmlns:a16="http://schemas.microsoft.com/office/drawing/2014/main" id="{9F384820-56C9-41B5-B478-8B6FDCC1F5C4}"/>
              </a:ext>
            </a:extLst>
          </p:cNvPr>
          <p:cNvSpPr>
            <a:spLocks xmlns:a="http://schemas.openxmlformats.org/drawingml/2006/main" noGrp="1"/>
          </p:cNvSpPr>
          <p:nvPr/>
        </p:nvSpPr>
        <p:spPr>
          <a:xfrm xmlns:a="http://schemas.openxmlformats.org/drawingml/2006/main">
            <a:off x="1066800" y="4657725"/>
            <a:ext cx="3600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Client secret</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after KeyUpdate</a:t>
            </a:r>
          </a:p>
        </p:txBody>
      </p:sp>
      <p:sp>
        <p:nvSpPr>
          <p:cNvPr id="12" name="">
            <a:extLst xmlns:a="http://schemas.openxmlformats.org/drawingml/2006/main">
              <a:ext uri="{FF2B5EF4-FFF2-40B4-BE49-F238E27FC236}">
                <a16:creationId xmlns:a16="http://schemas.microsoft.com/office/drawing/2014/main" id="{20767E47-2015-45BF-9360-69287C10A0DB}"/>
              </a:ext>
            </a:extLst>
          </p:cNvPr>
          <p:cNvSpPr>
            <a:spLocks xmlns:a="http://schemas.openxmlformats.org/drawingml/2006/main" noGrp="1"/>
          </p:cNvSpPr>
          <p:nvPr/>
        </p:nvSpPr>
        <p:spPr>
          <a:xfrm xmlns:a="http://schemas.openxmlformats.org/drawingml/2006/main">
            <a:off x="7372350" y="4467225"/>
            <a:ext cx="390525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3" name="">
            <a:extLst xmlns:a="http://schemas.openxmlformats.org/drawingml/2006/main">
              <a:ext uri="{FF2B5EF4-FFF2-40B4-BE49-F238E27FC236}">
                <a16:creationId xmlns:a16="http://schemas.microsoft.com/office/drawing/2014/main" id="{E99572E3-E53C-41DE-80AE-9C3245961599}"/>
              </a:ext>
            </a:extLst>
          </p:cNvPr>
          <p:cNvSpPr>
            <a:spLocks xmlns:a="http://schemas.openxmlformats.org/drawingml/2006/main" noGrp="1"/>
          </p:cNvSpPr>
          <p:nvPr/>
        </p:nvSpPr>
        <p:spPr>
          <a:xfrm xmlns:a="http://schemas.openxmlformats.org/drawingml/2006/main">
            <a:off x="7524750" y="4657725"/>
            <a:ext cx="3600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Server secret</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after KeyUpdate</a:t>
            </a:r>
          </a:p>
        </p:txBody>
      </p:sp>
      <p:sp>
        <p:nvSpPr>
          <p:cNvPr id="14" name="">
            <a:extLst xmlns:a="http://schemas.openxmlformats.org/drawingml/2006/main">
              <a:ext uri="{FF2B5EF4-FFF2-40B4-BE49-F238E27FC236}">
                <a16:creationId xmlns:a16="http://schemas.microsoft.com/office/drawing/2014/main" id="{E0DE6716-81C2-4F0D-9E98-72F87CE03F75}"/>
              </a:ext>
            </a:extLst>
          </p:cNvPr>
          <p:cNvSpPr>
            <a:spLocks xmlns:a="http://schemas.openxmlformats.org/drawingml/2006/main" noGrp="1"/>
          </p:cNvSpPr>
          <p:nvPr/>
        </p:nvSpPr>
        <p:spPr>
          <a:xfrm xmlns:a="http://schemas.openxmlformats.org/drawingml/2006/main">
            <a:off x="2847975" y="3429000"/>
            <a:ext cx="38100" cy="9906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0673DBF-9E07-445C-B72B-1E53D391F3E6}"/>
              </a:ext>
            </a:extLst>
          </p:cNvPr>
          <p:cNvSpPr>
            <a:spLocks xmlns:a="http://schemas.openxmlformats.org/drawingml/2006/main" noGrp="1"/>
          </p:cNvSpPr>
          <p:nvPr/>
        </p:nvSpPr>
        <p:spPr>
          <a:xfrm xmlns:a="http://schemas.openxmlformats.org/drawingml/2006/main">
            <a:off x="2781300" y="4248150"/>
            <a:ext cx="171450" cy="190500"/>
          </a:xfrm>
          <a:prstGeom xmlns:a="http://schemas.openxmlformats.org/drawingml/2006/main" prst="downArrow">
            <a:avLst/>
          </a:prstGeom>
          <a:solidFill xmlns:a="http://schemas.openxmlformats.org/drawingml/2006/main">
            <a:srgbClr val="007F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8C644E1-C124-4072-8302-4789D1BB1C70}"/>
              </a:ext>
            </a:extLst>
          </p:cNvPr>
          <p:cNvSpPr>
            <a:spLocks xmlns:a="http://schemas.openxmlformats.org/drawingml/2006/main" noGrp="1"/>
          </p:cNvSpPr>
          <p:nvPr/>
        </p:nvSpPr>
        <p:spPr>
          <a:xfrm xmlns:a="http://schemas.openxmlformats.org/drawingml/2006/main">
            <a:off x="9305925" y="3429000"/>
            <a:ext cx="38100" cy="9906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9A96063-9E63-427A-A40C-1B7508D3110D}"/>
              </a:ext>
            </a:extLst>
          </p:cNvPr>
          <p:cNvSpPr>
            <a:spLocks xmlns:a="http://schemas.openxmlformats.org/drawingml/2006/main" noGrp="1"/>
          </p:cNvSpPr>
          <p:nvPr/>
        </p:nvSpPr>
        <p:spPr>
          <a:xfrm xmlns:a="http://schemas.openxmlformats.org/drawingml/2006/main">
            <a:off x="9239250" y="4248150"/>
            <a:ext cx="171450" cy="190500"/>
          </a:xfrm>
          <a:prstGeom xmlns:a="http://schemas.openxmlformats.org/drawingml/2006/main" prst="downArrow">
            <a:avLst/>
          </a:prstGeom>
          <a:solidFill xmlns:a="http://schemas.openxmlformats.org/drawingml/2006/main">
            <a:srgbClr val="007F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1119394-E2D0-47BC-8086-8771839ABAD3}"/>
              </a:ext>
            </a:extLst>
          </p:cNvPr>
          <p:cNvSpPr>
            <a:spLocks xmlns:a="http://schemas.openxmlformats.org/drawingml/2006/main" noGrp="1"/>
          </p:cNvSpPr>
          <p:nvPr/>
        </p:nvSpPr>
        <p:spPr>
          <a:xfrm xmlns:a="http://schemas.openxmlformats.org/drawingml/2006/main">
            <a:off x="4914900" y="4629150"/>
            <a:ext cx="2305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A75B17"/>
                </a:solidFill>
                <a:latin typeface="Arial"/>
                <a:ea typeface="Arial"/>
                <a:cs typeface="Arial"/>
              </a:defRPr>
            </a:pPr>
            <a:r>
              <a:rPr sz="2250" b="1">
                <a:solidFill>
                  <a:srgbClr val="A75B17"/>
                </a:solidFill>
                <a:latin typeface="Arial"/>
                <a:ea typeface="Arial"/>
                <a:cs typeface="Arial"/>
              </a:rPr>
              <a:t>New generation</a:t>
            </a:r>
          </a:p>
        </p:txBody>
      </p:sp>
    </p:spTree>
    <p:extLst>
      <p:ext uri="{BB962C8B-B14F-4D97-AF65-F5344CB8AC3E}">
        <p14:creationId xmlns:p14="http://schemas.microsoft.com/office/powerpoint/2010/main" val="1064948918"/>
      </p:ext>
    </p:extLst>
  </p:cSld>
</p:sld>
</file>

<file path=ppt/slides/slide2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27924E-1D72-4965-B038-5F2AB8D89A52}"/>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The first extended TLS 1.3 study</a:t>
            </a:r>
          </a:p>
        </p:txBody>
      </p:sp>
      <p:sp>
        <p:nvSpPr>
          <p:cNvPr id="2" name="">
            <a:extLst xmlns:a="http://schemas.openxmlformats.org/drawingml/2006/main">
              <a:ext uri="{FF2B5EF4-FFF2-40B4-BE49-F238E27FC236}">
                <a16:creationId xmlns:a16="http://schemas.microsoft.com/office/drawing/2014/main" id="{7211B826-541A-493B-A4A8-A0BE3C594EBE}"/>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69F004A0-ADF4-4442-9D7F-B3D3ABA3BB43}"/>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22</a:t>
            </a:r>
          </a:p>
        </p:txBody>
      </p:sp>
      <p:sp>
        <p:nvSpPr>
          <p:cNvPr id="4" name="">
            <a:extLst xmlns:a="http://schemas.openxmlformats.org/drawingml/2006/main">
              <a:ext uri="{FF2B5EF4-FFF2-40B4-BE49-F238E27FC236}">
                <a16:creationId xmlns:a16="http://schemas.microsoft.com/office/drawing/2014/main" id="{6B9BEC75-9D7E-4D74-ABB1-00860F453644}"/>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 TLS13_EXTENDED_RESULTS.md; completed 29 September 2026</a:t>
            </a:r>
          </a:p>
        </p:txBody>
      </p:sp>
      <p:graphicFrame>
        <p:nvGraphicFramePr>
          <p:cNvPr id="11" name=""/>
          <p:cNvGraphicFramePr/>
          <p:nvPr/>
        </p:nvGraphicFramePr>
        <p:xfrm>
          <a:off xmlns:a="http://schemas.openxmlformats.org/drawingml/2006/main" x="609600" y="1895475"/>
          <a:ext xmlns:a="http://schemas.openxmlformats.org/drawingml/2006/main" cx="10972800" cy="3648075"/>
        </p:xfrm>
        <a:graphic xmlns:a="http://schemas.openxmlformats.org/drawingml/2006/main">
          <a:graphicData uri="http://schemas.openxmlformats.org/drawingml/2006/table">
            <a:tbl>
              <a:tblPr/>
              <a:tblGrid>
                <a:gridCol w="3752850"/>
                <a:gridCol w="5314950"/>
                <a:gridCol w="1905000"/>
              </a:tblGrid>
              <a:tr h="608013">
                <a:tc>
                  <a:txBody>
                    <a:bodyPr/>
                    <a:lstStyle/>
                    <a:p>
                      <a:r>
                        <a:rPr sz="1800" b="1">
                          <a:solidFill>
                            <a:srgbClr val="FFFFFF"/>
                          </a:solidFill>
                          <a:latin typeface="Arial"/>
                          <a:ea typeface="Arial"/>
                          <a:cs typeface="Arial"/>
                        </a:rPr>
                        <a:t>Scenario</a:t>
                      </a:r>
                    </a:p>
                  </a:txBody>
                  <a:tcPr marL="91440" marR="91440" marT="45720" marB="45720">
                    <a:solidFill>
                      <a:srgbClr val="142E3E"/>
                    </a:solidFill>
                  </a:tcPr>
                </a:tc>
                <a:tc>
                  <a:txBody>
                    <a:bodyPr/>
                    <a:lstStyle/>
                    <a:p>
                      <a:r>
                        <a:rPr sz="1800" b="1">
                          <a:solidFill>
                            <a:srgbClr val="FFFFFF"/>
                          </a:solidFill>
                          <a:latin typeface="Arial"/>
                          <a:ea typeface="Arial"/>
                          <a:cs typeface="Arial"/>
                        </a:rPr>
                        <a:t>Recovery target</a:t>
                      </a:r>
                    </a:p>
                  </a:txBody>
                  <a:tcPr marL="91440" marR="91440" marT="45720" marB="45720">
                    <a:solidFill>
                      <a:srgbClr val="142E3E"/>
                    </a:solidFill>
                  </a:tcPr>
                </a:tc>
                <a:tc>
                  <a:txBody>
                    <a:bodyPr/>
                    <a:lstStyle/>
                    <a:p>
                      <a:r>
                        <a:rPr sz="1800" b="1">
                          <a:solidFill>
                            <a:srgbClr val="FFFFFF"/>
                          </a:solidFill>
                          <a:latin typeface="Arial"/>
                          <a:ea typeface="Arial"/>
                          <a:cs typeface="Arial"/>
                        </a:rPr>
                        <a:t>Completed</a:t>
                      </a:r>
                    </a:p>
                  </a:txBody>
                  <a:tcPr marL="91440" marR="91440" marT="45720" marB="45720">
                    <a:solidFill>
                      <a:srgbClr val="142E3E"/>
                    </a:solidFill>
                  </a:tcPr>
                </a:tc>
              </a:tr>
              <a:tr h="608013">
                <a:tc>
                  <a:txBody>
                    <a:bodyPr/>
                    <a:lstStyle/>
                    <a:p>
                      <a:r>
                        <a:rPr sz="1800" b="0">
                          <a:solidFill>
                            <a:srgbClr val="142E3E"/>
                          </a:solidFill>
                          <a:latin typeface="Arial"/>
                          <a:ea typeface="Arial"/>
                          <a:cs typeface="Arial"/>
                        </a:rPr>
                        <a:t>Before the response</a:t>
                      </a:r>
                    </a:p>
                  </a:txBody>
                  <a:tcPr marL="91440" marR="91440" marT="45720" marB="45720">
                    <a:solidFill>
                      <a:srgbClr val="FFFFFF"/>
                    </a:solidFill>
                  </a:tcPr>
                </a:tc>
                <a:tc>
                  <a:txBody>
                    <a:bodyPr/>
                    <a:lstStyle/>
                    <a:p>
                      <a:r>
                        <a:rPr sz="1800" b="0">
                          <a:solidFill>
                            <a:srgbClr val="142E3E"/>
                          </a:solidFill>
                          <a:latin typeface="Arial"/>
                          <a:ea typeface="Arial"/>
                          <a:cs typeface="Arial"/>
                        </a:rPr>
                        <a:t>Generation-zero directional secrets</a:t>
                      </a:r>
                    </a:p>
                  </a:txBody>
                  <a:tcPr marL="91440" marR="91440" marT="45720" marB="45720">
                    <a:solidFill>
                      <a:srgbClr val="FFFFFF"/>
                    </a:solidFill>
                  </a:tcPr>
                </a:tc>
                <a:tc>
                  <a:txBody>
                    <a:bodyPr/>
                    <a:lstStyle/>
                    <a:p>
                      <a:r>
                        <a:rPr sz="1800" b="0">
                          <a:solidFill>
                            <a:srgbClr val="142E3E"/>
                          </a:solidFill>
                          <a:latin typeface="Arial"/>
                          <a:ea typeface="Arial"/>
                          <a:cs typeface="Arial"/>
                        </a:rPr>
                        <a:t>20 / 20</a:t>
                      </a:r>
                    </a:p>
                  </a:txBody>
                  <a:tcPr marL="91440" marR="91440" marT="45720" marB="45720">
                    <a:solidFill>
                      <a:srgbClr val="FFFFFF"/>
                    </a:solidFill>
                  </a:tcPr>
                </a:tc>
              </a:tr>
              <a:tr h="608013">
                <a:tc>
                  <a:txBody>
                    <a:bodyPr/>
                    <a:lstStyle/>
                    <a:p>
                      <a:r>
                        <a:rPr sz="1800" b="0">
                          <a:solidFill>
                            <a:srgbClr val="142E3E"/>
                          </a:solidFill>
                          <a:latin typeface="Arial"/>
                          <a:ea typeface="Arial"/>
                          <a:cs typeface="Arial"/>
                        </a:rPr>
                        <a:t>30 seconds after the response</a:t>
                      </a:r>
                    </a:p>
                  </a:txBody>
                  <a:tcPr marL="91440" marR="91440" marT="45720" marB="45720">
                    <a:solidFill>
                      <a:srgbClr val="E1EFEC"/>
                    </a:solidFill>
                  </a:tcPr>
                </a:tc>
                <a:tc>
                  <a:txBody>
                    <a:bodyPr/>
                    <a:lstStyle/>
                    <a:p>
                      <a:r>
                        <a:rPr sz="1800" b="0">
                          <a:solidFill>
                            <a:srgbClr val="142E3E"/>
                          </a:solidFill>
                          <a:latin typeface="Arial"/>
                          <a:ea typeface="Arial"/>
                          <a:cs typeface="Arial"/>
                        </a:rPr>
                        <a:t>Generation-zero directional secrets</a:t>
                      </a:r>
                    </a:p>
                  </a:txBody>
                  <a:tcPr marL="91440" marR="91440" marT="45720" marB="45720">
                    <a:solidFill>
                      <a:srgbClr val="E1EFEC"/>
                    </a:solidFill>
                  </a:tcPr>
                </a:tc>
                <a:tc>
                  <a:txBody>
                    <a:bodyPr/>
                    <a:lstStyle/>
                    <a:p>
                      <a:r>
                        <a:rPr sz="1800" b="0">
                          <a:solidFill>
                            <a:srgbClr val="142E3E"/>
                          </a:solidFill>
                          <a:latin typeface="Arial"/>
                          <a:ea typeface="Arial"/>
                          <a:cs typeface="Arial"/>
                        </a:rPr>
                        <a:t>20 / 20</a:t>
                      </a:r>
                    </a:p>
                  </a:txBody>
                  <a:tcPr marL="91440" marR="91440" marT="45720" marB="45720">
                    <a:solidFill>
                      <a:srgbClr val="E1EFEC"/>
                    </a:solidFill>
                  </a:tcPr>
                </a:tc>
              </a:tr>
              <a:tr h="608013">
                <a:tc>
                  <a:txBody>
                    <a:bodyPr/>
                    <a:lstStyle/>
                    <a:p>
                      <a:r>
                        <a:rPr sz="1800" b="0">
                          <a:solidFill>
                            <a:srgbClr val="142E3E"/>
                          </a:solidFill>
                          <a:latin typeface="Arial"/>
                          <a:ea typeface="Arial"/>
                          <a:cs typeface="Arial"/>
                        </a:rPr>
                        <a:t>Resumed connection</a:t>
                      </a:r>
                    </a:p>
                  </a:txBody>
                  <a:tcPr marL="91440" marR="91440" marT="45720" marB="45720">
                    <a:solidFill>
                      <a:srgbClr val="FFFFFF"/>
                    </a:solidFill>
                  </a:tcPr>
                </a:tc>
                <a:tc>
                  <a:txBody>
                    <a:bodyPr/>
                    <a:lstStyle/>
                    <a:p>
                      <a:r>
                        <a:rPr sz="1800" b="0">
                          <a:solidFill>
                            <a:srgbClr val="142E3E"/>
                          </a:solidFill>
                          <a:latin typeface="Arial"/>
                          <a:ea typeface="Arial"/>
                          <a:cs typeface="Arial"/>
                        </a:rPr>
                        <a:t>The second connection’s secrets</a:t>
                      </a:r>
                    </a:p>
                  </a:txBody>
                  <a:tcPr marL="91440" marR="91440" marT="45720" marB="45720">
                    <a:solidFill>
                      <a:srgbClr val="FFFFFF"/>
                    </a:solidFill>
                  </a:tcPr>
                </a:tc>
                <a:tc>
                  <a:txBody>
                    <a:bodyPr/>
                    <a:lstStyle/>
                    <a:p>
                      <a:r>
                        <a:rPr sz="1800" b="0">
                          <a:solidFill>
                            <a:srgbClr val="142E3E"/>
                          </a:solidFill>
                          <a:latin typeface="Arial"/>
                          <a:ea typeface="Arial"/>
                          <a:cs typeface="Arial"/>
                        </a:rPr>
                        <a:t>20 / 20</a:t>
                      </a:r>
                    </a:p>
                  </a:txBody>
                  <a:tcPr marL="91440" marR="91440" marT="45720" marB="45720">
                    <a:solidFill>
                      <a:srgbClr val="FFFFFF"/>
                    </a:solidFill>
                  </a:tcPr>
                </a:tc>
              </a:tr>
              <a:tr h="608013">
                <a:tc>
                  <a:txBody>
                    <a:bodyPr/>
                    <a:lstStyle/>
                    <a:p>
                      <a:r>
                        <a:rPr sz="1800" b="0">
                          <a:solidFill>
                            <a:srgbClr val="142E3E"/>
                          </a:solidFill>
                          <a:latin typeface="Arial"/>
                          <a:ea typeface="Arial"/>
                          <a:cs typeface="Arial"/>
                        </a:rPr>
                        <a:t>Bidirectional KeyUpdate</a:t>
                      </a:r>
                    </a:p>
                  </a:txBody>
                  <a:tcPr marL="91440" marR="91440" marT="45720" marB="45720">
                    <a:solidFill>
                      <a:srgbClr val="E1EFEC"/>
                    </a:solidFill>
                  </a:tcPr>
                </a:tc>
                <a:tc>
                  <a:txBody>
                    <a:bodyPr/>
                    <a:lstStyle/>
                    <a:p>
                      <a:r>
                        <a:rPr sz="1800" b="0">
                          <a:solidFill>
                            <a:srgbClr val="142E3E"/>
                          </a:solidFill>
                          <a:latin typeface="Arial"/>
                          <a:ea typeface="Arial"/>
                          <a:cs typeface="Arial"/>
                        </a:rPr>
                        <a:t>Generation-one secrets</a:t>
                      </a:r>
                    </a:p>
                  </a:txBody>
                  <a:tcPr marL="91440" marR="91440" marT="45720" marB="45720">
                    <a:solidFill>
                      <a:srgbClr val="E1EFEC"/>
                    </a:solidFill>
                  </a:tcPr>
                </a:tc>
                <a:tc>
                  <a:txBody>
                    <a:bodyPr/>
                    <a:lstStyle/>
                    <a:p>
                      <a:r>
                        <a:rPr sz="1800" b="0">
                          <a:solidFill>
                            <a:srgbClr val="142E3E"/>
                          </a:solidFill>
                          <a:latin typeface="Arial"/>
                          <a:ea typeface="Arial"/>
                          <a:cs typeface="Arial"/>
                        </a:rPr>
                        <a:t>20 / 20</a:t>
                      </a:r>
                    </a:p>
                  </a:txBody>
                  <a:tcPr marL="91440" marR="91440" marT="45720" marB="45720">
                    <a:solidFill>
                      <a:srgbClr val="E1EFEC"/>
                    </a:solidFill>
                  </a:tcPr>
                </a:tc>
              </a:tr>
              <a:tr h="608013">
                <a:tc>
                  <a:txBody>
                    <a:bodyPr/>
                    <a:lstStyle/>
                    <a:p>
                      <a:r>
                        <a:rPr sz="1800" b="0">
                          <a:solidFill>
                            <a:srgbClr val="142E3E"/>
                          </a:solidFill>
                          <a:latin typeface="Arial"/>
                          <a:ea typeface="Arial"/>
                          <a:cs typeface="Arial"/>
                        </a:rPr>
                        <a:t>Two overlapping connections</a:t>
                      </a:r>
                    </a:p>
                  </a:txBody>
                  <a:tcPr marL="91440" marR="91440" marT="45720" marB="45720">
                    <a:solidFill>
                      <a:srgbClr val="FFFFFF"/>
                    </a:solidFill>
                  </a:tcPr>
                </a:tc>
                <a:tc>
                  <a:txBody>
                    <a:bodyPr/>
                    <a:lstStyle/>
                    <a:p>
                      <a:r>
                        <a:rPr sz="1800" b="0">
                          <a:solidFill>
                            <a:srgbClr val="142E3E"/>
                          </a:solidFill>
                          <a:latin typeface="Arial"/>
                          <a:ea typeface="Arial"/>
                          <a:cs typeface="Arial"/>
                        </a:rPr>
                        <a:t>Four connection/direction targets</a:t>
                      </a:r>
                    </a:p>
                  </a:txBody>
                  <a:tcPr marL="91440" marR="91440" marT="45720" marB="45720">
                    <a:solidFill>
                      <a:srgbClr val="FFFFFF"/>
                    </a:solidFill>
                  </a:tcPr>
                </a:tc>
                <a:tc>
                  <a:txBody>
                    <a:bodyPr/>
                    <a:lstStyle/>
                    <a:p>
                      <a:r>
                        <a:rPr sz="1800" b="0">
                          <a:solidFill>
                            <a:srgbClr val="142E3E"/>
                          </a:solidFill>
                          <a:latin typeface="Arial"/>
                          <a:ea typeface="Arial"/>
                          <a:cs typeface="Arial"/>
                        </a:rPr>
                        <a:t>20 / 20</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DD2B029-7A66-403A-9633-BCB5AAE55937}"/>
              </a:ext>
            </a:extLst>
          </p:cNvPr>
          <p:cNvSpPr>
            <a:spLocks xmlns:a="http://schemas.openxmlformats.org/drawingml/2006/main" noGrp="1"/>
          </p:cNvSpPr>
          <p:nvPr/>
        </p:nvSpPr>
        <p:spPr>
          <a:xfrm xmlns:a="http://schemas.openxmlformats.org/drawingml/2006/main">
            <a:off x="609600" y="574357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100 / 100 controlled repeats passed. Failed pilots remain separate.</a:t>
            </a:r>
          </a:p>
        </p:txBody>
      </p:sp>
    </p:spTree>
    <p:extLst>
      <p:ext uri="{BB962C8B-B14F-4D97-AF65-F5344CB8AC3E}">
        <p14:creationId xmlns:p14="http://schemas.microsoft.com/office/powerpoint/2010/main" val="1767558235"/>
      </p:ext>
    </p:extLst>
  </p:cSld>
</p:sld>
</file>

<file path=ppt/slides/slide2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6C67D31-47AC-4409-8C1F-88F38ECAED67}"/>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The pilots exposed mistakes in the test</a:t>
            </a:r>
          </a:p>
        </p:txBody>
      </p:sp>
      <p:sp>
        <p:nvSpPr>
          <p:cNvPr id="2" name="">
            <a:extLst xmlns:a="http://schemas.openxmlformats.org/drawingml/2006/main">
              <a:ext uri="{FF2B5EF4-FFF2-40B4-BE49-F238E27FC236}">
                <a16:creationId xmlns:a16="http://schemas.microsoft.com/office/drawing/2014/main" id="{3C92203C-90A3-4607-BAD6-38CFABB3B6DD}"/>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3FC32C9C-36F8-4569-8B61-BDA97701711C}"/>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23</a:t>
            </a:r>
          </a:p>
        </p:txBody>
      </p:sp>
      <p:sp>
        <p:nvSpPr>
          <p:cNvPr id="4" name="">
            <a:extLst xmlns:a="http://schemas.openxmlformats.org/drawingml/2006/main">
              <a:ext uri="{FF2B5EF4-FFF2-40B4-BE49-F238E27FC236}">
                <a16:creationId xmlns:a16="http://schemas.microsoft.com/office/drawing/2014/main" id="{6CBAFDFB-D99C-40AC-AEAB-88A4BB304AA2}"/>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 TLS13_EXTENDED_WORK_LOG.md</a:t>
            </a:r>
          </a:p>
        </p:txBody>
      </p:sp>
      <p:sp>
        <p:nvSpPr>
          <p:cNvPr id="5" name="">
            <a:extLst xmlns:a="http://schemas.openxmlformats.org/drawingml/2006/main">
              <a:ext uri="{FF2B5EF4-FFF2-40B4-BE49-F238E27FC236}">
                <a16:creationId xmlns:a16="http://schemas.microsoft.com/office/drawing/2014/main" id="{0D7B73AB-829A-4349-A1F2-358A5A2344EF}"/>
              </a:ext>
            </a:extLst>
          </p:cNvPr>
          <p:cNvSpPr>
            <a:spLocks xmlns:a="http://schemas.openxmlformats.org/drawingml/2006/main" noGrp="1"/>
          </p:cNvSpPr>
          <p:nvPr/>
        </p:nvSpPr>
        <p:spPr>
          <a:xfrm xmlns:a="http://schemas.openxmlformats.org/drawingml/2006/main">
            <a:off x="609600" y="2057400"/>
            <a:ext cx="5076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Resumption</a:t>
            </a:r>
          </a:p>
        </p:txBody>
      </p:sp>
      <p:sp>
        <p:nvSpPr>
          <p:cNvPr id="6" name="">
            <a:extLst xmlns:a="http://schemas.openxmlformats.org/drawingml/2006/main">
              <a:ext uri="{FF2B5EF4-FFF2-40B4-BE49-F238E27FC236}">
                <a16:creationId xmlns:a16="http://schemas.microsoft.com/office/drawing/2014/main" id="{74F9718E-66A1-40D6-B79F-8A28864792F6}"/>
              </a:ext>
            </a:extLst>
          </p:cNvPr>
          <p:cNvSpPr>
            <a:spLocks xmlns:a="http://schemas.openxmlformats.org/drawingml/2006/main" noGrp="1"/>
          </p:cNvSpPr>
          <p:nvPr/>
        </p:nvSpPr>
        <p:spPr>
          <a:xfrm xmlns:a="http://schemas.openxmlformats.org/drawingml/2006/main">
            <a:off x="609600" y="2619375"/>
            <a:ext cx="50768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3E"/>
                </a:solidFill>
                <a:latin typeface="Arial"/>
                <a:ea typeface="Arial"/>
                <a:cs typeface="Arial"/>
              </a:defRPr>
            </a:pPr>
            <a:r>
              <a:rPr sz="2025" b="0">
                <a:solidFill>
                  <a:srgbClr val="142E3E"/>
                </a:solidFill>
                <a:latin typeface="Arial"/>
                <a:ea typeface="Arial"/>
                <a:cs typeface="Arial"/>
              </a:rPr>
              <a:t>We initially demanded secrets from a connection that had already closed. We redefined the recovery target before the next pilot.</a:t>
            </a:r>
          </a:p>
        </p:txBody>
      </p:sp>
      <p:sp>
        <p:nvSpPr>
          <p:cNvPr id="7" name="">
            <a:extLst xmlns:a="http://schemas.openxmlformats.org/drawingml/2006/main">
              <a:ext uri="{FF2B5EF4-FFF2-40B4-BE49-F238E27FC236}">
                <a16:creationId xmlns:a16="http://schemas.microsoft.com/office/drawing/2014/main" id="{6227DBDB-BB5C-4ACE-BBF4-9FBAC61825A3}"/>
              </a:ext>
            </a:extLst>
          </p:cNvPr>
          <p:cNvSpPr>
            <a:spLocks xmlns:a="http://schemas.openxmlformats.org/drawingml/2006/main" noGrp="1"/>
          </p:cNvSpPr>
          <p:nvPr/>
        </p:nvSpPr>
        <p:spPr>
          <a:xfrm xmlns:a="http://schemas.openxmlformats.org/drawingml/2006/main">
            <a:off x="6372225" y="20574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KeyUpdate</a:t>
            </a:r>
          </a:p>
        </p:txBody>
      </p:sp>
      <p:sp>
        <p:nvSpPr>
          <p:cNvPr id="8" name="">
            <a:extLst xmlns:a="http://schemas.openxmlformats.org/drawingml/2006/main">
              <a:ext uri="{FF2B5EF4-FFF2-40B4-BE49-F238E27FC236}">
                <a16:creationId xmlns:a16="http://schemas.microsoft.com/office/drawing/2014/main" id="{0700F753-3263-4D9D-8309-9FFA4272010E}"/>
              </a:ext>
            </a:extLst>
          </p:cNvPr>
          <p:cNvSpPr>
            <a:spLocks xmlns:a="http://schemas.openxmlformats.org/drawingml/2006/main" noGrp="1"/>
          </p:cNvSpPr>
          <p:nvPr/>
        </p:nvSpPr>
        <p:spPr>
          <a:xfrm xmlns:a="http://schemas.openxmlformats.org/drawingml/2006/main">
            <a:off x="6372225" y="2619375"/>
            <a:ext cx="5095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3E"/>
                </a:solidFill>
                <a:latin typeface="Arial"/>
                <a:ea typeface="Arial"/>
                <a:cs typeface="Arial"/>
              </a:defRPr>
            </a:pPr>
            <a:r>
              <a:rPr sz="2025" b="0">
                <a:solidFill>
                  <a:srgbClr val="142E3E"/>
                </a:solidFill>
                <a:latin typeface="Arial"/>
                <a:ea typeface="Arial"/>
                <a:cs typeface="Arial"/>
              </a:rPr>
              <a:t>Reference labels and message ordering were wrong. We fixed the verifier and sent the update before the redirected request.</a:t>
            </a:r>
          </a:p>
        </p:txBody>
      </p:sp>
      <p:sp>
        <p:nvSpPr>
          <p:cNvPr id="9" name="">
            <a:extLst xmlns:a="http://schemas.openxmlformats.org/drawingml/2006/main">
              <a:ext uri="{FF2B5EF4-FFF2-40B4-BE49-F238E27FC236}">
                <a16:creationId xmlns:a16="http://schemas.microsoft.com/office/drawing/2014/main" id="{38BBE7EA-051E-43A8-9D52-2D169CF91C9C}"/>
              </a:ext>
            </a:extLst>
          </p:cNvPr>
          <p:cNvSpPr>
            <a:spLocks xmlns:a="http://schemas.openxmlformats.org/drawingml/2006/main" noGrp="1"/>
          </p:cNvSpPr>
          <p:nvPr/>
        </p:nvSpPr>
        <p:spPr>
          <a:xfrm xmlns:a="http://schemas.openxmlformats.org/drawingml/2006/main">
            <a:off x="609600" y="4724400"/>
            <a:ext cx="10858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A75B17"/>
                </a:solidFill>
                <a:latin typeface="Arial"/>
                <a:ea typeface="Arial"/>
                <a:cs typeface="Arial"/>
              </a:defRPr>
            </a:pPr>
            <a:r>
              <a:rPr sz="2550" b="1">
                <a:solidFill>
                  <a:srgbClr val="A75B17"/>
                </a:solidFill>
                <a:latin typeface="Arial"/>
                <a:ea typeface="Arial"/>
                <a:cs typeface="Arial"/>
              </a:rPr>
              <a:t>Pilot A and B stay unsuccessful. Pilot C tested the amended rules.</a:t>
            </a:r>
          </a:p>
        </p:txBody>
      </p:sp>
    </p:spTree>
    <p:extLst>
      <p:ext uri="{BB962C8B-B14F-4D97-AF65-F5344CB8AC3E}">
        <p14:creationId xmlns:p14="http://schemas.microsoft.com/office/powerpoint/2010/main" val="1201516066"/>
      </p:ext>
    </p:extLst>
  </p:cSld>
</p:sld>
</file>

<file path=ppt/slides/slide2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B57C40-E87E-4508-94BF-614520801EA3}"/>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The gap became more specific</a:t>
            </a:r>
          </a:p>
        </p:txBody>
      </p:sp>
      <p:sp>
        <p:nvSpPr>
          <p:cNvPr id="2" name="">
            <a:extLst xmlns:a="http://schemas.openxmlformats.org/drawingml/2006/main">
              <a:ext uri="{FF2B5EF4-FFF2-40B4-BE49-F238E27FC236}">
                <a16:creationId xmlns:a16="http://schemas.microsoft.com/office/drawing/2014/main" id="{78ACB284-9D21-404F-91E9-1A65FA46AD25}"/>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7916727F-1608-44AA-98CA-98E0C50DB9DD}"/>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24</a:t>
            </a:r>
          </a:p>
        </p:txBody>
      </p:sp>
      <p:sp>
        <p:nvSpPr>
          <p:cNvPr id="4" name="">
            <a:extLst xmlns:a="http://schemas.openxmlformats.org/drawingml/2006/main">
              <a:ext uri="{FF2B5EF4-FFF2-40B4-BE49-F238E27FC236}">
                <a16:creationId xmlns:a16="http://schemas.microsoft.com/office/drawing/2014/main" id="{5FD4D7B7-3479-4D59-B3F2-8C16148E3E36}"/>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Sources: blind-study design and prior-work comparison</a:t>
            </a:r>
          </a:p>
        </p:txBody>
      </p:sp>
      <p:sp>
        <p:nvSpPr>
          <p:cNvPr id="5" name="">
            <a:extLst xmlns:a="http://schemas.openxmlformats.org/drawingml/2006/main">
              <a:ext uri="{FF2B5EF4-FFF2-40B4-BE49-F238E27FC236}">
                <a16:creationId xmlns:a16="http://schemas.microsoft.com/office/drawing/2014/main" id="{455E0D8D-0B4E-4F1C-BC96-088B08281DF3}"/>
              </a:ext>
            </a:extLst>
          </p:cNvPr>
          <p:cNvSpPr>
            <a:spLocks xmlns:a="http://schemas.openxmlformats.org/drawingml/2006/main" noGrp="1"/>
          </p:cNvSpPr>
          <p:nvPr/>
        </p:nvSpPr>
        <p:spPr>
          <a:xfrm xmlns:a="http://schemas.openxmlformats.org/drawingml/2006/main">
            <a:off x="609600" y="2124075"/>
            <a:ext cx="10839450"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F79"/>
                </a:solidFill>
                <a:latin typeface="Arial"/>
                <a:ea typeface="Arial"/>
                <a:cs typeface="Arial"/>
              </a:defRPr>
            </a:pPr>
            <a:r>
              <a:rPr sz="3150" b="1">
                <a:solidFill>
                  <a:srgbClr val="007F79"/>
                </a:solidFill>
                <a:latin typeface="Arial"/>
                <a:ea typeface="Arial"/>
                <a:cs typeface="Arial"/>
              </a:rPr>
              <a:t>Can one saved memory image and its traffic identify the right TLS 1.3 secrets without known messages or access to the answers?</a:t>
            </a:r>
          </a:p>
        </p:txBody>
      </p:sp>
      <p:sp>
        <p:nvSpPr>
          <p:cNvPr id="6" name="">
            <a:extLst xmlns:a="http://schemas.openxmlformats.org/drawingml/2006/main">
              <a:ext uri="{FF2B5EF4-FFF2-40B4-BE49-F238E27FC236}">
                <a16:creationId xmlns:a16="http://schemas.microsoft.com/office/drawing/2014/main" id="{11C58B82-7732-494B-AA97-1A80658CF578}"/>
              </a:ext>
            </a:extLst>
          </p:cNvPr>
          <p:cNvSpPr>
            <a:spLocks xmlns:a="http://schemas.openxmlformats.org/drawingml/2006/main" noGrp="1"/>
          </p:cNvSpPr>
          <p:nvPr/>
        </p:nvSpPr>
        <p:spPr>
          <a:xfrm xmlns:a="http://schemas.openxmlformats.org/drawingml/2006/main">
            <a:off x="609600" y="4724400"/>
            <a:ext cx="107156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E3E"/>
                </a:solidFill>
                <a:latin typeface="Arial"/>
                <a:ea typeface="Arial"/>
                <a:cs typeface="Arial"/>
              </a:defRPr>
            </a:pPr>
            <a:r>
              <a:rPr sz="2325" b="0">
                <a:solidFill>
                  <a:srgbClr val="142E3E"/>
                </a:solidFill>
                <a:latin typeface="Arial"/>
                <a:ea typeface="Arial"/>
                <a:cs typeface="Arial"/>
              </a:rPr>
              <a:t>Then: does the method remain useful against stronger baselines, new builds and fresh cases?</a:t>
            </a:r>
          </a:p>
        </p:txBody>
      </p:sp>
    </p:spTree>
    <p:extLst>
      <p:ext uri="{BB962C8B-B14F-4D97-AF65-F5344CB8AC3E}">
        <p14:creationId xmlns:p14="http://schemas.microsoft.com/office/powerpoint/2010/main" val="1604385250"/>
      </p:ext>
    </p:extLst>
  </p:cSld>
</p:sld>
</file>

<file path=ppt/slides/slide2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07A721-2F8C-45E2-BFB2-E67859A69E0D}"/>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The separate blind study</a:t>
            </a:r>
          </a:p>
        </p:txBody>
      </p:sp>
      <p:sp>
        <p:nvSpPr>
          <p:cNvPr id="2" name="">
            <a:extLst xmlns:a="http://schemas.openxmlformats.org/drawingml/2006/main">
              <a:ext uri="{FF2B5EF4-FFF2-40B4-BE49-F238E27FC236}">
                <a16:creationId xmlns:a16="http://schemas.microsoft.com/office/drawing/2014/main" id="{3AEEBD89-5142-46D1-8D3E-4A7E06E94DF5}"/>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A69C0474-7481-4AB9-ADD7-9B20011E51C1}"/>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25</a:t>
            </a:r>
          </a:p>
        </p:txBody>
      </p:sp>
      <p:sp>
        <p:nvSpPr>
          <p:cNvPr id="4" name="">
            <a:extLst xmlns:a="http://schemas.openxmlformats.org/drawingml/2006/main">
              <a:ext uri="{FF2B5EF4-FFF2-40B4-BE49-F238E27FC236}">
                <a16:creationId xmlns:a16="http://schemas.microsoft.com/office/drawing/2014/main" id="{6CAEB386-E7F0-42AA-B9A0-DC7EABBEFFC7}"/>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 BLIND-FINAL-20260930-A; completed 30 September 2026</a:t>
            </a:r>
          </a:p>
        </p:txBody>
      </p:sp>
      <p:graphicFrame>
        <p:nvGraphicFramePr>
          <p:cNvPr id="11" name=""/>
          <p:cNvGraphicFramePr/>
          <p:nvPr/>
        </p:nvGraphicFramePr>
        <p:xfrm>
          <a:off xmlns:a="http://schemas.openxmlformats.org/drawingml/2006/main" x="609600" y="1971675"/>
          <a:ext xmlns:a="http://schemas.openxmlformats.org/drawingml/2006/main" cx="10972800" cy="3381375"/>
        </p:xfrm>
        <a:graphic xmlns:a="http://schemas.openxmlformats.org/drawingml/2006/main">
          <a:graphicData uri="http://schemas.openxmlformats.org/drawingml/2006/table">
            <a:tbl>
              <a:tblPr/>
              <a:tblGrid>
                <a:gridCol w="4191000"/>
                <a:gridCol w="1619250"/>
                <a:gridCol w="5162550"/>
              </a:tblGrid>
              <a:tr h="676275">
                <a:tc>
                  <a:txBody>
                    <a:bodyPr/>
                    <a:lstStyle/>
                    <a:p>
                      <a:r>
                        <a:rPr sz="1800" b="1">
                          <a:solidFill>
                            <a:srgbClr val="FFFFFF"/>
                          </a:solidFill>
                          <a:latin typeface="Arial"/>
                          <a:ea typeface="Arial"/>
                          <a:cs typeface="Arial"/>
                        </a:rPr>
                        <a:t>Case group</a:t>
                      </a:r>
                    </a:p>
                  </a:txBody>
                  <a:tcPr marL="91440" marR="91440" marT="45720" marB="45720">
                    <a:solidFill>
                      <a:srgbClr val="142E3E"/>
                    </a:solidFill>
                  </a:tcPr>
                </a:tc>
                <a:tc>
                  <a:txBody>
                    <a:bodyPr/>
                    <a:lstStyle/>
                    <a:p>
                      <a:r>
                        <a:rPr sz="1800" b="1">
                          <a:solidFill>
                            <a:srgbClr val="FFFFFF"/>
                          </a:solidFill>
                          <a:latin typeface="Arial"/>
                          <a:ea typeface="Arial"/>
                          <a:cs typeface="Arial"/>
                        </a:rPr>
                        <a:t>Count</a:t>
                      </a:r>
                    </a:p>
                  </a:txBody>
                  <a:tcPr marL="91440" marR="91440" marT="45720" marB="45720">
                    <a:solidFill>
                      <a:srgbClr val="142E3E"/>
                    </a:solidFill>
                  </a:tcPr>
                </a:tc>
                <a:tc>
                  <a:txBody>
                    <a:bodyPr/>
                    <a:lstStyle/>
                    <a:p>
                      <a:r>
                        <a:rPr sz="1800" b="1">
                          <a:solidFill>
                            <a:srgbClr val="FFFFFF"/>
                          </a:solidFill>
                          <a:latin typeface="Arial"/>
                          <a:ea typeface="Arial"/>
                          <a:cs typeface="Arial"/>
                        </a:rPr>
                        <a:t>What it tests</a:t>
                      </a:r>
                    </a:p>
                  </a:txBody>
                  <a:tcPr marL="91440" marR="91440" marT="45720" marB="45720">
                    <a:solidFill>
                      <a:srgbClr val="142E3E"/>
                    </a:solidFill>
                  </a:tcPr>
                </a:tc>
              </a:tr>
              <a:tr h="676275">
                <a:tc>
                  <a:txBody>
                    <a:bodyPr/>
                    <a:lstStyle/>
                    <a:p>
                      <a:r>
                        <a:rPr sz="1800" b="0">
                          <a:solidFill>
                            <a:srgbClr val="142E3E"/>
                          </a:solidFill>
                          <a:latin typeface="Arial"/>
                          <a:ea typeface="Arial"/>
                          <a:cs typeface="Arial"/>
                        </a:rPr>
                        <a:t>Two / three overlapping flows</a:t>
                      </a:r>
                    </a:p>
                  </a:txBody>
                  <a:tcPr marL="91440" marR="91440" marT="45720" marB="45720">
                    <a:solidFill>
                      <a:srgbClr val="FFFFFF"/>
                    </a:solidFill>
                  </a:tcPr>
                </a:tc>
                <a:tc>
                  <a:txBody>
                    <a:bodyPr/>
                    <a:lstStyle/>
                    <a:p>
                      <a:r>
                        <a:rPr sz="1800" b="0">
                          <a:solidFill>
                            <a:srgbClr val="142E3E"/>
                          </a:solidFill>
                          <a:latin typeface="Arial"/>
                          <a:ea typeface="Arial"/>
                          <a:cs typeface="Arial"/>
                        </a:rPr>
                        <a:t>35 + 35</a:t>
                      </a:r>
                    </a:p>
                  </a:txBody>
                  <a:tcPr marL="91440" marR="91440" marT="45720" marB="45720">
                    <a:solidFill>
                      <a:srgbClr val="FFFFFF"/>
                    </a:solidFill>
                  </a:tcPr>
                </a:tc>
                <a:tc>
                  <a:txBody>
                    <a:bodyPr/>
                    <a:lstStyle/>
                    <a:p>
                      <a:r>
                        <a:rPr sz="1800" b="0">
                          <a:solidFill>
                            <a:srgbClr val="142E3E"/>
                          </a:solidFill>
                          <a:latin typeface="Arial"/>
                          <a:ea typeface="Arial"/>
                          <a:cs typeface="Arial"/>
                        </a:rPr>
                        <a:t>Complete recovery without known messages</a:t>
                      </a:r>
                    </a:p>
                  </a:txBody>
                  <a:tcPr marL="91440" marR="91440" marT="45720" marB="45720">
                    <a:solidFill>
                      <a:srgbClr val="FFFFFF"/>
                    </a:solidFill>
                  </a:tcPr>
                </a:tc>
              </a:tr>
              <a:tr h="676275">
                <a:tc>
                  <a:txBody>
                    <a:bodyPr/>
                    <a:lstStyle/>
                    <a:p>
                      <a:r>
                        <a:rPr sz="1800" b="0">
                          <a:solidFill>
                            <a:srgbClr val="142E3E"/>
                          </a:solidFill>
                          <a:latin typeface="Arial"/>
                          <a:ea typeface="Arial"/>
                          <a:cs typeface="Arial"/>
                        </a:rPr>
                        <a:t>Mismatched memory and traffic</a:t>
                      </a:r>
                    </a:p>
                  </a:txBody>
                  <a:tcPr marL="91440" marR="91440" marT="45720" marB="45720">
                    <a:solidFill>
                      <a:srgbClr val="E1EFEC"/>
                    </a:solidFill>
                  </a:tcPr>
                </a:tc>
                <a:tc>
                  <a:txBody>
                    <a:bodyPr/>
                    <a:lstStyle/>
                    <a:p>
                      <a:r>
                        <a:rPr sz="1800" b="0">
                          <a:solidFill>
                            <a:srgbClr val="142E3E"/>
                          </a:solidFill>
                          <a:latin typeface="Arial"/>
                          <a:ea typeface="Arial"/>
                          <a:cs typeface="Arial"/>
                        </a:rPr>
                        <a:t>10</a:t>
                      </a:r>
                    </a:p>
                  </a:txBody>
                  <a:tcPr marL="91440" marR="91440" marT="45720" marB="45720">
                    <a:solidFill>
                      <a:srgbClr val="E1EFEC"/>
                    </a:solidFill>
                  </a:tcPr>
                </a:tc>
                <a:tc>
                  <a:txBody>
                    <a:bodyPr/>
                    <a:lstStyle/>
                    <a:p>
                      <a:r>
                        <a:rPr sz="1800" b="0">
                          <a:solidFill>
                            <a:srgbClr val="142E3E"/>
                          </a:solidFill>
                          <a:latin typeface="Arial"/>
                          <a:ea typeface="Arial"/>
                          <a:cs typeface="Arial"/>
                        </a:rPr>
                        <a:t>Correct refusal to assign</a:t>
                      </a:r>
                    </a:p>
                  </a:txBody>
                  <a:tcPr marL="91440" marR="91440" marT="45720" marB="45720">
                    <a:solidFill>
                      <a:srgbClr val="E1EFEC"/>
                    </a:solidFill>
                  </a:tcPr>
                </a:tc>
              </a:tr>
              <a:tr h="676275">
                <a:tc>
                  <a:txBody>
                    <a:bodyPr/>
                    <a:lstStyle/>
                    <a:p>
                      <a:r>
                        <a:rPr sz="1800" b="0">
                          <a:solidFill>
                            <a:srgbClr val="142E3E"/>
                          </a:solidFill>
                          <a:latin typeface="Arial"/>
                          <a:ea typeface="Arial"/>
                          <a:cs typeface="Arial"/>
                        </a:rPr>
                        <a:t>Unrelated traffic</a:t>
                      </a:r>
                    </a:p>
                  </a:txBody>
                  <a:tcPr marL="91440" marR="91440" marT="45720" marB="45720">
                    <a:solidFill>
                      <a:srgbClr val="FFFFFF"/>
                    </a:solidFill>
                  </a:tcPr>
                </a:tc>
                <a:tc>
                  <a:txBody>
                    <a:bodyPr/>
                    <a:lstStyle/>
                    <a:p>
                      <a:r>
                        <a:rPr sz="1800" b="0">
                          <a:solidFill>
                            <a:srgbClr val="142E3E"/>
                          </a:solidFill>
                          <a:latin typeface="Arial"/>
                          <a:ea typeface="Arial"/>
                          <a:cs typeface="Arial"/>
                        </a:rPr>
                        <a:t>10</a:t>
                      </a:r>
                    </a:p>
                  </a:txBody>
                  <a:tcPr marL="91440" marR="91440" marT="45720" marB="45720">
                    <a:solidFill>
                      <a:srgbClr val="FFFFFF"/>
                    </a:solidFill>
                  </a:tcPr>
                </a:tc>
                <a:tc>
                  <a:txBody>
                    <a:bodyPr/>
                    <a:lstStyle/>
                    <a:p>
                      <a:r>
                        <a:rPr sz="1800" b="0">
                          <a:solidFill>
                            <a:srgbClr val="142E3E"/>
                          </a:solidFill>
                          <a:latin typeface="Arial"/>
                          <a:ea typeface="Arial"/>
                          <a:cs typeface="Arial"/>
                        </a:rPr>
                        <a:t>Correct refusal to assign</a:t>
                      </a:r>
                    </a:p>
                  </a:txBody>
                  <a:tcPr marL="91440" marR="91440" marT="45720" marB="45720">
                    <a:solidFill>
                      <a:srgbClr val="FFFFFF"/>
                    </a:solidFill>
                  </a:tcPr>
                </a:tc>
              </a:tr>
              <a:tr h="676275">
                <a:tc>
                  <a:txBody>
                    <a:bodyPr/>
                    <a:lstStyle/>
                    <a:p>
                      <a:r>
                        <a:rPr sz="1800" b="0">
                          <a:solidFill>
                            <a:srgbClr val="142E3E"/>
                          </a:solidFill>
                          <a:latin typeface="Arial"/>
                          <a:ea typeface="Arial"/>
                          <a:cs typeface="Arial"/>
                        </a:rPr>
                        <a:t>One secret removed from memory</a:t>
                      </a:r>
                    </a:p>
                  </a:txBody>
                  <a:tcPr marL="91440" marR="91440" marT="45720" marB="45720">
                    <a:solidFill>
                      <a:srgbClr val="E1EFEC"/>
                    </a:solidFill>
                  </a:tcPr>
                </a:tc>
                <a:tc>
                  <a:txBody>
                    <a:bodyPr/>
                    <a:lstStyle/>
                    <a:p>
                      <a:r>
                        <a:rPr sz="1800" b="0">
                          <a:solidFill>
                            <a:srgbClr val="142E3E"/>
                          </a:solidFill>
                          <a:latin typeface="Arial"/>
                          <a:ea typeface="Arial"/>
                          <a:cs typeface="Arial"/>
                        </a:rPr>
                        <a:t>10</a:t>
                      </a:r>
                    </a:p>
                  </a:txBody>
                  <a:tcPr marL="91440" marR="91440" marT="45720" marB="45720">
                    <a:solidFill>
                      <a:srgbClr val="E1EFEC"/>
                    </a:solidFill>
                  </a:tcPr>
                </a:tc>
                <a:tc>
                  <a:txBody>
                    <a:bodyPr/>
                    <a:lstStyle/>
                    <a:p>
                      <a:r>
                        <a:rPr sz="1800" b="0">
                          <a:solidFill>
                            <a:srgbClr val="142E3E"/>
                          </a:solidFill>
                          <a:latin typeface="Arial"/>
                          <a:ea typeface="Arial"/>
                          <a:cs typeface="Arial"/>
                        </a:rPr>
                        <a:t>Partial recovery and honest abstention</a:t>
                      </a:r>
                    </a:p>
                  </a:txBody>
                  <a:tcPr marL="91440" marR="91440" marT="45720" marB="45720">
                    <a:solidFill>
                      <a:srgbClr val="E1EFEC"/>
                    </a:solidFill>
                  </a:tcPr>
                </a:tc>
              </a:tr>
            </a:tbl>
          </a:graphicData>
        </a:graphic>
      </p:graphicFrame>
      <p:sp>
        <p:nvSpPr>
          <p:cNvPr id="6" name="">
            <a:extLst xmlns:a="http://schemas.openxmlformats.org/drawingml/2006/main">
              <a:ext uri="{FF2B5EF4-FFF2-40B4-BE49-F238E27FC236}">
                <a16:creationId xmlns:a16="http://schemas.microsoft.com/office/drawing/2014/main" id="{5D38350B-BF1F-4F35-BD0E-FE590B3C42CA}"/>
              </a:ext>
            </a:extLst>
          </p:cNvPr>
          <p:cNvSpPr>
            <a:spLocks xmlns:a="http://schemas.openxmlformats.org/drawingml/2006/main" noGrp="1"/>
          </p:cNvSpPr>
          <p:nvPr/>
        </p:nvSpPr>
        <p:spPr>
          <a:xfrm xmlns:a="http://schemas.openxmlformats.org/drawingml/2006/main">
            <a:off x="609600" y="561975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Recovery inputs: one core, one complete PCAP, declared build metadata.</a:t>
            </a:r>
          </a:p>
        </p:txBody>
      </p:sp>
    </p:spTree>
    <p:extLst>
      <p:ext uri="{BB962C8B-B14F-4D97-AF65-F5344CB8AC3E}">
        <p14:creationId xmlns:p14="http://schemas.microsoft.com/office/powerpoint/2010/main" val="1783998435"/>
      </p:ext>
    </p:extLst>
  </p:cSld>
</p:sld>
</file>

<file path=ppt/slides/slide2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13FB1C-6254-441F-B9CF-4C61F5030930}"/>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Blind results under the frozen budget</a:t>
            </a:r>
          </a:p>
        </p:txBody>
      </p:sp>
      <p:sp>
        <p:nvSpPr>
          <p:cNvPr id="2" name="">
            <a:extLst xmlns:a="http://schemas.openxmlformats.org/drawingml/2006/main">
              <a:ext uri="{FF2B5EF4-FFF2-40B4-BE49-F238E27FC236}">
                <a16:creationId xmlns:a16="http://schemas.microsoft.com/office/drawing/2014/main" id="{10DF7593-284A-4C45-B96F-D8859D9AF1E7}"/>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575576C2-9A58-4DE7-B367-BC17F919708A}"/>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26</a:t>
            </a:r>
          </a:p>
        </p:txBody>
      </p:sp>
      <p:sp>
        <p:nvSpPr>
          <p:cNvPr id="4" name="">
            <a:extLst xmlns:a="http://schemas.openxmlformats.org/drawingml/2006/main">
              <a:ext uri="{FF2B5EF4-FFF2-40B4-BE49-F238E27FC236}">
                <a16:creationId xmlns:a16="http://schemas.microsoft.com/office/drawing/2014/main" id="{F376227D-2CC8-4D2C-9B40-3072038B9EE5}"/>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 TLS13_BLIND_STUDY_RESULTS.md</a:t>
            </a:r>
          </a:p>
        </p:txBody>
      </p:sp>
      <p:graphicFrame>
        <p:nvGraphicFramePr>
          <p:cNvPr id="11" name=""/>
          <p:cNvGraphicFramePr/>
          <p:nvPr/>
        </p:nvGraphicFramePr>
        <p:xfrm>
          <a:off xmlns:a="http://schemas.openxmlformats.org/drawingml/2006/main" x="609600" y="2009775"/>
          <a:ext xmlns:a="http://schemas.openxmlformats.org/drawingml/2006/main" cx="10972800" cy="3276600"/>
        </p:xfrm>
        <a:graphic xmlns:a="http://schemas.openxmlformats.org/drawingml/2006/main">
          <a:graphicData uri="http://schemas.openxmlformats.org/drawingml/2006/table">
            <a:tbl>
              <a:tblPr/>
              <a:tblGrid>
                <a:gridCol w="5010150"/>
                <a:gridCol w="2981325"/>
                <a:gridCol w="2981325"/>
              </a:tblGrid>
              <a:tr h="655320">
                <a:tc>
                  <a:txBody>
                    <a:bodyPr/>
                    <a:lstStyle/>
                    <a:p>
                      <a:r>
                        <a:rPr sz="1875" b="1">
                          <a:solidFill>
                            <a:srgbClr val="FFFFFF"/>
                          </a:solidFill>
                          <a:latin typeface="Arial"/>
                          <a:ea typeface="Arial"/>
                          <a:cs typeface="Arial"/>
                        </a:rPr>
                        <a:t>Measure</a:t>
                      </a:r>
                    </a:p>
                  </a:txBody>
                  <a:tcPr marL="91440" marR="91440" marT="45720" marB="45720">
                    <a:solidFill>
                      <a:srgbClr val="142E3E"/>
                    </a:solidFill>
                  </a:tcPr>
                </a:tc>
                <a:tc>
                  <a:txBody>
                    <a:bodyPr/>
                    <a:lstStyle/>
                    <a:p>
                      <a:r>
                        <a:rPr sz="1875" b="1">
                          <a:solidFill>
                            <a:srgbClr val="FFFFFF"/>
                          </a:solidFill>
                          <a:latin typeface="Arial"/>
                          <a:ea typeface="Arial"/>
                          <a:cs typeface="Arial"/>
                        </a:rPr>
                        <a:t>Structured search</a:t>
                      </a:r>
                    </a:p>
                  </a:txBody>
                  <a:tcPr marL="91440" marR="91440" marT="45720" marB="45720">
                    <a:solidFill>
                      <a:srgbClr val="142E3E"/>
                    </a:solidFill>
                  </a:tcPr>
                </a:tc>
                <a:tc>
                  <a:txBody>
                    <a:bodyPr/>
                    <a:lstStyle/>
                    <a:p>
                      <a:r>
                        <a:rPr sz="1875" b="1">
                          <a:solidFill>
                            <a:srgbClr val="FFFFFF"/>
                          </a:solidFill>
                          <a:latin typeface="Arial"/>
                          <a:ea typeface="Arial"/>
                          <a:cs typeface="Arial"/>
                        </a:rPr>
                        <a:t>Entropy-only search</a:t>
                      </a:r>
                    </a:p>
                  </a:txBody>
                  <a:tcPr marL="91440" marR="91440" marT="45720" marB="45720">
                    <a:solidFill>
                      <a:srgbClr val="142E3E"/>
                    </a:solidFill>
                  </a:tcPr>
                </a:tc>
              </a:tr>
              <a:tr h="655320">
                <a:tc>
                  <a:txBody>
                    <a:bodyPr/>
                    <a:lstStyle/>
                    <a:p>
                      <a:r>
                        <a:rPr sz="1875" b="0">
                          <a:solidFill>
                            <a:srgbClr val="142E3E"/>
                          </a:solidFill>
                          <a:latin typeface="Arial"/>
                          <a:ea typeface="Arial"/>
                          <a:cs typeface="Arial"/>
                        </a:rPr>
                        <a:t>Complete positive cases</a:t>
                      </a:r>
                    </a:p>
                  </a:txBody>
                  <a:tcPr marL="91440" marR="91440" marT="45720" marB="45720">
                    <a:solidFill>
                      <a:srgbClr val="FFFFFF"/>
                    </a:solidFill>
                  </a:tcPr>
                </a:tc>
                <a:tc>
                  <a:txBody>
                    <a:bodyPr/>
                    <a:lstStyle/>
                    <a:p>
                      <a:r>
                        <a:rPr sz="1875" b="0">
                          <a:solidFill>
                            <a:srgbClr val="142E3E"/>
                          </a:solidFill>
                          <a:latin typeface="Arial"/>
                          <a:ea typeface="Arial"/>
                          <a:cs typeface="Arial"/>
                        </a:rPr>
                        <a:t>70 / 70</a:t>
                      </a:r>
                    </a:p>
                  </a:txBody>
                  <a:tcPr marL="91440" marR="91440" marT="45720" marB="45720">
                    <a:solidFill>
                      <a:srgbClr val="FFFFFF"/>
                    </a:solidFill>
                  </a:tcPr>
                </a:tc>
                <a:tc>
                  <a:txBody>
                    <a:bodyPr/>
                    <a:lstStyle/>
                    <a:p>
                      <a:r>
                        <a:rPr sz="1875" b="0">
                          <a:solidFill>
                            <a:srgbClr val="142E3E"/>
                          </a:solidFill>
                          <a:latin typeface="Arial"/>
                          <a:ea typeface="Arial"/>
                          <a:cs typeface="Arial"/>
                        </a:rPr>
                        <a:t>0 / 70</a:t>
                      </a:r>
                    </a:p>
                  </a:txBody>
                  <a:tcPr marL="91440" marR="91440" marT="45720" marB="45720">
                    <a:solidFill>
                      <a:srgbClr val="FFFFFF"/>
                    </a:solidFill>
                  </a:tcPr>
                </a:tc>
              </a:tr>
              <a:tr h="655320">
                <a:tc>
                  <a:txBody>
                    <a:bodyPr/>
                    <a:lstStyle/>
                    <a:p>
                      <a:r>
                        <a:rPr sz="1875" b="0">
                          <a:solidFill>
                            <a:srgbClr val="142E3E"/>
                          </a:solidFill>
                          <a:latin typeface="Arial"/>
                          <a:ea typeface="Arial"/>
                          <a:cs typeface="Arial"/>
                        </a:rPr>
                        <a:t>Correct positive role targets</a:t>
                      </a:r>
                    </a:p>
                  </a:txBody>
                  <a:tcPr marL="91440" marR="91440" marT="45720" marB="45720">
                    <a:solidFill>
                      <a:srgbClr val="E1EFEC"/>
                    </a:solidFill>
                  </a:tcPr>
                </a:tc>
                <a:tc>
                  <a:txBody>
                    <a:bodyPr/>
                    <a:lstStyle/>
                    <a:p>
                      <a:r>
                        <a:rPr sz="1875" b="0">
                          <a:solidFill>
                            <a:srgbClr val="142E3E"/>
                          </a:solidFill>
                          <a:latin typeface="Arial"/>
                          <a:ea typeface="Arial"/>
                          <a:cs typeface="Arial"/>
                        </a:rPr>
                        <a:t>350 / 350</a:t>
                      </a:r>
                    </a:p>
                  </a:txBody>
                  <a:tcPr marL="91440" marR="91440" marT="45720" marB="45720">
                    <a:solidFill>
                      <a:srgbClr val="E1EFEC"/>
                    </a:solidFill>
                  </a:tcPr>
                </a:tc>
                <a:tc>
                  <a:txBody>
                    <a:bodyPr/>
                    <a:lstStyle/>
                    <a:p>
                      <a:r>
                        <a:rPr sz="1875" b="0">
                          <a:solidFill>
                            <a:srgbClr val="142E3E"/>
                          </a:solidFill>
                          <a:latin typeface="Arial"/>
                          <a:ea typeface="Arial"/>
                          <a:cs typeface="Arial"/>
                        </a:rPr>
                        <a:t>1 / 350</a:t>
                      </a:r>
                    </a:p>
                  </a:txBody>
                  <a:tcPr marL="91440" marR="91440" marT="45720" marB="45720">
                    <a:solidFill>
                      <a:srgbClr val="E1EFEC"/>
                    </a:solidFill>
                  </a:tcPr>
                </a:tc>
              </a:tr>
              <a:tr h="655320">
                <a:tc>
                  <a:txBody>
                    <a:bodyPr/>
                    <a:lstStyle/>
                    <a:p>
                      <a:r>
                        <a:rPr sz="1875" b="0">
                          <a:solidFill>
                            <a:srgbClr val="142E3E"/>
                          </a:solidFill>
                          <a:latin typeface="Arial"/>
                          <a:ea typeface="Arial"/>
                          <a:cs typeface="Arial"/>
                        </a:rPr>
                        <a:t>False assignments across all cases</a:t>
                      </a:r>
                    </a:p>
                  </a:txBody>
                  <a:tcPr marL="91440" marR="91440" marT="45720" marB="45720">
                    <a:solidFill>
                      <a:srgbClr val="FFFFFF"/>
                    </a:solidFill>
                  </a:tcPr>
                </a:tc>
                <a:tc>
                  <a:txBody>
                    <a:bodyPr/>
                    <a:lstStyle/>
                    <a:p>
                      <a:r>
                        <a:rPr sz="1875" b="0">
                          <a:solidFill>
                            <a:srgbClr val="142E3E"/>
                          </a:solidFill>
                          <a:latin typeface="Arial"/>
                          <a:ea typeface="Arial"/>
                          <a:cs typeface="Arial"/>
                        </a:rPr>
                        <a:t>0</a:t>
                      </a:r>
                    </a:p>
                  </a:txBody>
                  <a:tcPr marL="91440" marR="91440" marT="45720" marB="45720">
                    <a:solidFill>
                      <a:srgbClr val="FFFFFF"/>
                    </a:solidFill>
                  </a:tcPr>
                </a:tc>
                <a:tc>
                  <a:txBody>
                    <a:bodyPr/>
                    <a:lstStyle/>
                    <a:p>
                      <a:r>
                        <a:rPr sz="1875" b="0">
                          <a:solidFill>
                            <a:srgbClr val="142E3E"/>
                          </a:solidFill>
                          <a:latin typeface="Arial"/>
                          <a:ea typeface="Arial"/>
                          <a:cs typeface="Arial"/>
                        </a:rPr>
                        <a:t>0</a:t>
                      </a:r>
                    </a:p>
                  </a:txBody>
                  <a:tcPr marL="91440" marR="91440" marT="45720" marB="45720">
                    <a:solidFill>
                      <a:srgbClr val="FFFFFF"/>
                    </a:solidFill>
                  </a:tcPr>
                </a:tc>
              </a:tr>
              <a:tr h="655320">
                <a:tc>
                  <a:txBody>
                    <a:bodyPr/>
                    <a:lstStyle/>
                    <a:p>
                      <a:r>
                        <a:rPr sz="1875" b="0">
                          <a:solidFill>
                            <a:srgbClr val="142E3E"/>
                          </a:solidFill>
                          <a:latin typeface="Arial"/>
                          <a:ea typeface="Arial"/>
                          <a:cs typeface="Arial"/>
                        </a:rPr>
                        <a:t>Median wall time per case</a:t>
                      </a:r>
                    </a:p>
                  </a:txBody>
                  <a:tcPr marL="91440" marR="91440" marT="45720" marB="45720">
                    <a:solidFill>
                      <a:srgbClr val="E1EFEC"/>
                    </a:solidFill>
                  </a:tcPr>
                </a:tc>
                <a:tc>
                  <a:txBody>
                    <a:bodyPr/>
                    <a:lstStyle/>
                    <a:p>
                      <a:r>
                        <a:rPr sz="1875" b="0">
                          <a:solidFill>
                            <a:srgbClr val="142E3E"/>
                          </a:solidFill>
                          <a:latin typeface="Arial"/>
                          <a:ea typeface="Arial"/>
                          <a:cs typeface="Arial"/>
                        </a:rPr>
                        <a:t>23.0 s</a:t>
                      </a:r>
                    </a:p>
                  </a:txBody>
                  <a:tcPr marL="91440" marR="91440" marT="45720" marB="45720">
                    <a:solidFill>
                      <a:srgbClr val="E1EFEC"/>
                    </a:solidFill>
                  </a:tcPr>
                </a:tc>
                <a:tc>
                  <a:txBody>
                    <a:bodyPr/>
                    <a:lstStyle/>
                    <a:p>
                      <a:r>
                        <a:rPr sz="1875" b="0">
                          <a:solidFill>
                            <a:srgbClr val="142E3E"/>
                          </a:solidFill>
                          <a:latin typeface="Arial"/>
                          <a:ea typeface="Arial"/>
                          <a:cs typeface="Arial"/>
                        </a:rPr>
                        <a:t>187.7 s</a:t>
                      </a:r>
                    </a:p>
                  </a:txBody>
                  <a:tcPr marL="91440" marR="91440" marT="45720" marB="45720">
                    <a:solidFill>
                      <a:srgbClr val="E1EFEC"/>
                    </a:solidFill>
                  </a:tcPr>
                </a:tc>
              </a:tr>
            </a:tbl>
          </a:graphicData>
        </a:graphic>
      </p:graphicFrame>
      <p:sp>
        <p:nvSpPr>
          <p:cNvPr id="6" name="">
            <a:extLst xmlns:a="http://schemas.openxmlformats.org/drawingml/2006/main">
              <a:ext uri="{FF2B5EF4-FFF2-40B4-BE49-F238E27FC236}">
                <a16:creationId xmlns:a16="http://schemas.microsoft.com/office/drawing/2014/main" id="{2995AA08-7DCF-4650-9005-73280666DB5D}"/>
              </a:ext>
            </a:extLst>
          </p:cNvPr>
          <p:cNvSpPr>
            <a:spLocks xmlns:a="http://schemas.openxmlformats.org/drawingml/2006/main" noGrp="1"/>
          </p:cNvSpPr>
          <p:nvPr/>
        </p:nvSpPr>
        <p:spPr>
          <a:xfrm xmlns:a="http://schemas.openxmlformats.org/drawingml/2006/main">
            <a:off x="609600" y="555307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75B17"/>
                </a:solidFill>
                <a:latin typeface="Arial"/>
                <a:ea typeface="Arial"/>
                <a:cs typeface="Arial"/>
              </a:defRPr>
            </a:pPr>
            <a:r>
              <a:rPr sz="1875" b="1">
                <a:solidFill>
                  <a:srgbClr val="A75B17"/>
                </a:solidFill>
                <a:latin typeface="Arial"/>
                <a:ea typeface="Arial"/>
                <a:cs typeface="Arial"/>
              </a:rPr>
              <a:t>180-second search and 100-candidate cap. Entropy search timed out in every case.</a:t>
            </a:r>
          </a:p>
        </p:txBody>
      </p:sp>
    </p:spTree>
    <p:extLst>
      <p:ext uri="{BB962C8B-B14F-4D97-AF65-F5344CB8AC3E}">
        <p14:creationId xmlns:p14="http://schemas.microsoft.com/office/powerpoint/2010/main" val="475978067"/>
      </p:ext>
    </p:extLst>
  </p:cSld>
</p:sld>
</file>

<file path=ppt/slides/slide2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7E4DEBA-3BF2-4446-A08C-E77D46719508}"/>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Controls tested whether we knew when to stop</a:t>
            </a:r>
          </a:p>
        </p:txBody>
      </p:sp>
      <p:sp>
        <p:nvSpPr>
          <p:cNvPr id="2" name="">
            <a:extLst xmlns:a="http://schemas.openxmlformats.org/drawingml/2006/main">
              <a:ext uri="{FF2B5EF4-FFF2-40B4-BE49-F238E27FC236}">
                <a16:creationId xmlns:a16="http://schemas.microsoft.com/office/drawing/2014/main" id="{94D76F64-60CC-4802-9872-EB4366AB2E02}"/>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3B2BEE8E-4E56-48FE-95F2-971A2EF35421}"/>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27</a:t>
            </a:r>
          </a:p>
        </p:txBody>
      </p:sp>
      <p:sp>
        <p:nvSpPr>
          <p:cNvPr id="4" name="">
            <a:extLst xmlns:a="http://schemas.openxmlformats.org/drawingml/2006/main">
              <a:ext uri="{FF2B5EF4-FFF2-40B4-BE49-F238E27FC236}">
                <a16:creationId xmlns:a16="http://schemas.microsoft.com/office/drawing/2014/main" id="{028D2C3B-8721-4A05-9AAE-B2DFC40A704E}"/>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 blind-study control outcomes</a:t>
            </a:r>
          </a:p>
        </p:txBody>
      </p:sp>
      <p:sp>
        <p:nvSpPr>
          <p:cNvPr id="5" name="">
            <a:extLst xmlns:a="http://schemas.openxmlformats.org/drawingml/2006/main">
              <a:ext uri="{FF2B5EF4-FFF2-40B4-BE49-F238E27FC236}">
                <a16:creationId xmlns:a16="http://schemas.microsoft.com/office/drawing/2014/main" id="{8AE47985-4F74-4DDE-9CB0-3CB9B6F455AF}"/>
              </a:ext>
            </a:extLst>
          </p:cNvPr>
          <p:cNvSpPr>
            <a:spLocks xmlns:a="http://schemas.openxmlformats.org/drawingml/2006/main" noGrp="1"/>
          </p:cNvSpPr>
          <p:nvPr/>
        </p:nvSpPr>
        <p:spPr>
          <a:xfrm xmlns:a="http://schemas.openxmlformats.org/drawingml/2006/main">
            <a:off x="609600" y="2533650"/>
            <a:ext cx="337820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6" name="">
            <a:extLst xmlns:a="http://schemas.openxmlformats.org/drawingml/2006/main">
              <a:ext uri="{FF2B5EF4-FFF2-40B4-BE49-F238E27FC236}">
                <a16:creationId xmlns:a16="http://schemas.microsoft.com/office/drawing/2014/main" id="{A081F1CB-7102-40FE-8065-A2B71C9A6E11}"/>
              </a:ext>
            </a:extLst>
          </p:cNvPr>
          <p:cNvSpPr>
            <a:spLocks xmlns:a="http://schemas.openxmlformats.org/drawingml/2006/main" noGrp="1"/>
          </p:cNvSpPr>
          <p:nvPr/>
        </p:nvSpPr>
        <p:spPr>
          <a:xfrm xmlns:a="http://schemas.openxmlformats.org/drawingml/2006/main">
            <a:off x="762000" y="2724150"/>
            <a:ext cx="3073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Wrong traffic</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No assignment</a:t>
            </a:r>
          </a:p>
        </p:txBody>
      </p:sp>
      <p:sp>
        <p:nvSpPr>
          <p:cNvPr id="7" name="">
            <a:extLst xmlns:a="http://schemas.openxmlformats.org/drawingml/2006/main">
              <a:ext uri="{FF2B5EF4-FFF2-40B4-BE49-F238E27FC236}">
                <a16:creationId xmlns:a16="http://schemas.microsoft.com/office/drawing/2014/main" id="{A335D044-AEC3-41AC-B76F-DA1E72439782}"/>
              </a:ext>
            </a:extLst>
          </p:cNvPr>
          <p:cNvSpPr>
            <a:spLocks xmlns:a="http://schemas.openxmlformats.org/drawingml/2006/main" noGrp="1"/>
          </p:cNvSpPr>
          <p:nvPr/>
        </p:nvSpPr>
        <p:spPr>
          <a:xfrm xmlns:a="http://schemas.openxmlformats.org/drawingml/2006/main">
            <a:off x="4406900" y="2533650"/>
            <a:ext cx="337820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8" name="">
            <a:extLst xmlns:a="http://schemas.openxmlformats.org/drawingml/2006/main">
              <a:ext uri="{FF2B5EF4-FFF2-40B4-BE49-F238E27FC236}">
                <a16:creationId xmlns:a16="http://schemas.microsoft.com/office/drawing/2014/main" id="{8E753FAF-EBC3-4549-80DB-0711E454DCF1}"/>
              </a:ext>
            </a:extLst>
          </p:cNvPr>
          <p:cNvSpPr>
            <a:spLocks xmlns:a="http://schemas.openxmlformats.org/drawingml/2006/main" noGrp="1"/>
          </p:cNvSpPr>
          <p:nvPr/>
        </p:nvSpPr>
        <p:spPr>
          <a:xfrm xmlns:a="http://schemas.openxmlformats.org/drawingml/2006/main">
            <a:off x="4559300" y="2724150"/>
            <a:ext cx="3073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Unrelated traffic</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No assignment</a:t>
            </a:r>
          </a:p>
        </p:txBody>
      </p:sp>
      <p:sp>
        <p:nvSpPr>
          <p:cNvPr id="9" name="">
            <a:extLst xmlns:a="http://schemas.openxmlformats.org/drawingml/2006/main">
              <a:ext uri="{FF2B5EF4-FFF2-40B4-BE49-F238E27FC236}">
                <a16:creationId xmlns:a16="http://schemas.microsoft.com/office/drawing/2014/main" id="{FD68B1C6-B680-4C9F-A7CE-9B92891A8374}"/>
              </a:ext>
            </a:extLst>
          </p:cNvPr>
          <p:cNvSpPr>
            <a:spLocks xmlns:a="http://schemas.openxmlformats.org/drawingml/2006/main" noGrp="1"/>
          </p:cNvSpPr>
          <p:nvPr/>
        </p:nvSpPr>
        <p:spPr>
          <a:xfrm xmlns:a="http://schemas.openxmlformats.org/drawingml/2006/main">
            <a:off x="8204200" y="2533650"/>
            <a:ext cx="337820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0" name="">
            <a:extLst xmlns:a="http://schemas.openxmlformats.org/drawingml/2006/main">
              <a:ext uri="{FF2B5EF4-FFF2-40B4-BE49-F238E27FC236}">
                <a16:creationId xmlns:a16="http://schemas.microsoft.com/office/drawing/2014/main" id="{81DE22FE-AD61-4C68-B2EA-B83BE5D44055}"/>
              </a:ext>
            </a:extLst>
          </p:cNvPr>
          <p:cNvSpPr>
            <a:spLocks xmlns:a="http://schemas.openxmlformats.org/drawingml/2006/main" noGrp="1"/>
          </p:cNvSpPr>
          <p:nvPr/>
        </p:nvSpPr>
        <p:spPr>
          <a:xfrm xmlns:a="http://schemas.openxmlformats.org/drawingml/2006/main">
            <a:off x="8356600" y="2724150"/>
            <a:ext cx="3073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Secret removed</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Partial recovery</a:t>
            </a:r>
          </a:p>
        </p:txBody>
      </p:sp>
      <p:sp>
        <p:nvSpPr>
          <p:cNvPr id="11" name="">
            <a:extLst xmlns:a="http://schemas.openxmlformats.org/drawingml/2006/main">
              <a:ext uri="{FF2B5EF4-FFF2-40B4-BE49-F238E27FC236}">
                <a16:creationId xmlns:a16="http://schemas.microsoft.com/office/drawing/2014/main" id="{A5FBB393-973D-48D8-A7B8-EB6CF9777917}"/>
              </a:ext>
            </a:extLst>
          </p:cNvPr>
          <p:cNvSpPr>
            <a:spLocks xmlns:a="http://schemas.openxmlformats.org/drawingml/2006/main" noGrp="1"/>
          </p:cNvSpPr>
          <p:nvPr/>
        </p:nvSpPr>
        <p:spPr>
          <a:xfrm xmlns:a="http://schemas.openxmlformats.org/drawingml/2006/main">
            <a:off x="609600" y="4314825"/>
            <a:ext cx="10953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7F79"/>
                </a:solidFill>
                <a:latin typeface="Arial"/>
                <a:ea typeface="Arial"/>
                <a:cs typeface="Arial"/>
              </a:defRPr>
            </a:pPr>
            <a:r>
              <a:rPr sz="2550" b="1">
                <a:solidFill>
                  <a:srgbClr val="007F79"/>
                </a:solidFill>
                <a:latin typeface="Arial"/>
                <a:ea typeface="Arial"/>
                <a:cs typeface="Arial"/>
              </a:rPr>
              <a:t>40 available targets recovered in the redacted controls.</a:t>
            </a:r>
          </a:p>
        </p:txBody>
      </p:sp>
      <p:sp>
        <p:nvSpPr>
          <p:cNvPr id="12" name="">
            <a:extLst xmlns:a="http://schemas.openxmlformats.org/drawingml/2006/main">
              <a:ext uri="{FF2B5EF4-FFF2-40B4-BE49-F238E27FC236}">
                <a16:creationId xmlns:a16="http://schemas.microsoft.com/office/drawing/2014/main" id="{5301F92D-189D-4BAF-A8E7-5215C3850A9C}"/>
              </a:ext>
            </a:extLst>
          </p:cNvPr>
          <p:cNvSpPr>
            <a:spLocks xmlns:a="http://schemas.openxmlformats.org/drawingml/2006/main" noGrp="1"/>
          </p:cNvSpPr>
          <p:nvPr/>
        </p:nvSpPr>
        <p:spPr>
          <a:xfrm xmlns:a="http://schemas.openxmlformats.org/drawingml/2006/main">
            <a:off x="609600" y="509587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E3E"/>
                </a:solidFill>
                <a:latin typeface="Arial"/>
                <a:ea typeface="Arial"/>
                <a:cs typeface="Arial"/>
              </a:defRPr>
            </a:pPr>
            <a:r>
              <a:rPr sz="2100" b="0">
                <a:solidFill>
                  <a:srgbClr val="142E3E"/>
                </a:solidFill>
                <a:latin typeface="Arial"/>
                <a:ea typeface="Arial"/>
                <a:cs typeface="Arial"/>
              </a:rPr>
              <a:t>10 removed targets stayed unresolved. Missing evidence did not become a guessed answer.</a:t>
            </a:r>
          </a:p>
        </p:txBody>
      </p:sp>
    </p:spTree>
    <p:extLst>
      <p:ext uri="{BB962C8B-B14F-4D97-AF65-F5344CB8AC3E}">
        <p14:creationId xmlns:p14="http://schemas.microsoft.com/office/powerpoint/2010/main" val="1400795722"/>
      </p:ext>
    </p:extLst>
  </p:cSld>
</p:sld>
</file>

<file path=ppt/slides/slide2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B55EAED-C6F6-4838-81EE-5B8A9CE78FCE}"/>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We found a weakness in our own isolation</a:t>
            </a:r>
          </a:p>
        </p:txBody>
      </p:sp>
      <p:sp>
        <p:nvSpPr>
          <p:cNvPr id="2" name="">
            <a:extLst xmlns:a="http://schemas.openxmlformats.org/drawingml/2006/main">
              <a:ext uri="{FF2B5EF4-FFF2-40B4-BE49-F238E27FC236}">
                <a16:creationId xmlns:a16="http://schemas.microsoft.com/office/drawing/2014/main" id="{F604B0F5-61D8-43F5-91EA-4F2166D2EB37}"/>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2FB6C4A7-5B4B-48BD-8690-EC9C31D32F38}"/>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28</a:t>
            </a:r>
          </a:p>
        </p:txBody>
      </p:sp>
      <p:sp>
        <p:nvSpPr>
          <p:cNvPr id="4" name="">
            <a:extLst xmlns:a="http://schemas.openxmlformats.org/drawingml/2006/main">
              <a:ext uri="{FF2B5EF4-FFF2-40B4-BE49-F238E27FC236}">
                <a16:creationId xmlns:a16="http://schemas.microsoft.com/office/drawing/2014/main" id="{E546F72B-B4C2-4964-AEDE-05D1435DDF8E}"/>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Sources: blind-study limitations and isolated replay audit record</a:t>
            </a:r>
          </a:p>
        </p:txBody>
      </p:sp>
      <p:sp>
        <p:nvSpPr>
          <p:cNvPr id="5" name="">
            <a:extLst xmlns:a="http://schemas.openxmlformats.org/drawingml/2006/main">
              <a:ext uri="{FF2B5EF4-FFF2-40B4-BE49-F238E27FC236}">
                <a16:creationId xmlns:a16="http://schemas.microsoft.com/office/drawing/2014/main" id="{9B8220B5-950D-43DE-9E59-8115A7E0B4F2}"/>
              </a:ext>
            </a:extLst>
          </p:cNvPr>
          <p:cNvSpPr>
            <a:spLocks xmlns:a="http://schemas.openxmlformats.org/drawingml/2006/main" noGrp="1"/>
          </p:cNvSpPr>
          <p:nvPr/>
        </p:nvSpPr>
        <p:spPr>
          <a:xfrm xmlns:a="http://schemas.openxmlformats.org/drawingml/2006/main">
            <a:off x="609600" y="20288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75B17"/>
                </a:solidFill>
                <a:latin typeface="Arial"/>
                <a:ea typeface="Arial"/>
                <a:cs typeface="Arial"/>
              </a:defRPr>
            </a:pPr>
            <a:r>
              <a:rPr sz="2175" b="1">
                <a:solidFill>
                  <a:srgbClr val="A75B17"/>
                </a:solidFill>
                <a:latin typeface="Arial"/>
                <a:ea typeface="Arial"/>
                <a:cs typeface="Arial"/>
              </a:rPr>
              <a:t>Original limitation</a:t>
            </a:r>
          </a:p>
        </p:txBody>
      </p:sp>
      <p:sp>
        <p:nvSpPr>
          <p:cNvPr id="6" name="">
            <a:extLst xmlns:a="http://schemas.openxmlformats.org/drawingml/2006/main">
              <a:ext uri="{FF2B5EF4-FFF2-40B4-BE49-F238E27FC236}">
                <a16:creationId xmlns:a16="http://schemas.microsoft.com/office/drawing/2014/main" id="{4E0B1D93-1923-4A30-A950-0FB05CA4CA39}"/>
              </a:ext>
            </a:extLst>
          </p:cNvPr>
          <p:cNvSpPr>
            <a:spLocks xmlns:a="http://schemas.openxmlformats.org/drawingml/2006/main" noGrp="1"/>
          </p:cNvSpPr>
          <p:nvPr/>
        </p:nvSpPr>
        <p:spPr>
          <a:xfrm xmlns:a="http://schemas.openxmlformats.org/drawingml/2006/main">
            <a:off x="609600" y="2590800"/>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3E"/>
                </a:solidFill>
                <a:latin typeface="Arial"/>
                <a:ea typeface="Arial"/>
                <a:cs typeface="Arial"/>
              </a:defRPr>
            </a:pPr>
            <a:r>
              <a:rPr sz="2025" b="0">
                <a:solidFill>
                  <a:srgbClr val="142E3E"/>
                </a:solidFill>
                <a:latin typeface="Arial"/>
                <a:ea typeface="Arial"/>
                <a:cs typeface="Arial"/>
              </a:rPr>
              <a:t>Permissions protected the answers, but did not make every other study file technically inaccessible.</a:t>
            </a:r>
          </a:p>
        </p:txBody>
      </p:sp>
      <p:sp>
        <p:nvSpPr>
          <p:cNvPr id="7" name="">
            <a:extLst xmlns:a="http://schemas.openxmlformats.org/drawingml/2006/main">
              <a:ext uri="{FF2B5EF4-FFF2-40B4-BE49-F238E27FC236}">
                <a16:creationId xmlns:a16="http://schemas.microsoft.com/office/drawing/2014/main" id="{F905AFFB-BB99-40CB-A519-27B050E9DFFA}"/>
              </a:ext>
            </a:extLst>
          </p:cNvPr>
          <p:cNvSpPr>
            <a:spLocks xmlns:a="http://schemas.openxmlformats.org/drawingml/2006/main" noGrp="1"/>
          </p:cNvSpPr>
          <p:nvPr/>
        </p:nvSpPr>
        <p:spPr>
          <a:xfrm xmlns:a="http://schemas.openxmlformats.org/drawingml/2006/main">
            <a:off x="6429375" y="2028825"/>
            <a:ext cx="5076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What we added</a:t>
            </a:r>
          </a:p>
        </p:txBody>
      </p:sp>
      <p:sp>
        <p:nvSpPr>
          <p:cNvPr id="8" name="">
            <a:extLst xmlns:a="http://schemas.openxmlformats.org/drawingml/2006/main">
              <a:ext uri="{FF2B5EF4-FFF2-40B4-BE49-F238E27FC236}">
                <a16:creationId xmlns:a16="http://schemas.microsoft.com/office/drawing/2014/main" id="{AFDAC585-49F6-4C9D-88C8-B372F14894D4}"/>
              </a:ext>
            </a:extLst>
          </p:cNvPr>
          <p:cNvSpPr>
            <a:spLocks xmlns:a="http://schemas.openxmlformats.org/drawingml/2006/main" noGrp="1"/>
          </p:cNvSpPr>
          <p:nvPr/>
        </p:nvSpPr>
        <p:spPr>
          <a:xfrm xmlns:a="http://schemas.openxmlformats.org/drawingml/2006/main">
            <a:off x="6429375" y="2590800"/>
            <a:ext cx="50768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3E"/>
                </a:solidFill>
                <a:latin typeface="Arial"/>
                <a:ea typeface="Arial"/>
                <a:cs typeface="Arial"/>
              </a:defRPr>
            </a:pPr>
            <a:r>
              <a:rPr sz="2025" b="0">
                <a:solidFill>
                  <a:srgbClr val="142E3E"/>
                </a:solidFill>
                <a:latin typeface="Arial"/>
                <a:ea typeface="Arial"/>
                <a:cs typeface="Arial"/>
              </a:rPr>
              <a:t>Per-method isolation, access probes, controller-owned seals and a complete replay audit.</a:t>
            </a:r>
          </a:p>
        </p:txBody>
      </p:sp>
      <p:sp>
        <p:nvSpPr>
          <p:cNvPr id="9" name="">
            <a:extLst xmlns:a="http://schemas.openxmlformats.org/drawingml/2006/main">
              <a:ext uri="{FF2B5EF4-FFF2-40B4-BE49-F238E27FC236}">
                <a16:creationId xmlns:a16="http://schemas.microsoft.com/office/drawing/2014/main" id="{434BAFE6-77F1-4D38-9777-E9B188D3DE8A}"/>
              </a:ext>
            </a:extLst>
          </p:cNvPr>
          <p:cNvSpPr>
            <a:spLocks xmlns:a="http://schemas.openxmlformats.org/drawingml/2006/main" noGrp="1"/>
          </p:cNvSpPr>
          <p:nvPr/>
        </p:nvSpPr>
        <p:spPr>
          <a:xfrm xmlns:a="http://schemas.openxmlformats.org/drawingml/2006/main">
            <a:off x="609600" y="45148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F79"/>
                </a:solidFill>
                <a:latin typeface="Arial"/>
                <a:ea typeface="Arial"/>
                <a:cs typeface="Arial"/>
              </a:defRPr>
            </a:pPr>
            <a:r>
              <a:rPr sz="3150" b="1">
                <a:solidFill>
                  <a:srgbClr val="007F79"/>
                </a:solidFill>
                <a:latin typeface="Arial"/>
                <a:ea typeface="Arial"/>
                <a:cs typeface="Arial"/>
              </a:rPr>
              <a:t>100 / 100 replayed cases matched</a:t>
            </a:r>
          </a:p>
        </p:txBody>
      </p:sp>
      <p:sp>
        <p:nvSpPr>
          <p:cNvPr id="10" name="">
            <a:extLst xmlns:a="http://schemas.openxmlformats.org/drawingml/2006/main">
              <a:ext uri="{FF2B5EF4-FFF2-40B4-BE49-F238E27FC236}">
                <a16:creationId xmlns:a16="http://schemas.microsoft.com/office/drawing/2014/main" id="{DEE068D0-C750-4922-A0F8-3C221B57ECAA}"/>
              </a:ext>
            </a:extLst>
          </p:cNvPr>
          <p:cNvSpPr>
            <a:spLocks xmlns:a="http://schemas.openxmlformats.org/drawingml/2006/main" noGrp="1"/>
          </p:cNvSpPr>
          <p:nvPr/>
        </p:nvSpPr>
        <p:spPr>
          <a:xfrm xmlns:a="http://schemas.openxmlformats.org/drawingml/2006/main">
            <a:off x="609600" y="53721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3E"/>
                </a:solidFill>
                <a:latin typeface="Arial"/>
                <a:ea typeface="Arial"/>
                <a:cs typeface="Arial"/>
              </a:defRPr>
            </a:pPr>
            <a:r>
              <a:rPr sz="2250" b="0">
                <a:solidFill>
                  <a:srgbClr val="142E3E"/>
                </a:solidFill>
                <a:latin typeface="Arial"/>
                <a:ea typeface="Arial"/>
                <a:cs typeface="Arial"/>
              </a:rPr>
              <a:t>Same retained data. No new independent sample.</a:t>
            </a:r>
          </a:p>
        </p:txBody>
      </p:sp>
    </p:spTree>
    <p:extLst>
      <p:ext uri="{BB962C8B-B14F-4D97-AF65-F5344CB8AC3E}">
        <p14:creationId xmlns:p14="http://schemas.microsoft.com/office/powerpoint/2010/main" val="618606551"/>
      </p:ext>
    </p:extLst>
  </p:cSld>
</p:sld>
</file>

<file path=ppt/slides/slide2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37CF9F-A746-4A38-AFD5-B30548A3D752}"/>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The practical lessons changed our workflow</a:t>
            </a:r>
          </a:p>
        </p:txBody>
      </p:sp>
      <p:sp>
        <p:nvSpPr>
          <p:cNvPr id="2" name="">
            <a:extLst xmlns:a="http://schemas.openxmlformats.org/drawingml/2006/main">
              <a:ext uri="{FF2B5EF4-FFF2-40B4-BE49-F238E27FC236}">
                <a16:creationId xmlns:a16="http://schemas.microsoft.com/office/drawing/2014/main" id="{D66F036C-8558-4EE0-B20E-9AFB8F7604FC}"/>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47FF4660-D106-4C80-B690-59C6C58AE709}"/>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29</a:t>
            </a:r>
          </a:p>
        </p:txBody>
      </p:sp>
      <p:sp>
        <p:nvSpPr>
          <p:cNvPr id="4" name="">
            <a:extLst xmlns:a="http://schemas.openxmlformats.org/drawingml/2006/main">
              <a:ext uri="{FF2B5EF4-FFF2-40B4-BE49-F238E27FC236}">
                <a16:creationId xmlns:a16="http://schemas.microsoft.com/office/drawing/2014/main" id="{0BDFE3E5-C00C-42AB-9175-AD32FFAF4AD1}"/>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Sources: work logs and 2 October execution record</a:t>
            </a:r>
          </a:p>
        </p:txBody>
      </p:sp>
      <p:graphicFrame>
        <p:nvGraphicFramePr>
          <p:cNvPr id="11" name=""/>
          <p:cNvGraphicFramePr/>
          <p:nvPr/>
        </p:nvGraphicFramePr>
        <p:xfrm>
          <a:off xmlns:a="http://schemas.openxmlformats.org/drawingml/2006/main" x="609600" y="2000250"/>
          <a:ext xmlns:a="http://schemas.openxmlformats.org/drawingml/2006/main" cx="10972800" cy="3438525"/>
        </p:xfrm>
        <a:graphic xmlns:a="http://schemas.openxmlformats.org/drawingml/2006/main">
          <a:graphicData uri="http://schemas.openxmlformats.org/drawingml/2006/table">
            <a:tbl>
              <a:tblPr/>
              <a:tblGrid>
                <a:gridCol w="5086350"/>
                <a:gridCol w="5886450"/>
              </a:tblGrid>
              <a:tr h="687705">
                <a:tc>
                  <a:txBody>
                    <a:bodyPr/>
                    <a:lstStyle/>
                    <a:p>
                      <a:r>
                        <a:rPr sz="1800" b="1">
                          <a:solidFill>
                            <a:srgbClr val="FFFFFF"/>
                          </a:solidFill>
                          <a:latin typeface="Arial"/>
                          <a:ea typeface="Arial"/>
                          <a:cs typeface="Arial"/>
                        </a:rPr>
                        <a:t>Difficulty</a:t>
                      </a:r>
                    </a:p>
                  </a:txBody>
                  <a:tcPr marL="91440" marR="91440" marT="45720" marB="45720">
                    <a:solidFill>
                      <a:srgbClr val="142E3E"/>
                    </a:solidFill>
                  </a:tcPr>
                </a:tc>
                <a:tc>
                  <a:txBody>
                    <a:bodyPr/>
                    <a:lstStyle/>
                    <a:p>
                      <a:r>
                        <a:rPr sz="1800" b="1">
                          <a:solidFill>
                            <a:srgbClr val="FFFFFF"/>
                          </a:solidFill>
                          <a:latin typeface="Arial"/>
                          <a:ea typeface="Arial"/>
                          <a:cs typeface="Arial"/>
                        </a:rPr>
                        <a:t>What changed</a:t>
                      </a:r>
                    </a:p>
                  </a:txBody>
                  <a:tcPr marL="91440" marR="91440" marT="45720" marB="45720">
                    <a:solidFill>
                      <a:srgbClr val="142E3E"/>
                    </a:solidFill>
                  </a:tcPr>
                </a:tc>
              </a:tr>
              <a:tr h="687705">
                <a:tc>
                  <a:txBody>
                    <a:bodyPr/>
                    <a:lstStyle/>
                    <a:p>
                      <a:r>
                        <a:rPr sz="1800" b="0">
                          <a:solidFill>
                            <a:srgbClr val="142E3E"/>
                          </a:solidFill>
                          <a:latin typeface="Arial"/>
                          <a:ea typeface="Arial"/>
                          <a:cs typeface="Arial"/>
                        </a:rPr>
                        <a:t>Deleted cores prevented later comparisons</a:t>
                      </a:r>
                    </a:p>
                  </a:txBody>
                  <a:tcPr marL="91440" marR="91440" marT="45720" marB="45720">
                    <a:solidFill>
                      <a:srgbClr val="FFFFFF"/>
                    </a:solidFill>
                  </a:tcPr>
                </a:tc>
                <a:tc>
                  <a:txBody>
                    <a:bodyPr/>
                    <a:lstStyle/>
                    <a:p>
                      <a:r>
                        <a:rPr sz="1800" b="0">
                          <a:solidFill>
                            <a:srgbClr val="142E3E"/>
                          </a:solidFill>
                          <a:latin typeface="Arial"/>
                          <a:ea typeface="Arial"/>
                          <a:cs typeface="Arial"/>
                        </a:rPr>
                        <a:t>Retain study inputs for replay and new methods</a:t>
                      </a:r>
                    </a:p>
                  </a:txBody>
                  <a:tcPr marL="91440" marR="91440" marT="45720" marB="45720">
                    <a:solidFill>
                      <a:srgbClr val="FFFFFF"/>
                    </a:solidFill>
                  </a:tcPr>
                </a:tc>
              </a:tr>
              <a:tr h="687705">
                <a:tc>
                  <a:txBody>
                    <a:bodyPr/>
                    <a:lstStyle/>
                    <a:p>
                      <a:r>
                        <a:rPr sz="1800" b="0">
                          <a:solidFill>
                            <a:srgbClr val="142E3E"/>
                          </a:solidFill>
                          <a:latin typeface="Arial"/>
                          <a:ea typeface="Arial"/>
                          <a:cs typeface="Arial"/>
                        </a:rPr>
                        <a:t>Large sparse images complicated storage</a:t>
                      </a:r>
                    </a:p>
                  </a:txBody>
                  <a:tcPr marL="91440" marR="91440" marT="45720" marB="45720">
                    <a:solidFill>
                      <a:srgbClr val="E1EFEC"/>
                    </a:solidFill>
                  </a:tcPr>
                </a:tc>
                <a:tc>
                  <a:txBody>
                    <a:bodyPr/>
                    <a:lstStyle/>
                    <a:p>
                      <a:r>
                        <a:rPr sz="1800" b="0">
                          <a:solidFill>
                            <a:srgbClr val="142E3E"/>
                          </a:solidFill>
                          <a:latin typeface="Arial"/>
                          <a:ea typeface="Arial"/>
                          <a:cs typeface="Arial"/>
                        </a:rPr>
                        <a:t>Measure allocated size and preserve sparse copies</a:t>
                      </a:r>
                    </a:p>
                  </a:txBody>
                  <a:tcPr marL="91440" marR="91440" marT="45720" marB="45720">
                    <a:solidFill>
                      <a:srgbClr val="E1EFEC"/>
                    </a:solidFill>
                  </a:tcPr>
                </a:tc>
              </a:tr>
              <a:tr h="687705">
                <a:tc>
                  <a:txBody>
                    <a:bodyPr/>
                    <a:lstStyle/>
                    <a:p>
                      <a:r>
                        <a:rPr sz="1800" b="0">
                          <a:solidFill>
                            <a:srgbClr val="142E3E"/>
                          </a:solidFill>
                          <a:latin typeface="Arial"/>
                          <a:ea typeface="Arial"/>
                          <a:cs typeface="Arial"/>
                        </a:rPr>
                        <a:t>Permissions and partial runs stopped execution</a:t>
                      </a:r>
                    </a:p>
                  </a:txBody>
                  <a:tcPr marL="91440" marR="91440" marT="45720" marB="45720">
                    <a:solidFill>
                      <a:srgbClr val="FFFFFF"/>
                    </a:solidFill>
                  </a:tcPr>
                </a:tc>
                <a:tc>
                  <a:txBody>
                    <a:bodyPr/>
                    <a:lstStyle/>
                    <a:p>
                      <a:r>
                        <a:rPr sz="1800" b="0">
                          <a:solidFill>
                            <a:srgbClr val="142E3E"/>
                          </a:solidFill>
                          <a:latin typeface="Arial"/>
                          <a:ea typeface="Arial"/>
                          <a:cs typeface="Arial"/>
                        </a:rPr>
                        <a:t>Add access probes, run locks and signed failures</a:t>
                      </a:r>
                    </a:p>
                  </a:txBody>
                  <a:tcPr marL="91440" marR="91440" marT="45720" marB="45720">
                    <a:solidFill>
                      <a:srgbClr val="FFFFFF"/>
                    </a:solidFill>
                  </a:tcPr>
                </a:tc>
              </a:tr>
              <a:tr h="687705">
                <a:tc>
                  <a:txBody>
                    <a:bodyPr/>
                    <a:lstStyle/>
                    <a:p>
                      <a:r>
                        <a:rPr sz="1800" b="0">
                          <a:solidFill>
                            <a:srgbClr val="142E3E"/>
                          </a:solidFill>
                          <a:latin typeface="Arial"/>
                          <a:ea typeface="Arial"/>
                          <a:cs typeface="Arial"/>
                        </a:rPr>
                        <a:t>A controller serialization bug broke a pilot</a:t>
                      </a:r>
                    </a:p>
                  </a:txBody>
                  <a:tcPr marL="91440" marR="91440" marT="45720" marB="45720">
                    <a:solidFill>
                      <a:srgbClr val="E1EFEC"/>
                    </a:solidFill>
                  </a:tcPr>
                </a:tc>
                <a:tc>
                  <a:txBody>
                    <a:bodyPr/>
                    <a:lstStyle/>
                    <a:p>
                      <a:r>
                        <a:rPr sz="1800" b="0">
                          <a:solidFill>
                            <a:srgbClr val="142E3E"/>
                          </a:solidFill>
                          <a:latin typeface="Arial"/>
                          <a:ea typeface="Arial"/>
                          <a:cs typeface="Arial"/>
                        </a:rPr>
                        <a:t>Fix the controller and preserve the failed attempt</a:t>
                      </a:r>
                    </a:p>
                  </a:txBody>
                  <a:tcPr marL="91440" marR="91440" marT="45720" marB="45720">
                    <a:solidFill>
                      <a:srgbClr val="E1EFEC"/>
                    </a:solidFill>
                  </a:tcPr>
                </a:tc>
              </a:tr>
            </a:tbl>
          </a:graphicData>
        </a:graphic>
      </p:graphicFrame>
      <p:sp>
        <p:nvSpPr>
          <p:cNvPr id="6" name="">
            <a:extLst xmlns:a="http://schemas.openxmlformats.org/drawingml/2006/main">
              <a:ext uri="{FF2B5EF4-FFF2-40B4-BE49-F238E27FC236}">
                <a16:creationId xmlns:a16="http://schemas.microsoft.com/office/drawing/2014/main" id="{AFDBF7C1-E86D-463D-AD25-9931799CA305}"/>
              </a:ext>
            </a:extLst>
          </p:cNvPr>
          <p:cNvSpPr>
            <a:spLocks xmlns:a="http://schemas.openxmlformats.org/drawingml/2006/main" noGrp="1"/>
          </p:cNvSpPr>
          <p:nvPr/>
        </p:nvSpPr>
        <p:spPr>
          <a:xfrm xmlns:a="http://schemas.openxmlformats.org/drawingml/2006/main">
            <a:off x="609600" y="562927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75B17"/>
                </a:solidFill>
                <a:latin typeface="Arial"/>
                <a:ea typeface="Arial"/>
                <a:cs typeface="Arial"/>
              </a:defRPr>
            </a:pPr>
            <a:r>
              <a:rPr sz="1875" b="1">
                <a:solidFill>
                  <a:srgbClr val="A75B17"/>
                </a:solidFill>
                <a:latin typeface="Arial"/>
                <a:ea typeface="Arial"/>
                <a:cs typeface="Arial"/>
              </a:rPr>
              <a:t>Every correction needs a new test. Failed attempts keep their original outcome.</a:t>
            </a:r>
          </a:p>
        </p:txBody>
      </p:sp>
    </p:spTree>
    <p:extLst>
      <p:ext uri="{BB962C8B-B14F-4D97-AF65-F5344CB8AC3E}">
        <p14:creationId xmlns:p14="http://schemas.microsoft.com/office/powerpoint/2010/main" val="1613719086"/>
      </p:ext>
    </p:extLst>
  </p:cSld>
</p:sld>
</file>

<file path=ppt/slides/slide3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FE44C0-4D7B-4FBD-84D0-C370509DB041}"/>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The five-phase validation roadmap</a:t>
            </a:r>
          </a:p>
        </p:txBody>
      </p:sp>
      <p:sp>
        <p:nvSpPr>
          <p:cNvPr id="2" name="">
            <a:extLst xmlns:a="http://schemas.openxmlformats.org/drawingml/2006/main">
              <a:ext uri="{FF2B5EF4-FFF2-40B4-BE49-F238E27FC236}">
                <a16:creationId xmlns:a16="http://schemas.microsoft.com/office/drawing/2014/main" id="{51F838D3-CB95-4C1D-A82F-71390F9DDFE1}"/>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9F8899FE-BE22-49D4-918F-F35FD44C0DF2}"/>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30</a:t>
            </a:r>
          </a:p>
        </p:txBody>
      </p:sp>
      <p:sp>
        <p:nvSpPr>
          <p:cNvPr id="4" name="">
            <a:extLst xmlns:a="http://schemas.openxmlformats.org/drawingml/2006/main">
              <a:ext uri="{FF2B5EF4-FFF2-40B4-BE49-F238E27FC236}">
                <a16:creationId xmlns:a16="http://schemas.microsoft.com/office/drawing/2014/main" id="{2B15C852-F662-44C9-A6E8-9DD5EB48462B}"/>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Local records reviewed 3 October 2026: validation plan and primary results</a:t>
            </a:r>
          </a:p>
        </p:txBody>
      </p:sp>
      <p:graphicFrame>
        <p:nvGraphicFramePr>
          <p:cNvPr id="10" name=""/>
          <p:cNvGraphicFramePr/>
          <p:nvPr/>
        </p:nvGraphicFramePr>
        <p:xfrm>
          <a:off xmlns:a="http://schemas.openxmlformats.org/drawingml/2006/main" x="609600" y="1895475"/>
          <a:ext xmlns:a="http://schemas.openxmlformats.org/drawingml/2006/main" cx="10972800" cy="3905250"/>
        </p:xfrm>
        <a:graphic xmlns:a="http://schemas.openxmlformats.org/drawingml/2006/main">
          <a:graphicData uri="http://schemas.openxmlformats.org/drawingml/2006/table">
            <a:tbl>
              <a:tblPr/>
              <a:tblGrid>
                <a:gridCol w="2990850"/>
                <a:gridCol w="4876800"/>
                <a:gridCol w="3105150"/>
              </a:tblGrid>
              <a:tr h="650875">
                <a:tc>
                  <a:txBody>
                    <a:bodyPr/>
                    <a:lstStyle/>
                    <a:p>
                      <a:r>
                        <a:rPr sz="1725" b="1">
                          <a:solidFill>
                            <a:srgbClr val="FFFFFF"/>
                          </a:solidFill>
                          <a:latin typeface="Arial"/>
                          <a:ea typeface="Arial"/>
                          <a:cs typeface="Arial"/>
                        </a:rPr>
                        <a:t>Phase</a:t>
                      </a:r>
                    </a:p>
                  </a:txBody>
                  <a:tcPr marL="91440" marR="91440" marT="45720" marB="45720">
                    <a:solidFill>
                      <a:srgbClr val="142E3E"/>
                    </a:solidFill>
                  </a:tcPr>
                </a:tc>
                <a:tc>
                  <a:txBody>
                    <a:bodyPr/>
                    <a:lstStyle/>
                    <a:p>
                      <a:r>
                        <a:rPr sz="1725" b="1">
                          <a:solidFill>
                            <a:srgbClr val="FFFFFF"/>
                          </a:solidFill>
                          <a:latin typeface="Arial"/>
                          <a:ea typeface="Arial"/>
                          <a:cs typeface="Arial"/>
                        </a:rPr>
                        <a:t>Purpose</a:t>
                      </a:r>
                    </a:p>
                  </a:txBody>
                  <a:tcPr marL="91440" marR="91440" marT="45720" marB="45720">
                    <a:solidFill>
                      <a:srgbClr val="142E3E"/>
                    </a:solidFill>
                  </a:tcPr>
                </a:tc>
                <a:tc>
                  <a:txBody>
                    <a:bodyPr/>
                    <a:lstStyle/>
                    <a:p>
                      <a:r>
                        <a:rPr sz="1725" b="1">
                          <a:solidFill>
                            <a:srgbClr val="FFFFFF"/>
                          </a:solidFill>
                          <a:latin typeface="Arial"/>
                          <a:ea typeface="Arial"/>
                          <a:cs typeface="Arial"/>
                        </a:rPr>
                        <a:t>Recorded status</a:t>
                      </a:r>
                    </a:p>
                  </a:txBody>
                  <a:tcPr marL="91440" marR="91440" marT="45720" marB="45720">
                    <a:solidFill>
                      <a:srgbClr val="142E3E"/>
                    </a:solidFill>
                  </a:tcPr>
                </a:tc>
              </a:tr>
              <a:tr h="650875">
                <a:tc>
                  <a:txBody>
                    <a:bodyPr/>
                    <a:lstStyle/>
                    <a:p>
                      <a:r>
                        <a:rPr sz="1725" b="0">
                          <a:solidFill>
                            <a:srgbClr val="142E3E"/>
                          </a:solidFill>
                          <a:latin typeface="Arial"/>
                          <a:ea typeface="Arial"/>
                          <a:cs typeface="Arial"/>
                        </a:rPr>
                        <a:t>1. Isolated replay</a:t>
                      </a:r>
                    </a:p>
                  </a:txBody>
                  <a:tcPr marL="91440" marR="91440" marT="45720" marB="45720">
                    <a:solidFill>
                      <a:srgbClr val="FFFFFF"/>
                    </a:solidFill>
                  </a:tcPr>
                </a:tc>
                <a:tc>
                  <a:txBody>
                    <a:bodyPr/>
                    <a:lstStyle/>
                    <a:p>
                      <a:r>
                        <a:rPr sz="1725" b="0">
                          <a:solidFill>
                            <a:srgbClr val="142E3E"/>
                          </a:solidFill>
                          <a:latin typeface="Arial"/>
                          <a:ea typeface="Arial"/>
                          <a:cs typeface="Arial"/>
                        </a:rPr>
                        <a:t>Check the retained 100 under stronger isolation</a:t>
                      </a:r>
                    </a:p>
                  </a:txBody>
                  <a:tcPr marL="91440" marR="91440" marT="45720" marB="45720">
                    <a:solidFill>
                      <a:srgbClr val="FFFFFF"/>
                    </a:solidFill>
                  </a:tcPr>
                </a:tc>
                <a:tc>
                  <a:txBody>
                    <a:bodyPr/>
                    <a:lstStyle/>
                    <a:p>
                      <a:r>
                        <a:rPr sz="1725" b="0">
                          <a:solidFill>
                            <a:srgbClr val="142E3E"/>
                          </a:solidFill>
                          <a:latin typeface="Arial"/>
                          <a:ea typeface="Arial"/>
                          <a:cs typeface="Arial"/>
                        </a:rPr>
                        <a:t>Complete: 100 matched</a:t>
                      </a:r>
                    </a:p>
                  </a:txBody>
                  <a:tcPr marL="91440" marR="91440" marT="45720" marB="45720">
                    <a:solidFill>
                      <a:srgbClr val="FFFFFF"/>
                    </a:solidFill>
                  </a:tcPr>
                </a:tc>
              </a:tr>
              <a:tr h="650875">
                <a:tc>
                  <a:txBody>
                    <a:bodyPr/>
                    <a:lstStyle/>
                    <a:p>
                      <a:r>
                        <a:rPr sz="1725" b="0">
                          <a:solidFill>
                            <a:srgbClr val="142E3E"/>
                          </a:solidFill>
                          <a:latin typeface="Arial"/>
                          <a:ea typeface="Arial"/>
                          <a:cs typeface="Arial"/>
                        </a:rPr>
                        <a:t>2. Stronger comparison</a:t>
                      </a:r>
                    </a:p>
                  </a:txBody>
                  <a:tcPr marL="91440" marR="91440" marT="45720" marB="45720">
                    <a:solidFill>
                      <a:srgbClr val="E1EFEC"/>
                    </a:solidFill>
                  </a:tcPr>
                </a:tc>
                <a:tc>
                  <a:txBody>
                    <a:bodyPr/>
                    <a:lstStyle/>
                    <a:p>
                      <a:r>
                        <a:rPr sz="1725" b="0">
                          <a:solidFill>
                            <a:srgbClr val="142E3E"/>
                          </a:solidFill>
                          <a:latin typeface="Arial"/>
                          <a:ea typeface="Arial"/>
                          <a:cs typeface="Arial"/>
                        </a:rPr>
                        <a:t>Test methods and resource budgets fairly</a:t>
                      </a:r>
                    </a:p>
                  </a:txBody>
                  <a:tcPr marL="91440" marR="91440" marT="45720" marB="45720">
                    <a:solidFill>
                      <a:srgbClr val="E1EFEC"/>
                    </a:solidFill>
                  </a:tcPr>
                </a:tc>
                <a:tc>
                  <a:txBody>
                    <a:bodyPr/>
                    <a:lstStyle/>
                    <a:p>
                      <a:r>
                        <a:rPr sz="1725" b="0">
                          <a:solidFill>
                            <a:srgbClr val="142E3E"/>
                          </a:solidFill>
                          <a:latin typeface="Arial"/>
                          <a:ea typeface="Arial"/>
                          <a:cs typeface="Arial"/>
                        </a:rPr>
                        <a:t>Primary complete; grid started</a:t>
                      </a:r>
                    </a:p>
                  </a:txBody>
                  <a:tcPr marL="91440" marR="91440" marT="45720" marB="45720">
                    <a:solidFill>
                      <a:srgbClr val="E1EFEC"/>
                    </a:solidFill>
                  </a:tcPr>
                </a:tc>
              </a:tr>
              <a:tr h="650875">
                <a:tc>
                  <a:txBody>
                    <a:bodyPr/>
                    <a:lstStyle/>
                    <a:p>
                      <a:r>
                        <a:rPr sz="1725" b="0">
                          <a:solidFill>
                            <a:srgbClr val="142E3E"/>
                          </a:solidFill>
                          <a:latin typeface="Arial"/>
                          <a:ea typeface="Arial"/>
                          <a:cs typeface="Arial"/>
                        </a:rPr>
                        <a:t>3. New browser builds</a:t>
                      </a:r>
                    </a:p>
                  </a:txBody>
                  <a:tcPr marL="91440" marR="91440" marT="45720" marB="45720">
                    <a:solidFill>
                      <a:srgbClr val="FFFFFF"/>
                    </a:solidFill>
                  </a:tcPr>
                </a:tc>
                <a:tc>
                  <a:txBody>
                    <a:bodyPr/>
                    <a:lstStyle/>
                    <a:p>
                      <a:r>
                        <a:rPr sz="1725" b="0">
                          <a:solidFill>
                            <a:srgbClr val="142E3E"/>
                          </a:solidFill>
                          <a:latin typeface="Arial"/>
                          <a:ea typeface="Arial"/>
                          <a:cs typeface="Arial"/>
                        </a:rPr>
                        <a:t>Test transfer without changing the rules</a:t>
                      </a:r>
                    </a:p>
                  </a:txBody>
                  <a:tcPr marL="91440" marR="91440" marT="45720" marB="45720">
                    <a:solidFill>
                      <a:srgbClr val="FFFFFF"/>
                    </a:solidFill>
                  </a:tcPr>
                </a:tc>
                <a:tc>
                  <a:txBody>
                    <a:bodyPr/>
                    <a:lstStyle/>
                    <a:p>
                      <a:r>
                        <a:rPr sz="1725" b="0">
                          <a:solidFill>
                            <a:srgbClr val="142E3E"/>
                          </a:solidFill>
                          <a:latin typeface="Arial"/>
                          <a:ea typeface="Arial"/>
                          <a:cs typeface="Arial"/>
                        </a:rPr>
                        <a:t>Builds pinned; testing ahead</a:t>
                      </a:r>
                    </a:p>
                  </a:txBody>
                  <a:tcPr marL="91440" marR="91440" marT="45720" marB="45720">
                    <a:solidFill>
                      <a:srgbClr val="FFFFFF"/>
                    </a:solidFill>
                  </a:tcPr>
                </a:tc>
              </a:tr>
              <a:tr h="650875">
                <a:tc>
                  <a:txBody>
                    <a:bodyPr/>
                    <a:lstStyle/>
                    <a:p>
                      <a:r>
                        <a:rPr sz="1725" b="0">
                          <a:solidFill>
                            <a:srgbClr val="142E3E"/>
                          </a:solidFill>
                          <a:latin typeface="Arial"/>
                          <a:ea typeface="Arial"/>
                          <a:cs typeface="Arial"/>
                        </a:rPr>
                        <a:t>4. Fresh confirmation</a:t>
                      </a:r>
                    </a:p>
                  </a:txBody>
                  <a:tcPr marL="91440" marR="91440" marT="45720" marB="45720">
                    <a:solidFill>
                      <a:srgbClr val="E1EFEC"/>
                    </a:solidFill>
                  </a:tcPr>
                </a:tc>
                <a:tc>
                  <a:txBody>
                    <a:bodyPr/>
                    <a:lstStyle/>
                    <a:p>
                      <a:r>
                        <a:rPr sz="1725" b="0">
                          <a:solidFill>
                            <a:srgbClr val="142E3E"/>
                          </a:solidFill>
                          <a:latin typeface="Arial"/>
                          <a:ea typeface="Arial"/>
                          <a:cs typeface="Arial"/>
                        </a:rPr>
                        <a:t>Repeat on newly generated cases</a:t>
                      </a:r>
                    </a:p>
                  </a:txBody>
                  <a:tcPr marL="91440" marR="91440" marT="45720" marB="45720">
                    <a:solidFill>
                      <a:srgbClr val="E1EFEC"/>
                    </a:solidFill>
                  </a:tcPr>
                </a:tc>
                <a:tc>
                  <a:txBody>
                    <a:bodyPr/>
                    <a:lstStyle/>
                    <a:p>
                      <a:r>
                        <a:rPr sz="1725" b="0">
                          <a:solidFill>
                            <a:srgbClr val="142E3E"/>
                          </a:solidFill>
                          <a:latin typeface="Arial"/>
                          <a:ea typeface="Arial"/>
                          <a:cs typeface="Arial"/>
                        </a:rPr>
                        <a:t>Planned: 100 fresh cases</a:t>
                      </a:r>
                    </a:p>
                  </a:txBody>
                  <a:tcPr marL="91440" marR="91440" marT="45720" marB="45720">
                    <a:solidFill>
                      <a:srgbClr val="E1EFEC"/>
                    </a:solidFill>
                  </a:tcPr>
                </a:tc>
              </a:tr>
              <a:tr h="650875">
                <a:tc>
                  <a:txBody>
                    <a:bodyPr/>
                    <a:lstStyle/>
                    <a:p>
                      <a:r>
                        <a:rPr sz="1725" b="0">
                          <a:solidFill>
                            <a:srgbClr val="142E3E"/>
                          </a:solidFill>
                          <a:latin typeface="Arial"/>
                          <a:ea typeface="Arial"/>
                          <a:cs typeface="Arial"/>
                        </a:rPr>
                        <a:t>5. Verification and claims</a:t>
                      </a:r>
                    </a:p>
                  </a:txBody>
                  <a:tcPr marL="91440" marR="91440" marT="45720" marB="45720">
                    <a:solidFill>
                      <a:srgbClr val="FFFFFF"/>
                    </a:solidFill>
                  </a:tcPr>
                </a:tc>
                <a:tc>
                  <a:txBody>
                    <a:bodyPr/>
                    <a:lstStyle/>
                    <a:p>
                      <a:r>
                        <a:rPr sz="1725" b="0">
                          <a:solidFill>
                            <a:srgbClr val="142E3E"/>
                          </a:solidFill>
                          <a:latin typeface="Arial"/>
                          <a:ea typeface="Arial"/>
                          <a:cs typeface="Arial"/>
                        </a:rPr>
                        <a:t>Independent checks and contribution matrix</a:t>
                      </a:r>
                    </a:p>
                  </a:txBody>
                  <a:tcPr marL="91440" marR="91440" marT="45720" marB="45720">
                    <a:solidFill>
                      <a:srgbClr val="FFFFFF"/>
                    </a:solidFill>
                  </a:tcPr>
                </a:tc>
                <a:tc>
                  <a:txBody>
                    <a:bodyPr/>
                    <a:lstStyle/>
                    <a:p>
                      <a:r>
                        <a:rPr sz="1725" b="0">
                          <a:solidFill>
                            <a:srgbClr val="142E3E"/>
                          </a:solidFill>
                          <a:latin typeface="Arial"/>
                          <a:ea typeface="Arial"/>
                          <a:cs typeface="Arial"/>
                        </a:rPr>
                        <a:t>One check passed; more planned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634624074"/>
      </p:ext>
    </p:extLst>
  </p:cSld>
</p:sld>
</file>

<file path=ppt/slides/slide3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A5BE8DC-04C5-44BA-B7C6-44653CD7D7A0}"/>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The question for the new experiment</a:t>
            </a:r>
          </a:p>
        </p:txBody>
      </p:sp>
      <p:sp>
        <p:nvSpPr>
          <p:cNvPr id="2" name="">
            <a:extLst xmlns:a="http://schemas.openxmlformats.org/drawingml/2006/main">
              <a:ext uri="{FF2B5EF4-FFF2-40B4-BE49-F238E27FC236}">
                <a16:creationId xmlns:a16="http://schemas.microsoft.com/office/drawing/2014/main" id="{AE047E24-478B-47D2-9C5A-D980EFF3AC38}"/>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1F34C716-556C-4D0B-9E65-4364954BDCDF}"/>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31</a:t>
            </a:r>
          </a:p>
        </p:txBody>
      </p:sp>
      <p:sp>
        <p:nvSpPr>
          <p:cNvPr id="4" name="">
            <a:extLst xmlns:a="http://schemas.openxmlformats.org/drawingml/2006/main">
              <a:ext uri="{FF2B5EF4-FFF2-40B4-BE49-F238E27FC236}">
                <a16:creationId xmlns:a16="http://schemas.microsoft.com/office/drawing/2014/main" id="{F8114AD3-108F-4E10-B92A-D9126E85B501}"/>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Phase 2: fixed-input comparison and resource sensitivity</a:t>
            </a:r>
          </a:p>
        </p:txBody>
      </p:sp>
      <p:sp>
        <p:nvSpPr>
          <p:cNvPr id="5" name="">
            <a:extLst xmlns:a="http://schemas.openxmlformats.org/drawingml/2006/main">
              <a:ext uri="{FF2B5EF4-FFF2-40B4-BE49-F238E27FC236}">
                <a16:creationId xmlns:a16="http://schemas.microsoft.com/office/drawing/2014/main" id="{4AA027BC-0964-4DF7-BF3D-A8304D117D60}"/>
              </a:ext>
            </a:extLst>
          </p:cNvPr>
          <p:cNvSpPr>
            <a:spLocks xmlns:a="http://schemas.openxmlformats.org/drawingml/2006/main" noGrp="1"/>
          </p:cNvSpPr>
          <p:nvPr/>
        </p:nvSpPr>
        <p:spPr>
          <a:xfrm xmlns:a="http://schemas.openxmlformats.org/drawingml/2006/main">
            <a:off x="609600" y="19526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F79"/>
                </a:solidFill>
                <a:latin typeface="Arial"/>
                <a:ea typeface="Arial"/>
                <a:cs typeface="Arial"/>
              </a:defRPr>
            </a:pPr>
            <a:r>
              <a:rPr sz="2925" b="1">
                <a:solidFill>
                  <a:srgbClr val="007F79"/>
                </a:solidFill>
                <a:latin typeface="Arial"/>
                <a:ea typeface="Arial"/>
                <a:cs typeface="Arial"/>
              </a:rPr>
              <a:t>Which discovery method finds the right TLS 1.3 secrets</a:t>
            </a:r>
          </a:p>
          <a:p xmlns:a="http://schemas.openxmlformats.org/drawingml/2006/main">
            <a:pPr>
              <a:defRPr sz="2925" b="1">
                <a:solidFill>
                  <a:srgbClr val="007F79"/>
                </a:solidFill>
                <a:latin typeface="Arial"/>
                <a:ea typeface="Arial"/>
                <a:cs typeface="Arial"/>
              </a:defRPr>
            </a:pPr>
            <a:r>
              <a:rPr sz="2925" b="1">
                <a:solidFill>
                  <a:srgbClr val="007F79"/>
                </a:solidFill>
                <a:latin typeface="Arial"/>
                <a:ea typeface="Arial"/>
                <a:cs typeface="Arial"/>
              </a:rPr>
              <a:t>most reliably within a declared search budget?</a:t>
            </a:r>
          </a:p>
        </p:txBody>
      </p:sp>
      <p:sp>
        <p:nvSpPr>
          <p:cNvPr id="6" name="">
            <a:extLst xmlns:a="http://schemas.openxmlformats.org/drawingml/2006/main">
              <a:ext uri="{FF2B5EF4-FFF2-40B4-BE49-F238E27FC236}">
                <a16:creationId xmlns:a16="http://schemas.microsoft.com/office/drawing/2014/main" id="{69ACE39F-29CA-48CC-98ED-C7441911840E}"/>
              </a:ext>
            </a:extLst>
          </p:cNvPr>
          <p:cNvSpPr>
            <a:spLocks xmlns:a="http://schemas.openxmlformats.org/drawingml/2006/main" noGrp="1"/>
          </p:cNvSpPr>
          <p:nvPr/>
        </p:nvSpPr>
        <p:spPr>
          <a:xfrm xmlns:a="http://schemas.openxmlformats.org/drawingml/2006/main">
            <a:off x="609600" y="3705225"/>
            <a:ext cx="337820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7" name="">
            <a:extLst xmlns:a="http://schemas.openxmlformats.org/drawingml/2006/main">
              <a:ext uri="{FF2B5EF4-FFF2-40B4-BE49-F238E27FC236}">
                <a16:creationId xmlns:a16="http://schemas.microsoft.com/office/drawing/2014/main" id="{1D981381-5EA6-499E-B341-BB41EF7026C7}"/>
              </a:ext>
            </a:extLst>
          </p:cNvPr>
          <p:cNvSpPr>
            <a:spLocks xmlns:a="http://schemas.openxmlformats.org/drawingml/2006/main" noGrp="1"/>
          </p:cNvSpPr>
          <p:nvPr/>
        </p:nvSpPr>
        <p:spPr>
          <a:xfrm xmlns:a="http://schemas.openxmlformats.org/drawingml/2006/main">
            <a:off x="762000" y="3895725"/>
            <a:ext cx="3073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Change the</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discovery method</a:t>
            </a:r>
          </a:p>
        </p:txBody>
      </p:sp>
      <p:sp>
        <p:nvSpPr>
          <p:cNvPr id="8" name="">
            <a:extLst xmlns:a="http://schemas.openxmlformats.org/drawingml/2006/main">
              <a:ext uri="{FF2B5EF4-FFF2-40B4-BE49-F238E27FC236}">
                <a16:creationId xmlns:a16="http://schemas.microsoft.com/office/drawing/2014/main" id="{9DF5A183-90E3-4C35-932E-A876E7DE2A8E}"/>
              </a:ext>
            </a:extLst>
          </p:cNvPr>
          <p:cNvSpPr>
            <a:spLocks xmlns:a="http://schemas.openxmlformats.org/drawingml/2006/main" noGrp="1"/>
          </p:cNvSpPr>
          <p:nvPr/>
        </p:nvSpPr>
        <p:spPr>
          <a:xfrm xmlns:a="http://schemas.openxmlformats.org/drawingml/2006/main">
            <a:off x="4406900" y="3705225"/>
            <a:ext cx="337820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9" name="">
            <a:extLst xmlns:a="http://schemas.openxmlformats.org/drawingml/2006/main">
              <a:ext uri="{FF2B5EF4-FFF2-40B4-BE49-F238E27FC236}">
                <a16:creationId xmlns:a16="http://schemas.microsoft.com/office/drawing/2014/main" id="{9F0DADD4-3B9B-4AF2-8422-896540B72C4B}"/>
              </a:ext>
            </a:extLst>
          </p:cNvPr>
          <p:cNvSpPr>
            <a:spLocks xmlns:a="http://schemas.openxmlformats.org/drawingml/2006/main" noGrp="1"/>
          </p:cNvSpPr>
          <p:nvPr/>
        </p:nvSpPr>
        <p:spPr>
          <a:xfrm xmlns:a="http://schemas.openxmlformats.org/drawingml/2006/main">
            <a:off x="4559300" y="3895725"/>
            <a:ext cx="3073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Keep input +</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authentication fixed</a:t>
            </a:r>
          </a:p>
        </p:txBody>
      </p:sp>
      <p:sp>
        <p:nvSpPr>
          <p:cNvPr id="10" name="">
            <a:extLst xmlns:a="http://schemas.openxmlformats.org/drawingml/2006/main">
              <a:ext uri="{FF2B5EF4-FFF2-40B4-BE49-F238E27FC236}">
                <a16:creationId xmlns:a16="http://schemas.microsoft.com/office/drawing/2014/main" id="{19DAE5CE-B61B-4D3E-A485-29B33B1F4AAC}"/>
              </a:ext>
            </a:extLst>
          </p:cNvPr>
          <p:cNvSpPr>
            <a:spLocks xmlns:a="http://schemas.openxmlformats.org/drawingml/2006/main" noGrp="1"/>
          </p:cNvSpPr>
          <p:nvPr/>
        </p:nvSpPr>
        <p:spPr>
          <a:xfrm xmlns:a="http://schemas.openxmlformats.org/drawingml/2006/main">
            <a:off x="4025900" y="4210050"/>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1D168D8-DBD7-472C-8A09-63F9C1193F29}"/>
              </a:ext>
            </a:extLst>
          </p:cNvPr>
          <p:cNvSpPr>
            <a:spLocks xmlns:a="http://schemas.openxmlformats.org/drawingml/2006/main" noGrp="1"/>
          </p:cNvSpPr>
          <p:nvPr/>
        </p:nvSpPr>
        <p:spPr>
          <a:xfrm xmlns:a="http://schemas.openxmlformats.org/drawingml/2006/main">
            <a:off x="4187825" y="414337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DBDC1B8-9060-4ACC-8C39-925B80BF9C99}"/>
              </a:ext>
            </a:extLst>
          </p:cNvPr>
          <p:cNvSpPr>
            <a:spLocks xmlns:a="http://schemas.openxmlformats.org/drawingml/2006/main" noGrp="1"/>
          </p:cNvSpPr>
          <p:nvPr/>
        </p:nvSpPr>
        <p:spPr>
          <a:xfrm xmlns:a="http://schemas.openxmlformats.org/drawingml/2006/main">
            <a:off x="8204200" y="3705225"/>
            <a:ext cx="337820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3" name="">
            <a:extLst xmlns:a="http://schemas.openxmlformats.org/drawingml/2006/main">
              <a:ext uri="{FF2B5EF4-FFF2-40B4-BE49-F238E27FC236}">
                <a16:creationId xmlns:a16="http://schemas.microsoft.com/office/drawing/2014/main" id="{3EE92B68-67B0-4E29-B297-4C915D3E3AAD}"/>
              </a:ext>
            </a:extLst>
          </p:cNvPr>
          <p:cNvSpPr>
            <a:spLocks xmlns:a="http://schemas.openxmlformats.org/drawingml/2006/main" noGrp="1"/>
          </p:cNvSpPr>
          <p:nvPr/>
        </p:nvSpPr>
        <p:spPr>
          <a:xfrm xmlns:a="http://schemas.openxmlformats.org/drawingml/2006/main">
            <a:off x="8356600" y="3895725"/>
            <a:ext cx="3073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Measure recovery,</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errors and cost</a:t>
            </a:r>
          </a:p>
        </p:txBody>
      </p:sp>
      <p:sp>
        <p:nvSpPr>
          <p:cNvPr id="14" name="">
            <a:extLst xmlns:a="http://schemas.openxmlformats.org/drawingml/2006/main">
              <a:ext uri="{FF2B5EF4-FFF2-40B4-BE49-F238E27FC236}">
                <a16:creationId xmlns:a16="http://schemas.microsoft.com/office/drawing/2014/main" id="{75D39403-207E-4E67-8B91-A0025068C973}"/>
              </a:ext>
            </a:extLst>
          </p:cNvPr>
          <p:cNvSpPr>
            <a:spLocks xmlns:a="http://schemas.openxmlformats.org/drawingml/2006/main" noGrp="1"/>
          </p:cNvSpPr>
          <p:nvPr/>
        </p:nvSpPr>
        <p:spPr>
          <a:xfrm xmlns:a="http://schemas.openxmlformats.org/drawingml/2006/main">
            <a:off x="7823200" y="4210050"/>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46153BD-AF3D-4F7E-A023-59E999207394}"/>
              </a:ext>
            </a:extLst>
          </p:cNvPr>
          <p:cNvSpPr>
            <a:spLocks xmlns:a="http://schemas.openxmlformats.org/drawingml/2006/main" noGrp="1"/>
          </p:cNvSpPr>
          <p:nvPr/>
        </p:nvSpPr>
        <p:spPr>
          <a:xfrm xmlns:a="http://schemas.openxmlformats.org/drawingml/2006/main">
            <a:off x="7985125" y="414337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DFC5B83-430E-4C03-BE4C-C8BCF956D25A}"/>
              </a:ext>
            </a:extLst>
          </p:cNvPr>
          <p:cNvSpPr>
            <a:spLocks xmlns:a="http://schemas.openxmlformats.org/drawingml/2006/main" noGrp="1"/>
          </p:cNvSpPr>
          <p:nvPr/>
        </p:nvSpPr>
        <p:spPr>
          <a:xfrm xmlns:a="http://schemas.openxmlformats.org/drawingml/2006/main">
            <a:off x="609600" y="5305425"/>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3E"/>
                </a:solidFill>
                <a:latin typeface="Arial"/>
                <a:ea typeface="Arial"/>
                <a:cs typeface="Arial"/>
              </a:defRPr>
            </a:pPr>
            <a:r>
              <a:rPr sz="2175" b="0">
                <a:solidFill>
                  <a:srgbClr val="142E3E"/>
                </a:solidFill>
                <a:latin typeface="Arial"/>
                <a:ea typeface="Arial"/>
                <a:cs typeface="Arial"/>
              </a:rPr>
              <a:t>Does entropy help beyond structure? Does more time or a larger candidate cap change the result?</a:t>
            </a:r>
          </a:p>
        </p:txBody>
      </p:sp>
    </p:spTree>
    <p:extLst>
      <p:ext uri="{BB962C8B-B14F-4D97-AF65-F5344CB8AC3E}">
        <p14:creationId xmlns:p14="http://schemas.microsoft.com/office/powerpoint/2010/main" val="142923283"/>
      </p:ext>
    </p:extLst>
  </p:cSld>
</p:sld>
</file>

<file path=ppt/slides/slide3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7A1703-1C96-412E-A645-4A2AFF4AFD62}"/>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Phase 2 tests what causes the advantage</a:t>
            </a:r>
          </a:p>
        </p:txBody>
      </p:sp>
      <p:sp>
        <p:nvSpPr>
          <p:cNvPr id="2" name="">
            <a:extLst xmlns:a="http://schemas.openxmlformats.org/drawingml/2006/main">
              <a:ext uri="{FF2B5EF4-FFF2-40B4-BE49-F238E27FC236}">
                <a16:creationId xmlns:a16="http://schemas.microsoft.com/office/drawing/2014/main" id="{E40A987E-73E3-40EA-88F4-928158EBC93C}"/>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124148A1-A0F0-473E-9028-E65378947439}"/>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32</a:t>
            </a:r>
          </a:p>
        </p:txBody>
      </p:sp>
      <p:sp>
        <p:nvSpPr>
          <p:cNvPr id="4" name="">
            <a:extLst xmlns:a="http://schemas.openxmlformats.org/drawingml/2006/main">
              <a:ext uri="{FF2B5EF4-FFF2-40B4-BE49-F238E27FC236}">
                <a16:creationId xmlns:a16="http://schemas.microsoft.com/office/drawing/2014/main" id="{37A74EE8-0C3E-48E8-9980-E54D1EDF2E9F}"/>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Sources: prior-work matrix and sensitivity manifest</a:t>
            </a:r>
          </a:p>
        </p:txBody>
      </p:sp>
      <p:sp>
        <p:nvSpPr>
          <p:cNvPr id="5" name="">
            <a:extLst xmlns:a="http://schemas.openxmlformats.org/drawingml/2006/main">
              <a:ext uri="{FF2B5EF4-FFF2-40B4-BE49-F238E27FC236}">
                <a16:creationId xmlns:a16="http://schemas.microsoft.com/office/drawing/2014/main" id="{771C8FB5-5346-4C47-9E33-4E7DC380BFE6}"/>
              </a:ext>
            </a:extLst>
          </p:cNvPr>
          <p:cNvSpPr>
            <a:spLocks xmlns:a="http://schemas.openxmlformats.org/drawingml/2006/main" noGrp="1"/>
          </p:cNvSpPr>
          <p:nvPr/>
        </p:nvSpPr>
        <p:spPr>
          <a:xfrm xmlns:a="http://schemas.openxmlformats.org/drawingml/2006/main">
            <a:off x="609600" y="199072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79"/>
                </a:solidFill>
                <a:latin typeface="Arial"/>
                <a:ea typeface="Arial"/>
                <a:cs typeface="Arial"/>
              </a:defRPr>
            </a:pPr>
            <a:r>
              <a:rPr sz="2325" b="1">
                <a:solidFill>
                  <a:srgbClr val="007F79"/>
                </a:solidFill>
                <a:latin typeface="Arial"/>
                <a:ea typeface="Arial"/>
                <a:cs typeface="Arial"/>
              </a:rPr>
              <a:t>Five arms share the same traffic authentication and scoring.</a:t>
            </a:r>
          </a:p>
        </p:txBody>
      </p:sp>
      <p:sp>
        <p:nvSpPr>
          <p:cNvPr id="6" name="">
            <a:extLst xmlns:a="http://schemas.openxmlformats.org/drawingml/2006/main">
              <a:ext uri="{FF2B5EF4-FFF2-40B4-BE49-F238E27FC236}">
                <a16:creationId xmlns:a16="http://schemas.microsoft.com/office/drawing/2014/main" id="{CBA0D908-1788-4679-93EB-D7543BF8FC63}"/>
              </a:ext>
            </a:extLst>
          </p:cNvPr>
          <p:cNvSpPr>
            <a:spLocks xmlns:a="http://schemas.openxmlformats.org/drawingml/2006/main" noGrp="1"/>
          </p:cNvSpPr>
          <p:nvPr/>
        </p:nvSpPr>
        <p:spPr>
          <a:xfrm xmlns:a="http://schemas.openxmlformats.org/drawingml/2006/main">
            <a:off x="609600" y="2924175"/>
            <a:ext cx="671512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3E"/>
                </a:solidFill>
                <a:latin typeface="Arial"/>
                <a:ea typeface="Arial"/>
                <a:cs typeface="Arial"/>
              </a:defRPr>
            </a:pPr>
            <a:r>
              <a:rPr sz="2175" b="0">
                <a:solidFill>
                  <a:srgbClr val="142E3E"/>
                </a:solidFill>
                <a:latin typeface="Arial"/>
                <a:ea typeface="Arial"/>
                <a:cs typeface="Arial"/>
              </a:rPr>
              <a:t>Historical structure + entropy filter</a:t>
            </a:r>
          </a:p>
          <a:p xmlns:a="http://schemas.openxmlformats.org/drawingml/2006/main">
            <a:pPr>
              <a:defRPr sz="2175" b="0">
                <a:solidFill>
                  <a:srgbClr val="142E3E"/>
                </a:solidFill>
                <a:latin typeface="Arial"/>
                <a:ea typeface="Arial"/>
                <a:cs typeface="Arial"/>
              </a:defRPr>
            </a:pPr>
            <a:r>
              <a:rPr sz="2175" b="0">
                <a:solidFill>
                  <a:srgbClr val="142E3E"/>
                </a:solidFill>
                <a:latin typeface="Arial"/>
                <a:ea typeface="Arial"/>
                <a:cs typeface="Arial"/>
              </a:rPr>
              <a:t>Structure only</a:t>
            </a:r>
          </a:p>
          <a:p xmlns:a="http://schemas.openxmlformats.org/drawingml/2006/main">
            <a:pPr>
              <a:defRPr sz="2175" b="0">
                <a:solidFill>
                  <a:srgbClr val="142E3E"/>
                </a:solidFill>
                <a:latin typeface="Arial"/>
                <a:ea typeface="Arial"/>
                <a:cs typeface="Arial"/>
              </a:defRPr>
            </a:pPr>
            <a:r>
              <a:rPr sz="2175" b="0">
                <a:solidFill>
                  <a:srgbClr val="142E3E"/>
                </a:solidFill>
                <a:latin typeface="Arial"/>
                <a:ea typeface="Arial"/>
                <a:cs typeface="Arial"/>
              </a:rPr>
              <a:t>Adapted Anderson NSS adjacency</a:t>
            </a:r>
          </a:p>
          <a:p xmlns:a="http://schemas.openxmlformats.org/drawingml/2006/main">
            <a:pPr>
              <a:defRPr sz="2175" b="0">
                <a:solidFill>
                  <a:srgbClr val="142E3E"/>
                </a:solidFill>
                <a:latin typeface="Arial"/>
                <a:ea typeface="Arial"/>
                <a:cs typeface="Arial"/>
              </a:defRPr>
            </a:pPr>
            <a:r>
              <a:rPr sz="2175" b="0">
                <a:solidFill>
                  <a:srgbClr val="142E3E"/>
                </a:solidFill>
                <a:latin typeface="Arial"/>
                <a:ea typeface="Arial"/>
                <a:cs typeface="Arial"/>
              </a:rPr>
              <a:t>Adapted X-Ray full-snapshot entropy baseline</a:t>
            </a:r>
          </a:p>
          <a:p xmlns:a="http://schemas.openxmlformats.org/drawingml/2006/main">
            <a:pPr>
              <a:defRPr sz="2175" b="0">
                <a:solidFill>
                  <a:srgbClr val="142E3E"/>
                </a:solidFill>
                <a:latin typeface="Arial"/>
                <a:ea typeface="Arial"/>
                <a:cs typeface="Arial"/>
              </a:defRPr>
            </a:pPr>
            <a:r>
              <a:rPr sz="2175" b="0">
                <a:solidFill>
                  <a:srgbClr val="142E3E"/>
                </a:solidFill>
                <a:latin typeface="Arial"/>
                <a:ea typeface="Arial"/>
                <a:cs typeface="Arial"/>
              </a:rPr>
              <a:t>Historical entropy-only search</a:t>
            </a:r>
          </a:p>
        </p:txBody>
      </p:sp>
      <p:sp>
        <p:nvSpPr>
          <p:cNvPr id="7" name="">
            <a:extLst xmlns:a="http://schemas.openxmlformats.org/drawingml/2006/main">
              <a:ext uri="{FF2B5EF4-FFF2-40B4-BE49-F238E27FC236}">
                <a16:creationId xmlns:a16="http://schemas.microsoft.com/office/drawing/2014/main" id="{C188FE85-0AAF-4343-BB9A-5F71E510E55F}"/>
              </a:ext>
            </a:extLst>
          </p:cNvPr>
          <p:cNvSpPr>
            <a:spLocks xmlns:a="http://schemas.openxmlformats.org/drawingml/2006/main" noGrp="1"/>
          </p:cNvSpPr>
          <p:nvPr/>
        </p:nvSpPr>
        <p:spPr>
          <a:xfrm xmlns:a="http://schemas.openxmlformats.org/drawingml/2006/main">
            <a:off x="7972425" y="2924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2E3E"/>
                </a:solidFill>
                <a:latin typeface="Arial"/>
                <a:ea typeface="Arial"/>
                <a:cs typeface="Arial"/>
              </a:defRPr>
            </a:pPr>
            <a:r>
              <a:rPr sz="2325" b="1">
                <a:solidFill>
                  <a:srgbClr val="142E3E"/>
                </a:solidFill>
                <a:latin typeface="Arial"/>
                <a:ea typeface="Arial"/>
                <a:cs typeface="Arial"/>
              </a:rPr>
              <a:t>Budget grid</a:t>
            </a:r>
          </a:p>
        </p:txBody>
      </p:sp>
      <p:sp>
        <p:nvSpPr>
          <p:cNvPr id="8" name="">
            <a:extLst xmlns:a="http://schemas.openxmlformats.org/drawingml/2006/main">
              <a:ext uri="{FF2B5EF4-FFF2-40B4-BE49-F238E27FC236}">
                <a16:creationId xmlns:a16="http://schemas.microsoft.com/office/drawing/2014/main" id="{856494D0-3E4F-42D0-A230-360C1B0F67B2}"/>
              </a:ext>
            </a:extLst>
          </p:cNvPr>
          <p:cNvSpPr>
            <a:spLocks xmlns:a="http://schemas.openxmlformats.org/drawingml/2006/main" noGrp="1"/>
          </p:cNvSpPr>
          <p:nvPr/>
        </p:nvSpPr>
        <p:spPr>
          <a:xfrm xmlns:a="http://schemas.openxmlformats.org/drawingml/2006/main">
            <a:off x="7972425" y="3571875"/>
            <a:ext cx="340995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E3E"/>
                </a:solidFill>
                <a:latin typeface="Arial"/>
                <a:ea typeface="Arial"/>
                <a:cs typeface="Arial"/>
              </a:defRPr>
            </a:pPr>
            <a:r>
              <a:rPr sz="1875" b="0">
                <a:solidFill>
                  <a:srgbClr val="142E3E"/>
                </a:solidFill>
                <a:latin typeface="Arial"/>
                <a:ea typeface="Arial"/>
                <a:cs typeface="Arial"/>
              </a:rPr>
              <a:t>30 / 180 / 600 seconds</a:t>
            </a:r>
          </a:p>
          <a:p xmlns:a="http://schemas.openxmlformats.org/drawingml/2006/main">
            <a:pPr>
              <a:defRPr sz="1875" b="0">
                <a:solidFill>
                  <a:srgbClr val="142E3E"/>
                </a:solidFill>
                <a:latin typeface="Arial"/>
                <a:ea typeface="Arial"/>
                <a:cs typeface="Arial"/>
              </a:defRPr>
            </a:pPr>
            <a:r>
              <a:rPr sz="1875" b="0">
                <a:solidFill>
                  <a:srgbClr val="142E3E"/>
                </a:solidFill>
                <a:latin typeface="Arial"/>
                <a:ea typeface="Arial"/>
                <a:cs typeface="Arial"/>
              </a:rPr>
              <a:t>25 / 100 / 1000 candidates</a:t>
            </a:r>
          </a:p>
          <a:p xmlns:a="http://schemas.openxmlformats.org/drawingml/2006/main">
            <a:r>
              <a:t/>
            </a:r>
          </a:p>
          <a:p xmlns:a="http://schemas.openxmlformats.org/drawingml/2006/main">
            <a:pPr>
              <a:defRPr sz="1875" b="0">
                <a:solidFill>
                  <a:srgbClr val="142E3E"/>
                </a:solidFill>
                <a:latin typeface="Arial"/>
                <a:ea typeface="Arial"/>
                <a:cs typeface="Arial"/>
              </a:defRPr>
            </a:pPr>
            <a:r>
              <a:rPr sz="1875" b="0">
                <a:solidFill>
                  <a:srgbClr val="142E3E"/>
                </a:solidFill>
                <a:latin typeface="Arial"/>
                <a:ea typeface="Arial"/>
                <a:cs typeface="Arial"/>
              </a:rPr>
              <a:t>20 preselected cases</a:t>
            </a:r>
          </a:p>
          <a:p xmlns:a="http://schemas.openxmlformats.org/drawingml/2006/main">
            <a:pPr>
              <a:defRPr sz="1875" b="0">
                <a:solidFill>
                  <a:srgbClr val="142E3E"/>
                </a:solidFill>
                <a:latin typeface="Arial"/>
                <a:ea typeface="Arial"/>
                <a:cs typeface="Arial"/>
              </a:defRPr>
            </a:pPr>
            <a:r>
              <a:rPr sz="1875" b="0">
                <a:solidFill>
                  <a:srgbClr val="142E3E"/>
                </a:solidFill>
                <a:latin typeface="Arial"/>
                <a:ea typeface="Arial"/>
                <a:cs typeface="Arial"/>
              </a:rPr>
              <a:t>9 settings per case</a:t>
            </a:r>
          </a:p>
        </p:txBody>
      </p:sp>
    </p:spTree>
    <p:extLst>
      <p:ext uri="{BB962C8B-B14F-4D97-AF65-F5344CB8AC3E}">
        <p14:creationId xmlns:p14="http://schemas.microsoft.com/office/powerpoint/2010/main" val="732580484"/>
      </p:ext>
    </p:extLst>
  </p:cSld>
</p:sld>
</file>

<file path=ppt/slides/slide3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DE28AEF-A0D4-483D-990A-B806ACED0C80}"/>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1. Historical structure + entropy filter</a:t>
            </a:r>
          </a:p>
        </p:txBody>
      </p:sp>
      <p:sp>
        <p:nvSpPr>
          <p:cNvPr id="2" name="">
            <a:extLst xmlns:a="http://schemas.openxmlformats.org/drawingml/2006/main">
              <a:ext uri="{FF2B5EF4-FFF2-40B4-BE49-F238E27FC236}">
                <a16:creationId xmlns:a16="http://schemas.microsoft.com/office/drawing/2014/main" id="{1D345AAE-088C-451D-BE2C-1B69DF8ABFB0}"/>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46E0FDFD-40C3-4029-8A5D-06A457157AF5}"/>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33</a:t>
            </a:r>
          </a:p>
        </p:txBody>
      </p:sp>
      <p:sp>
        <p:nvSpPr>
          <p:cNvPr id="4" name="">
            <a:extLst xmlns:a="http://schemas.openxmlformats.org/drawingml/2006/main">
              <a:ext uri="{FF2B5EF4-FFF2-40B4-BE49-F238E27FC236}">
                <a16:creationId xmlns:a16="http://schemas.microsoft.com/office/drawing/2014/main" id="{653A2097-43F2-462D-A060-D717A9326E7F}"/>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Sources: rank_tls13.py; blind_tls13/recover.py</a:t>
            </a:r>
          </a:p>
        </p:txBody>
      </p:sp>
      <p:sp>
        <p:nvSpPr>
          <p:cNvPr id="5" name="">
            <a:extLst xmlns:a="http://schemas.openxmlformats.org/drawingml/2006/main">
              <a:ext uri="{FF2B5EF4-FFF2-40B4-BE49-F238E27FC236}">
                <a16:creationId xmlns:a16="http://schemas.microsoft.com/office/drawing/2014/main" id="{7695BA71-77D2-47C8-93A0-9C55AFF4C99B}"/>
              </a:ext>
            </a:extLst>
          </p:cNvPr>
          <p:cNvSpPr>
            <a:spLocks xmlns:a="http://schemas.openxmlformats.org/drawingml/2006/main" noGrp="1"/>
          </p:cNvSpPr>
          <p:nvPr/>
        </p:nvSpPr>
        <p:spPr>
          <a:xfrm xmlns:a="http://schemas.openxmlformats.org/drawingml/2006/main">
            <a:off x="609600" y="1838325"/>
            <a:ext cx="10734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9"/>
                </a:solidFill>
                <a:latin typeface="Arial"/>
                <a:ea typeface="Arial"/>
                <a:cs typeface="Arial"/>
              </a:defRPr>
            </a:pPr>
            <a:r>
              <a:rPr sz="2250" b="1">
                <a:solidFill>
                  <a:srgbClr val="007F79"/>
                </a:solidFill>
                <a:latin typeface="Arial"/>
                <a:ea typeface="Arial"/>
                <a:cs typeface="Arial"/>
              </a:rPr>
              <a:t>Use NSS’s layout first, then score the bytes it points to.</a:t>
            </a:r>
          </a:p>
        </p:txBody>
      </p:sp>
      <p:sp>
        <p:nvSpPr>
          <p:cNvPr id="6" name="">
            <a:extLst xmlns:a="http://schemas.openxmlformats.org/drawingml/2006/main">
              <a:ext uri="{FF2B5EF4-FFF2-40B4-BE49-F238E27FC236}">
                <a16:creationId xmlns:a16="http://schemas.microsoft.com/office/drawing/2014/main" id="{1A0F1C12-3572-477D-80CC-DD8E5C130A5E}"/>
              </a:ext>
            </a:extLst>
          </p:cNvPr>
          <p:cNvSpPr>
            <a:spLocks xmlns:a="http://schemas.openxmlformats.org/drawingml/2006/main" noGrp="1"/>
          </p:cNvSpPr>
          <p:nvPr/>
        </p:nvSpPr>
        <p:spPr>
          <a:xfrm xmlns:a="http://schemas.openxmlformats.org/drawingml/2006/main">
            <a:off x="609600" y="2762250"/>
            <a:ext cx="1762125" cy="7524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7" name="">
            <a:extLst xmlns:a="http://schemas.openxmlformats.org/drawingml/2006/main">
              <a:ext uri="{FF2B5EF4-FFF2-40B4-BE49-F238E27FC236}">
                <a16:creationId xmlns:a16="http://schemas.microsoft.com/office/drawing/2014/main" id="{B00F064D-A64D-4475-9B22-7D44F51DA882}"/>
              </a:ext>
            </a:extLst>
          </p:cNvPr>
          <p:cNvSpPr>
            <a:spLocks xmlns:a="http://schemas.openxmlformats.org/drawingml/2006/main" noGrp="1"/>
          </p:cNvSpPr>
          <p:nvPr/>
        </p:nvSpPr>
        <p:spPr>
          <a:xfrm xmlns:a="http://schemas.openxmlformats.org/drawingml/2006/main">
            <a:off x="723900" y="2876550"/>
            <a:ext cx="15335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Type 0x11</a:t>
            </a:r>
          </a:p>
        </p:txBody>
      </p:sp>
      <p:sp>
        <p:nvSpPr>
          <p:cNvPr id="8" name="">
            <a:extLst xmlns:a="http://schemas.openxmlformats.org/drawingml/2006/main">
              <a:ext uri="{FF2B5EF4-FFF2-40B4-BE49-F238E27FC236}">
                <a16:creationId xmlns:a16="http://schemas.microsoft.com/office/drawing/2014/main" id="{93F239E4-9477-4A5C-B65B-2FC12567D364}"/>
              </a:ext>
            </a:extLst>
          </p:cNvPr>
          <p:cNvSpPr>
            <a:spLocks xmlns:a="http://schemas.openxmlformats.org/drawingml/2006/main" noGrp="1"/>
          </p:cNvSpPr>
          <p:nvPr/>
        </p:nvSpPr>
        <p:spPr>
          <a:xfrm xmlns:a="http://schemas.openxmlformats.org/drawingml/2006/main">
            <a:off x="2381250" y="2762250"/>
            <a:ext cx="1695450" cy="7524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9" name="">
            <a:extLst xmlns:a="http://schemas.openxmlformats.org/drawingml/2006/main">
              <a:ext uri="{FF2B5EF4-FFF2-40B4-BE49-F238E27FC236}">
                <a16:creationId xmlns:a16="http://schemas.microsoft.com/office/drawing/2014/main" id="{2267C099-9D16-4191-BCAC-CF8A206FC370}"/>
              </a:ext>
            </a:extLst>
          </p:cNvPr>
          <p:cNvSpPr>
            <a:spLocks xmlns:a="http://schemas.openxmlformats.org/drawingml/2006/main" noGrp="1"/>
          </p:cNvSpPr>
          <p:nvPr/>
        </p:nvSpPr>
        <p:spPr>
          <a:xfrm xmlns:a="http://schemas.openxmlformats.org/drawingml/2006/main">
            <a:off x="2495550" y="2876550"/>
            <a:ext cx="1466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Pointer</a:t>
            </a:r>
          </a:p>
        </p:txBody>
      </p:sp>
      <p:sp>
        <p:nvSpPr>
          <p:cNvPr id="10" name="">
            <a:extLst xmlns:a="http://schemas.openxmlformats.org/drawingml/2006/main">
              <a:ext uri="{FF2B5EF4-FFF2-40B4-BE49-F238E27FC236}">
                <a16:creationId xmlns:a16="http://schemas.microsoft.com/office/drawing/2014/main" id="{32A8CCDE-3086-41B6-8D54-F72934F382C9}"/>
              </a:ext>
            </a:extLst>
          </p:cNvPr>
          <p:cNvSpPr>
            <a:spLocks xmlns:a="http://schemas.openxmlformats.org/drawingml/2006/main" noGrp="1"/>
          </p:cNvSpPr>
          <p:nvPr/>
        </p:nvSpPr>
        <p:spPr>
          <a:xfrm xmlns:a="http://schemas.openxmlformats.org/drawingml/2006/main">
            <a:off x="4086225" y="2762250"/>
            <a:ext cx="1857375" cy="7524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1" name="">
            <a:extLst xmlns:a="http://schemas.openxmlformats.org/drawingml/2006/main">
              <a:ext uri="{FF2B5EF4-FFF2-40B4-BE49-F238E27FC236}">
                <a16:creationId xmlns:a16="http://schemas.microsoft.com/office/drawing/2014/main" id="{51B53899-1D8B-41BB-BFDF-BA65E004BDE4}"/>
              </a:ext>
            </a:extLst>
          </p:cNvPr>
          <p:cNvSpPr>
            <a:spLocks xmlns:a="http://schemas.openxmlformats.org/drawingml/2006/main" noGrp="1"/>
          </p:cNvSpPr>
          <p:nvPr/>
        </p:nvSpPr>
        <p:spPr>
          <a:xfrm xmlns:a="http://schemas.openxmlformats.org/drawingml/2006/main">
            <a:off x="4200525" y="2876550"/>
            <a:ext cx="16287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Length 48</a:t>
            </a:r>
          </a:p>
        </p:txBody>
      </p:sp>
      <p:sp>
        <p:nvSpPr>
          <p:cNvPr id="12" name="">
            <a:extLst xmlns:a="http://schemas.openxmlformats.org/drawingml/2006/main">
              <a:ext uri="{FF2B5EF4-FFF2-40B4-BE49-F238E27FC236}">
                <a16:creationId xmlns:a16="http://schemas.microsoft.com/office/drawing/2014/main" id="{DAA3E7EC-0EEB-4C7E-9128-6453AB6410A7}"/>
              </a:ext>
            </a:extLst>
          </p:cNvPr>
          <p:cNvSpPr>
            <a:spLocks xmlns:a="http://schemas.openxmlformats.org/drawingml/2006/main" noGrp="1"/>
          </p:cNvSpPr>
          <p:nvPr/>
        </p:nvSpPr>
        <p:spPr>
          <a:xfrm xmlns:a="http://schemas.openxmlformats.org/drawingml/2006/main">
            <a:off x="3190875" y="3533775"/>
            <a:ext cx="38100" cy="4953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D85D7AB-745E-4A92-AFAC-95646F170EB4}"/>
              </a:ext>
            </a:extLst>
          </p:cNvPr>
          <p:cNvSpPr>
            <a:spLocks xmlns:a="http://schemas.openxmlformats.org/drawingml/2006/main" noGrp="1"/>
          </p:cNvSpPr>
          <p:nvPr/>
        </p:nvSpPr>
        <p:spPr>
          <a:xfrm xmlns:a="http://schemas.openxmlformats.org/drawingml/2006/main">
            <a:off x="3124200" y="3857625"/>
            <a:ext cx="171450" cy="190500"/>
          </a:xfrm>
          <a:prstGeom xmlns:a="http://schemas.openxmlformats.org/drawingml/2006/main" prst="downArrow">
            <a:avLst/>
          </a:prstGeom>
          <a:solidFill xmlns:a="http://schemas.openxmlformats.org/drawingml/2006/main">
            <a:srgbClr val="007F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B7C0FEA-7C80-4CC3-AE38-5FF11DF71D8A}"/>
              </a:ext>
            </a:extLst>
          </p:cNvPr>
          <p:cNvSpPr>
            <a:spLocks xmlns:a="http://schemas.openxmlformats.org/drawingml/2006/main" noGrp="1"/>
          </p:cNvSpPr>
          <p:nvPr/>
        </p:nvSpPr>
        <p:spPr>
          <a:xfrm xmlns:a="http://schemas.openxmlformats.org/drawingml/2006/main">
            <a:off x="609600" y="4057650"/>
            <a:ext cx="5334000" cy="7905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5" name="">
            <a:extLst xmlns:a="http://schemas.openxmlformats.org/drawingml/2006/main">
              <a:ext uri="{FF2B5EF4-FFF2-40B4-BE49-F238E27FC236}">
                <a16:creationId xmlns:a16="http://schemas.microsoft.com/office/drawing/2014/main" id="{7806E896-3C37-48AF-B1A6-08A5CBD79CCA}"/>
              </a:ext>
            </a:extLst>
          </p:cNvPr>
          <p:cNvSpPr>
            <a:spLocks xmlns:a="http://schemas.openxmlformats.org/drawingml/2006/main" noGrp="1"/>
          </p:cNvSpPr>
          <p:nvPr/>
        </p:nvSpPr>
        <p:spPr>
          <a:xfrm xmlns:a="http://schemas.openxmlformats.org/drawingml/2006/main">
            <a:off x="723900" y="4171950"/>
            <a:ext cx="5105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48-byte value in saved memory</a:t>
            </a:r>
          </a:p>
        </p:txBody>
      </p:sp>
      <p:sp>
        <p:nvSpPr>
          <p:cNvPr id="16" name="">
            <a:extLst xmlns:a="http://schemas.openxmlformats.org/drawingml/2006/main">
              <a:ext uri="{FF2B5EF4-FFF2-40B4-BE49-F238E27FC236}">
                <a16:creationId xmlns:a16="http://schemas.microsoft.com/office/drawing/2014/main" id="{D9F4FE79-692C-4AB1-BAFE-C9B28D3368FE}"/>
              </a:ext>
            </a:extLst>
          </p:cNvPr>
          <p:cNvSpPr>
            <a:spLocks xmlns:a="http://schemas.openxmlformats.org/drawingml/2006/main" noGrp="1"/>
          </p:cNvSpPr>
          <p:nvPr/>
        </p:nvSpPr>
        <p:spPr>
          <a:xfrm xmlns:a="http://schemas.openxmlformats.org/drawingml/2006/main">
            <a:off x="609600" y="2409825"/>
            <a:ext cx="53435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572"/>
                </a:solidFill>
                <a:latin typeface="Arial"/>
                <a:ea typeface="Arial"/>
                <a:cs typeface="Arial"/>
              </a:defRPr>
            </a:pPr>
            <a:r>
              <a:rPr sz="1575" b="0">
                <a:solidFill>
                  <a:srgbClr val="536572"/>
                </a:solidFill>
                <a:latin typeface="Arial"/>
                <a:ea typeface="Arial"/>
                <a:cs typeface="Arial"/>
              </a:rPr>
              <a:t>Illustration of a CKA_VALUE attribute</a:t>
            </a:r>
          </a:p>
        </p:txBody>
      </p:sp>
      <p:sp>
        <p:nvSpPr>
          <p:cNvPr id="17" name="">
            <a:extLst xmlns:a="http://schemas.openxmlformats.org/drawingml/2006/main">
              <a:ext uri="{FF2B5EF4-FFF2-40B4-BE49-F238E27FC236}">
                <a16:creationId xmlns:a16="http://schemas.microsoft.com/office/drawing/2014/main" id="{F77B338A-B52B-4327-87C5-155BD9C63C38}"/>
              </a:ext>
            </a:extLst>
          </p:cNvPr>
          <p:cNvSpPr>
            <a:spLocks xmlns:a="http://schemas.openxmlformats.org/drawingml/2006/main" noGrp="1"/>
          </p:cNvSpPr>
          <p:nvPr/>
        </p:nvSpPr>
        <p:spPr>
          <a:xfrm xmlns:a="http://schemas.openxmlformats.org/drawingml/2006/main">
            <a:off x="5981700" y="4419600"/>
            <a:ext cx="857250"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B0200AB-A935-4839-8A16-8D1E2C49BC4E}"/>
              </a:ext>
            </a:extLst>
          </p:cNvPr>
          <p:cNvSpPr>
            <a:spLocks xmlns:a="http://schemas.openxmlformats.org/drawingml/2006/main" noGrp="1"/>
          </p:cNvSpPr>
          <p:nvPr/>
        </p:nvSpPr>
        <p:spPr>
          <a:xfrm xmlns:a="http://schemas.openxmlformats.org/drawingml/2006/main">
            <a:off x="6667500" y="435292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E6AAE09-EE12-48CD-BF18-F36B9DB4DA19}"/>
              </a:ext>
            </a:extLst>
          </p:cNvPr>
          <p:cNvSpPr>
            <a:spLocks xmlns:a="http://schemas.openxmlformats.org/drawingml/2006/main" noGrp="1"/>
          </p:cNvSpPr>
          <p:nvPr/>
        </p:nvSpPr>
        <p:spPr>
          <a:xfrm xmlns:a="http://schemas.openxmlformats.org/drawingml/2006/main">
            <a:off x="6943725" y="3962400"/>
            <a:ext cx="4638675" cy="9715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20" name="">
            <a:extLst xmlns:a="http://schemas.openxmlformats.org/drawingml/2006/main">
              <a:ext uri="{FF2B5EF4-FFF2-40B4-BE49-F238E27FC236}">
                <a16:creationId xmlns:a16="http://schemas.microsoft.com/office/drawing/2014/main" id="{ACA7E8B8-6447-4D47-9F7B-59E45068B5D9}"/>
              </a:ext>
            </a:extLst>
          </p:cNvPr>
          <p:cNvSpPr>
            <a:spLocks xmlns:a="http://schemas.openxmlformats.org/drawingml/2006/main" noGrp="1"/>
          </p:cNvSpPr>
          <p:nvPr/>
        </p:nvSpPr>
        <p:spPr>
          <a:xfrm xmlns:a="http://schemas.openxmlformats.org/drawingml/2006/main">
            <a:off x="7058025" y="4076700"/>
            <a:ext cx="44100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Randomness filter</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Entropy ≥ 4 bits/byte</a:t>
            </a:r>
          </a:p>
        </p:txBody>
      </p:sp>
      <p:sp>
        <p:nvSpPr>
          <p:cNvPr id="21" name="">
            <a:extLst xmlns:a="http://schemas.openxmlformats.org/drawingml/2006/main">
              <a:ext uri="{FF2B5EF4-FFF2-40B4-BE49-F238E27FC236}">
                <a16:creationId xmlns:a16="http://schemas.microsoft.com/office/drawing/2014/main" id="{1808D4A1-E10A-4696-A45E-1BAAEFA25A0A}"/>
              </a:ext>
            </a:extLst>
          </p:cNvPr>
          <p:cNvSpPr>
            <a:spLocks xmlns:a="http://schemas.openxmlformats.org/drawingml/2006/main" noGrp="1"/>
          </p:cNvSpPr>
          <p:nvPr/>
        </p:nvSpPr>
        <p:spPr>
          <a:xfrm xmlns:a="http://schemas.openxmlformats.org/drawingml/2006/main">
            <a:off x="6934200" y="5076825"/>
            <a:ext cx="4648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2"/>
                </a:solidFill>
                <a:latin typeface="Arial"/>
                <a:ea typeface="Arial"/>
                <a:cs typeface="Arial"/>
              </a:defRPr>
            </a:pPr>
            <a:r>
              <a:rPr sz="1875" b="0">
                <a:solidFill>
                  <a:srgbClr val="536572"/>
                </a:solidFill>
                <a:latin typeface="Arial"/>
                <a:ea typeface="Arial"/>
                <a:cs typeface="Arial"/>
              </a:rPr>
              <a:t>Deduplicate, rank and retain up to K.</a:t>
            </a:r>
          </a:p>
          <a:p xmlns:a="http://schemas.openxmlformats.org/drawingml/2006/main">
            <a:pPr>
              <a:defRPr sz="1875" b="0">
                <a:solidFill>
                  <a:srgbClr val="536572"/>
                </a:solidFill>
                <a:latin typeface="Arial"/>
                <a:ea typeface="Arial"/>
                <a:cs typeface="Arial"/>
              </a:defRPr>
            </a:pPr>
            <a:r>
              <a:rPr sz="1875" b="0">
                <a:solidFill>
                  <a:srgbClr val="536572"/>
                </a:solidFill>
                <a:latin typeface="Arial"/>
                <a:ea typeface="Arial"/>
                <a:cs typeface="Arial"/>
              </a:rPr>
              <a:t>Fewer zero bytes improve the rank.</a:t>
            </a:r>
          </a:p>
        </p:txBody>
      </p:sp>
      <p:sp>
        <p:nvSpPr>
          <p:cNvPr id="22" name="">
            <a:extLst xmlns:a="http://schemas.openxmlformats.org/drawingml/2006/main">
              <a:ext uri="{FF2B5EF4-FFF2-40B4-BE49-F238E27FC236}">
                <a16:creationId xmlns:a16="http://schemas.microsoft.com/office/drawing/2014/main" id="{B560F106-A970-4D86-8A45-4AD1AFFD97CF}"/>
              </a:ext>
            </a:extLst>
          </p:cNvPr>
          <p:cNvSpPr>
            <a:spLocks xmlns:a="http://schemas.openxmlformats.org/drawingml/2006/main" noGrp="1"/>
          </p:cNvSpPr>
          <p:nvPr/>
        </p:nvSpPr>
        <p:spPr>
          <a:xfrm xmlns:a="http://schemas.openxmlformats.org/drawingml/2006/main">
            <a:off x="609600" y="584835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Tests whether NSS structure plus the historical filter gives useful candidates.</a:t>
            </a:r>
          </a:p>
        </p:txBody>
      </p:sp>
    </p:spTree>
    <p:extLst>
      <p:ext uri="{BB962C8B-B14F-4D97-AF65-F5344CB8AC3E}">
        <p14:creationId xmlns:p14="http://schemas.microsoft.com/office/powerpoint/2010/main" val="686022167"/>
      </p:ext>
    </p:extLst>
  </p:cSld>
</p:sld>
</file>

<file path=ppt/slides/slide3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43AAB79-A490-4EDB-A1D7-58F6145AD005}"/>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2. Structure only</a:t>
            </a:r>
          </a:p>
        </p:txBody>
      </p:sp>
      <p:sp>
        <p:nvSpPr>
          <p:cNvPr id="2" name="">
            <a:extLst xmlns:a="http://schemas.openxmlformats.org/drawingml/2006/main">
              <a:ext uri="{FF2B5EF4-FFF2-40B4-BE49-F238E27FC236}">
                <a16:creationId xmlns:a16="http://schemas.microsoft.com/office/drawing/2014/main" id="{333BDF25-F2A4-4097-95E2-ABEA43983B84}"/>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948AEB4E-F9B7-4B4A-A609-6CF8D3E8D433}"/>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34</a:t>
            </a:r>
          </a:p>
        </p:txBody>
      </p:sp>
      <p:sp>
        <p:nvSpPr>
          <p:cNvPr id="4" name="">
            <a:extLst xmlns:a="http://schemas.openxmlformats.org/drawingml/2006/main">
              <a:ext uri="{FF2B5EF4-FFF2-40B4-BE49-F238E27FC236}">
                <a16:creationId xmlns:a16="http://schemas.microsoft.com/office/drawing/2014/main" id="{7B9E2033-2B58-4C79-AB21-4393906C4CE4}"/>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 comparators.py, structure_only()</a:t>
            </a:r>
          </a:p>
        </p:txBody>
      </p:sp>
      <p:sp>
        <p:nvSpPr>
          <p:cNvPr id="5" name="">
            <a:extLst xmlns:a="http://schemas.openxmlformats.org/drawingml/2006/main">
              <a:ext uri="{FF2B5EF4-FFF2-40B4-BE49-F238E27FC236}">
                <a16:creationId xmlns:a16="http://schemas.microsoft.com/office/drawing/2014/main" id="{96E845A3-A439-463B-A978-F438896B55B6}"/>
              </a:ext>
            </a:extLst>
          </p:cNvPr>
          <p:cNvSpPr>
            <a:spLocks xmlns:a="http://schemas.openxmlformats.org/drawingml/2006/main" noGrp="1"/>
          </p:cNvSpPr>
          <p:nvPr/>
        </p:nvSpPr>
        <p:spPr>
          <a:xfrm xmlns:a="http://schemas.openxmlformats.org/drawingml/2006/main">
            <a:off x="609600" y="18383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9"/>
                </a:solidFill>
                <a:latin typeface="Arial"/>
                <a:ea typeface="Arial"/>
                <a:cs typeface="Arial"/>
              </a:defRPr>
            </a:pPr>
            <a:r>
              <a:rPr sz="2250" b="1">
                <a:solidFill>
                  <a:srgbClr val="007F79"/>
                </a:solidFill>
                <a:latin typeface="Arial"/>
                <a:ea typeface="Arial"/>
                <a:cs typeface="Arial"/>
              </a:rPr>
              <a:t>Keep the same structural clue. Remove the randomness gate.</a:t>
            </a:r>
          </a:p>
        </p:txBody>
      </p:sp>
      <p:sp>
        <p:nvSpPr>
          <p:cNvPr id="6" name="">
            <a:extLst xmlns:a="http://schemas.openxmlformats.org/drawingml/2006/main">
              <a:ext uri="{FF2B5EF4-FFF2-40B4-BE49-F238E27FC236}">
                <a16:creationId xmlns:a16="http://schemas.microsoft.com/office/drawing/2014/main" id="{D9F5A708-6789-418E-BEEA-13564F500918}"/>
              </a:ext>
            </a:extLst>
          </p:cNvPr>
          <p:cNvSpPr>
            <a:spLocks xmlns:a="http://schemas.openxmlformats.org/drawingml/2006/main" noGrp="1"/>
          </p:cNvSpPr>
          <p:nvPr/>
        </p:nvSpPr>
        <p:spPr>
          <a:xfrm xmlns:a="http://schemas.openxmlformats.org/drawingml/2006/main">
            <a:off x="609600" y="2714625"/>
            <a:ext cx="1762125" cy="7524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7" name="">
            <a:extLst xmlns:a="http://schemas.openxmlformats.org/drawingml/2006/main">
              <a:ext uri="{FF2B5EF4-FFF2-40B4-BE49-F238E27FC236}">
                <a16:creationId xmlns:a16="http://schemas.microsoft.com/office/drawing/2014/main" id="{618E377D-EFE1-4B33-811E-7D727AF31D02}"/>
              </a:ext>
            </a:extLst>
          </p:cNvPr>
          <p:cNvSpPr>
            <a:spLocks xmlns:a="http://schemas.openxmlformats.org/drawingml/2006/main" noGrp="1"/>
          </p:cNvSpPr>
          <p:nvPr/>
        </p:nvSpPr>
        <p:spPr>
          <a:xfrm xmlns:a="http://schemas.openxmlformats.org/drawingml/2006/main">
            <a:off x="723900" y="2828925"/>
            <a:ext cx="15335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Type 0x11</a:t>
            </a:r>
          </a:p>
        </p:txBody>
      </p:sp>
      <p:sp>
        <p:nvSpPr>
          <p:cNvPr id="8" name="">
            <a:extLst xmlns:a="http://schemas.openxmlformats.org/drawingml/2006/main">
              <a:ext uri="{FF2B5EF4-FFF2-40B4-BE49-F238E27FC236}">
                <a16:creationId xmlns:a16="http://schemas.microsoft.com/office/drawing/2014/main" id="{39369055-B476-4125-9878-1379C18C43AC}"/>
              </a:ext>
            </a:extLst>
          </p:cNvPr>
          <p:cNvSpPr>
            <a:spLocks xmlns:a="http://schemas.openxmlformats.org/drawingml/2006/main" noGrp="1"/>
          </p:cNvSpPr>
          <p:nvPr/>
        </p:nvSpPr>
        <p:spPr>
          <a:xfrm xmlns:a="http://schemas.openxmlformats.org/drawingml/2006/main">
            <a:off x="2381250" y="2714625"/>
            <a:ext cx="1695450" cy="7524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9" name="">
            <a:extLst xmlns:a="http://schemas.openxmlformats.org/drawingml/2006/main">
              <a:ext uri="{FF2B5EF4-FFF2-40B4-BE49-F238E27FC236}">
                <a16:creationId xmlns:a16="http://schemas.microsoft.com/office/drawing/2014/main" id="{BE5E0E5A-AE50-4C33-BA83-3A53981FD2FB}"/>
              </a:ext>
            </a:extLst>
          </p:cNvPr>
          <p:cNvSpPr>
            <a:spLocks xmlns:a="http://schemas.openxmlformats.org/drawingml/2006/main" noGrp="1"/>
          </p:cNvSpPr>
          <p:nvPr/>
        </p:nvSpPr>
        <p:spPr>
          <a:xfrm xmlns:a="http://schemas.openxmlformats.org/drawingml/2006/main">
            <a:off x="2495550" y="2828925"/>
            <a:ext cx="1466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Pointer</a:t>
            </a:r>
          </a:p>
        </p:txBody>
      </p:sp>
      <p:sp>
        <p:nvSpPr>
          <p:cNvPr id="10" name="">
            <a:extLst xmlns:a="http://schemas.openxmlformats.org/drawingml/2006/main">
              <a:ext uri="{FF2B5EF4-FFF2-40B4-BE49-F238E27FC236}">
                <a16:creationId xmlns:a16="http://schemas.microsoft.com/office/drawing/2014/main" id="{83C806F1-F87E-4FF2-B79F-F8918F730C78}"/>
              </a:ext>
            </a:extLst>
          </p:cNvPr>
          <p:cNvSpPr>
            <a:spLocks xmlns:a="http://schemas.openxmlformats.org/drawingml/2006/main" noGrp="1"/>
          </p:cNvSpPr>
          <p:nvPr/>
        </p:nvSpPr>
        <p:spPr>
          <a:xfrm xmlns:a="http://schemas.openxmlformats.org/drawingml/2006/main">
            <a:off x="4086225" y="2714625"/>
            <a:ext cx="1857375" cy="7524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1" name="">
            <a:extLst xmlns:a="http://schemas.openxmlformats.org/drawingml/2006/main">
              <a:ext uri="{FF2B5EF4-FFF2-40B4-BE49-F238E27FC236}">
                <a16:creationId xmlns:a16="http://schemas.microsoft.com/office/drawing/2014/main" id="{C72E99CC-F58E-4A12-971A-BD2612D080C7}"/>
              </a:ext>
            </a:extLst>
          </p:cNvPr>
          <p:cNvSpPr>
            <a:spLocks xmlns:a="http://schemas.openxmlformats.org/drawingml/2006/main" noGrp="1"/>
          </p:cNvSpPr>
          <p:nvPr/>
        </p:nvSpPr>
        <p:spPr>
          <a:xfrm xmlns:a="http://schemas.openxmlformats.org/drawingml/2006/main">
            <a:off x="4200525" y="2828925"/>
            <a:ext cx="16287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Length 48</a:t>
            </a:r>
          </a:p>
        </p:txBody>
      </p:sp>
      <p:sp>
        <p:nvSpPr>
          <p:cNvPr id="12" name="">
            <a:extLst xmlns:a="http://schemas.openxmlformats.org/drawingml/2006/main">
              <a:ext uri="{FF2B5EF4-FFF2-40B4-BE49-F238E27FC236}">
                <a16:creationId xmlns:a16="http://schemas.microsoft.com/office/drawing/2014/main" id="{57AFEEC1-0F18-4058-B798-2E34C376A3B2}"/>
              </a:ext>
            </a:extLst>
          </p:cNvPr>
          <p:cNvSpPr>
            <a:spLocks xmlns:a="http://schemas.openxmlformats.org/drawingml/2006/main" noGrp="1"/>
          </p:cNvSpPr>
          <p:nvPr/>
        </p:nvSpPr>
        <p:spPr>
          <a:xfrm xmlns:a="http://schemas.openxmlformats.org/drawingml/2006/main">
            <a:off x="3190875" y="3486150"/>
            <a:ext cx="38100" cy="55245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E4D493D-62BB-47A1-A9A5-A420E40BA903}"/>
              </a:ext>
            </a:extLst>
          </p:cNvPr>
          <p:cNvSpPr>
            <a:spLocks xmlns:a="http://schemas.openxmlformats.org/drawingml/2006/main" noGrp="1"/>
          </p:cNvSpPr>
          <p:nvPr/>
        </p:nvSpPr>
        <p:spPr>
          <a:xfrm xmlns:a="http://schemas.openxmlformats.org/drawingml/2006/main">
            <a:off x="3124200" y="3867150"/>
            <a:ext cx="171450" cy="190500"/>
          </a:xfrm>
          <a:prstGeom xmlns:a="http://schemas.openxmlformats.org/drawingml/2006/main" prst="downArrow">
            <a:avLst/>
          </a:prstGeom>
          <a:solidFill xmlns:a="http://schemas.openxmlformats.org/drawingml/2006/main">
            <a:srgbClr val="007F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8156EC4-C24A-44E4-8FB1-3370988CF6B6}"/>
              </a:ext>
            </a:extLst>
          </p:cNvPr>
          <p:cNvSpPr>
            <a:spLocks xmlns:a="http://schemas.openxmlformats.org/drawingml/2006/main" noGrp="1"/>
          </p:cNvSpPr>
          <p:nvPr/>
        </p:nvSpPr>
        <p:spPr>
          <a:xfrm xmlns:a="http://schemas.openxmlformats.org/drawingml/2006/main">
            <a:off x="609600" y="4067175"/>
            <a:ext cx="5334000" cy="7905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5" name="">
            <a:extLst xmlns:a="http://schemas.openxmlformats.org/drawingml/2006/main">
              <a:ext uri="{FF2B5EF4-FFF2-40B4-BE49-F238E27FC236}">
                <a16:creationId xmlns:a16="http://schemas.microsoft.com/office/drawing/2014/main" id="{14162E3B-9DE2-4FEA-A199-AC4805EA336C}"/>
              </a:ext>
            </a:extLst>
          </p:cNvPr>
          <p:cNvSpPr>
            <a:spLocks xmlns:a="http://schemas.openxmlformats.org/drawingml/2006/main" noGrp="1"/>
          </p:cNvSpPr>
          <p:nvPr/>
        </p:nvSpPr>
        <p:spPr>
          <a:xfrm xmlns:a="http://schemas.openxmlformats.org/drawingml/2006/main">
            <a:off x="723900" y="4181475"/>
            <a:ext cx="5105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Readable 48-byte value</a:t>
            </a:r>
          </a:p>
        </p:txBody>
      </p:sp>
      <p:sp>
        <p:nvSpPr>
          <p:cNvPr id="16" name="">
            <a:extLst xmlns:a="http://schemas.openxmlformats.org/drawingml/2006/main">
              <a:ext uri="{FF2B5EF4-FFF2-40B4-BE49-F238E27FC236}">
                <a16:creationId xmlns:a16="http://schemas.microsoft.com/office/drawing/2014/main" id="{8180E898-5B44-42B4-915A-7581D644CDF9}"/>
              </a:ext>
            </a:extLst>
          </p:cNvPr>
          <p:cNvSpPr>
            <a:spLocks xmlns:a="http://schemas.openxmlformats.org/drawingml/2006/main" noGrp="1"/>
          </p:cNvSpPr>
          <p:nvPr/>
        </p:nvSpPr>
        <p:spPr>
          <a:xfrm xmlns:a="http://schemas.openxmlformats.org/drawingml/2006/main">
            <a:off x="5981700" y="4448175"/>
            <a:ext cx="857250"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E4EFDD3-01F9-4438-BC48-8116C059C13B}"/>
              </a:ext>
            </a:extLst>
          </p:cNvPr>
          <p:cNvSpPr>
            <a:spLocks xmlns:a="http://schemas.openxmlformats.org/drawingml/2006/main" noGrp="1"/>
          </p:cNvSpPr>
          <p:nvPr/>
        </p:nvSpPr>
        <p:spPr>
          <a:xfrm xmlns:a="http://schemas.openxmlformats.org/drawingml/2006/main">
            <a:off x="6667500" y="438150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434817C-158F-4270-B403-AC4ECA2E91C9}"/>
              </a:ext>
            </a:extLst>
          </p:cNvPr>
          <p:cNvSpPr>
            <a:spLocks xmlns:a="http://schemas.openxmlformats.org/drawingml/2006/main" noGrp="1"/>
          </p:cNvSpPr>
          <p:nvPr/>
        </p:nvSpPr>
        <p:spPr>
          <a:xfrm xmlns:a="http://schemas.openxmlformats.org/drawingml/2006/main">
            <a:off x="6943725" y="3962400"/>
            <a:ext cx="4638675" cy="9715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9" name="">
            <a:extLst xmlns:a="http://schemas.openxmlformats.org/drawingml/2006/main">
              <a:ext uri="{FF2B5EF4-FFF2-40B4-BE49-F238E27FC236}">
                <a16:creationId xmlns:a16="http://schemas.microsoft.com/office/drawing/2014/main" id="{588CECFF-EE85-49FF-8B4B-FF99398BA4B1}"/>
              </a:ext>
            </a:extLst>
          </p:cNvPr>
          <p:cNvSpPr>
            <a:spLocks xmlns:a="http://schemas.openxmlformats.org/drawingml/2006/main" noGrp="1"/>
          </p:cNvSpPr>
          <p:nvPr/>
        </p:nvSpPr>
        <p:spPr>
          <a:xfrm xmlns:a="http://schemas.openxmlformats.org/drawingml/2006/main">
            <a:off x="7058025" y="4076700"/>
            <a:ext cx="44100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Keep the value</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No entropy threshold</a:t>
            </a:r>
          </a:p>
        </p:txBody>
      </p:sp>
      <p:sp>
        <p:nvSpPr>
          <p:cNvPr id="20" name="">
            <a:extLst xmlns:a="http://schemas.openxmlformats.org/drawingml/2006/main">
              <a:ext uri="{FF2B5EF4-FFF2-40B4-BE49-F238E27FC236}">
                <a16:creationId xmlns:a16="http://schemas.microsoft.com/office/drawing/2014/main" id="{225F5386-A88A-40D0-8F59-9DEF98BD5C2C}"/>
              </a:ext>
            </a:extLst>
          </p:cNvPr>
          <p:cNvSpPr>
            <a:spLocks xmlns:a="http://schemas.openxmlformats.org/drawingml/2006/main" noGrp="1"/>
          </p:cNvSpPr>
          <p:nvPr/>
        </p:nvSpPr>
        <p:spPr>
          <a:xfrm xmlns:a="http://schemas.openxmlformats.org/drawingml/2006/main">
            <a:off x="6934200" y="5076825"/>
            <a:ext cx="4648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2"/>
                </a:solidFill>
                <a:latin typeface="Arial"/>
                <a:ea typeface="Arial"/>
                <a:cs typeface="Arial"/>
              </a:defRPr>
            </a:pPr>
            <a:r>
              <a:rPr sz="1875" b="0">
                <a:solidFill>
                  <a:srgbClr val="536572"/>
                </a:solidFill>
                <a:latin typeface="Arial"/>
                <a:ea typeface="Arial"/>
                <a:cs typeface="Arial"/>
              </a:rPr>
              <a:t>Keep distinct values until K is reached</a:t>
            </a:r>
          </a:p>
          <a:p xmlns:a="http://schemas.openxmlformats.org/drawingml/2006/main">
            <a:pPr>
              <a:defRPr sz="1875" b="0">
                <a:solidFill>
                  <a:srgbClr val="536572"/>
                </a:solidFill>
                <a:latin typeface="Arial"/>
                <a:ea typeface="Arial"/>
                <a:cs typeface="Arial"/>
              </a:defRPr>
            </a:pPr>
            <a:r>
              <a:rPr sz="1875" b="0">
                <a:solidFill>
                  <a:srgbClr val="536572"/>
                </a:solidFill>
                <a:latin typeface="Arial"/>
                <a:ea typeface="Arial"/>
                <a:cs typeface="Arial"/>
              </a:rPr>
              <a:t>or the search deadline expires.</a:t>
            </a:r>
          </a:p>
        </p:txBody>
      </p:sp>
      <p:sp>
        <p:nvSpPr>
          <p:cNvPr id="21" name="">
            <a:extLst xmlns:a="http://schemas.openxmlformats.org/drawingml/2006/main">
              <a:ext uri="{FF2B5EF4-FFF2-40B4-BE49-F238E27FC236}">
                <a16:creationId xmlns:a16="http://schemas.microsoft.com/office/drawing/2014/main" id="{A80B2AC8-FDD4-419D-91A2-1D616F8D7EC7}"/>
              </a:ext>
            </a:extLst>
          </p:cNvPr>
          <p:cNvSpPr>
            <a:spLocks xmlns:a="http://schemas.openxmlformats.org/drawingml/2006/main" noGrp="1"/>
          </p:cNvSpPr>
          <p:nvPr/>
        </p:nvSpPr>
        <p:spPr>
          <a:xfrm xmlns:a="http://schemas.openxmlformats.org/drawingml/2006/main">
            <a:off x="609600" y="584835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Question: did the historical filter remove real secrets or only irrelevant values?</a:t>
            </a:r>
          </a:p>
        </p:txBody>
      </p:sp>
    </p:spTree>
    <p:extLst>
      <p:ext uri="{BB962C8B-B14F-4D97-AF65-F5344CB8AC3E}">
        <p14:creationId xmlns:p14="http://schemas.microsoft.com/office/powerpoint/2010/main" val="1524242610"/>
      </p:ext>
    </p:extLst>
  </p:cSld>
</p:sld>
</file>

<file path=ppt/slides/slide3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ABA3943-AFCD-4C65-A3FB-21F3C2DFD062}"/>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3. Adapted Anderson NSS adjacency</a:t>
            </a:r>
          </a:p>
        </p:txBody>
      </p:sp>
      <p:sp>
        <p:nvSpPr>
          <p:cNvPr id="2" name="">
            <a:extLst xmlns:a="http://schemas.openxmlformats.org/drawingml/2006/main">
              <a:ext uri="{FF2B5EF4-FFF2-40B4-BE49-F238E27FC236}">
                <a16:creationId xmlns:a16="http://schemas.microsoft.com/office/drawing/2014/main" id="{9EA0FBA9-2D4A-4544-954A-00180A8FAD31}"/>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A136C190-5239-405B-A0D6-2CEF8EE6BF51}"/>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35</a:t>
            </a:r>
          </a:p>
        </p:txBody>
      </p:sp>
      <p:sp>
        <p:nvSpPr>
          <p:cNvPr id="4" name="">
            <a:extLst xmlns:a="http://schemas.openxmlformats.org/drawingml/2006/main">
              <a:ext uri="{FF2B5EF4-FFF2-40B4-BE49-F238E27FC236}">
                <a16:creationId xmlns:a16="http://schemas.microsoft.com/office/drawing/2014/main" id="{088EFB96-FCAD-4BFD-B30B-A5A1AC74F153}"/>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Sources: Anderson NSS pattern in prior-work matrix; comparators.py</a:t>
            </a:r>
          </a:p>
        </p:txBody>
      </p:sp>
      <p:sp>
        <p:nvSpPr>
          <p:cNvPr id="5" name="">
            <a:extLst xmlns:a="http://schemas.openxmlformats.org/drawingml/2006/main">
              <a:ext uri="{FF2B5EF4-FFF2-40B4-BE49-F238E27FC236}">
                <a16:creationId xmlns:a16="http://schemas.microsoft.com/office/drawing/2014/main" id="{D0E1E2FD-46E8-40B9-AB32-19754F6682CE}"/>
              </a:ext>
            </a:extLst>
          </p:cNvPr>
          <p:cNvSpPr>
            <a:spLocks xmlns:a="http://schemas.openxmlformats.org/drawingml/2006/main" noGrp="1"/>
          </p:cNvSpPr>
          <p:nvPr/>
        </p:nvSpPr>
        <p:spPr>
          <a:xfrm xmlns:a="http://schemas.openxmlformats.org/drawingml/2006/main">
            <a:off x="609600" y="1838325"/>
            <a:ext cx="10801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Look beside a recognizable byte pattern, rather than follow a pointer.</a:t>
            </a:r>
          </a:p>
        </p:txBody>
      </p:sp>
      <p:sp>
        <p:nvSpPr>
          <p:cNvPr id="6" name="">
            <a:extLst xmlns:a="http://schemas.openxmlformats.org/drawingml/2006/main">
              <a:ext uri="{FF2B5EF4-FFF2-40B4-BE49-F238E27FC236}">
                <a16:creationId xmlns:a16="http://schemas.microsoft.com/office/drawing/2014/main" id="{7150BA6A-125E-4E0E-9D98-2E26740661E3}"/>
              </a:ext>
            </a:extLst>
          </p:cNvPr>
          <p:cNvSpPr>
            <a:spLocks xmlns:a="http://schemas.openxmlformats.org/drawingml/2006/main" noGrp="1"/>
          </p:cNvSpPr>
          <p:nvPr/>
        </p:nvSpPr>
        <p:spPr>
          <a:xfrm xmlns:a="http://schemas.openxmlformats.org/drawingml/2006/main">
            <a:off x="609600" y="2800350"/>
            <a:ext cx="160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E3E"/>
                </a:solidFill>
                <a:latin typeface="Arial"/>
                <a:ea typeface="Arial"/>
                <a:cs typeface="Arial"/>
              </a:defRPr>
            </a:pPr>
            <a:r>
              <a:rPr sz="2025" b="1">
                <a:solidFill>
                  <a:srgbClr val="142E3E"/>
                </a:solidFill>
                <a:latin typeface="Arial"/>
                <a:ea typeface="Arial"/>
                <a:cs typeface="Arial"/>
              </a:rPr>
              <a:t>Pattern A</a:t>
            </a:r>
          </a:p>
        </p:txBody>
      </p:sp>
      <p:sp>
        <p:nvSpPr>
          <p:cNvPr id="7" name="">
            <a:extLst xmlns:a="http://schemas.openxmlformats.org/drawingml/2006/main">
              <a:ext uri="{FF2B5EF4-FFF2-40B4-BE49-F238E27FC236}">
                <a16:creationId xmlns:a16="http://schemas.microsoft.com/office/drawing/2014/main" id="{CF4FA15D-5845-4A4A-A684-63D5A7A26C65}"/>
              </a:ext>
            </a:extLst>
          </p:cNvPr>
          <p:cNvSpPr>
            <a:spLocks xmlns:a="http://schemas.openxmlformats.org/drawingml/2006/main" noGrp="1"/>
          </p:cNvSpPr>
          <p:nvPr/>
        </p:nvSpPr>
        <p:spPr>
          <a:xfrm xmlns:a="http://schemas.openxmlformats.org/drawingml/2006/main">
            <a:off x="2266950" y="2647950"/>
            <a:ext cx="2152650" cy="7810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8" name="">
            <a:extLst xmlns:a="http://schemas.openxmlformats.org/drawingml/2006/main">
              <a:ext uri="{FF2B5EF4-FFF2-40B4-BE49-F238E27FC236}">
                <a16:creationId xmlns:a16="http://schemas.microsoft.com/office/drawing/2014/main" id="{9B352B70-385C-405F-87C9-8F0E101978BE}"/>
              </a:ext>
            </a:extLst>
          </p:cNvPr>
          <p:cNvSpPr>
            <a:spLocks xmlns:a="http://schemas.openxmlformats.org/drawingml/2006/main" noGrp="1"/>
          </p:cNvSpPr>
          <p:nvPr/>
        </p:nvSpPr>
        <p:spPr>
          <a:xfrm xmlns:a="http://schemas.openxmlformats.org/drawingml/2006/main">
            <a:off x="2381250" y="2762250"/>
            <a:ext cx="1924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0x11 marker</a:t>
            </a:r>
          </a:p>
        </p:txBody>
      </p:sp>
      <p:sp>
        <p:nvSpPr>
          <p:cNvPr id="9" name="">
            <a:extLst xmlns:a="http://schemas.openxmlformats.org/drawingml/2006/main">
              <a:ext uri="{FF2B5EF4-FFF2-40B4-BE49-F238E27FC236}">
                <a16:creationId xmlns:a16="http://schemas.microsoft.com/office/drawing/2014/main" id="{F2347620-B1B0-4C03-A86F-5ED206CB8F9D}"/>
              </a:ext>
            </a:extLst>
          </p:cNvPr>
          <p:cNvSpPr>
            <a:spLocks xmlns:a="http://schemas.openxmlformats.org/drawingml/2006/main" noGrp="1"/>
          </p:cNvSpPr>
          <p:nvPr/>
        </p:nvSpPr>
        <p:spPr>
          <a:xfrm xmlns:a="http://schemas.openxmlformats.org/drawingml/2006/main">
            <a:off x="4524375" y="2647950"/>
            <a:ext cx="2695575" cy="7810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0" name="">
            <a:extLst xmlns:a="http://schemas.openxmlformats.org/drawingml/2006/main">
              <a:ext uri="{FF2B5EF4-FFF2-40B4-BE49-F238E27FC236}">
                <a16:creationId xmlns:a16="http://schemas.microsoft.com/office/drawing/2014/main" id="{BFE7F203-040C-44DE-B8B4-4611F0B4952D}"/>
              </a:ext>
            </a:extLst>
          </p:cNvPr>
          <p:cNvSpPr>
            <a:spLocks xmlns:a="http://schemas.openxmlformats.org/drawingml/2006/main" noGrp="1"/>
          </p:cNvSpPr>
          <p:nvPr/>
        </p:nvSpPr>
        <p:spPr>
          <a:xfrm xmlns:a="http://schemas.openxmlformats.org/drawingml/2006/main">
            <a:off x="4638675" y="2762250"/>
            <a:ext cx="24669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9"/>
                </a:solidFill>
                <a:latin typeface="Arial"/>
                <a:ea typeface="Arial"/>
                <a:cs typeface="Arial"/>
              </a:defRPr>
            </a:pPr>
            <a:r>
              <a:rPr sz="1800" b="1">
                <a:solidFill>
                  <a:srgbClr val="007F79"/>
                </a:solidFill>
                <a:latin typeface="Arial"/>
                <a:ea typeface="Arial"/>
                <a:cs typeface="Arial"/>
              </a:rPr>
              <a:t>Length = 48</a:t>
            </a:r>
          </a:p>
          <a:p xmlns:a="http://schemas.openxmlformats.org/drawingml/2006/main">
            <a:pPr>
              <a:defRPr sz="1800" b="1">
                <a:solidFill>
                  <a:srgbClr val="007F79"/>
                </a:solidFill>
                <a:latin typeface="Arial"/>
                <a:ea typeface="Arial"/>
                <a:cs typeface="Arial"/>
              </a:defRPr>
            </a:pPr>
            <a:r>
              <a:rPr sz="1800" b="1">
                <a:solidFill>
                  <a:srgbClr val="007F79"/>
                </a:solidFill>
                <a:latin typeface="Arial"/>
                <a:ea typeface="Arial"/>
                <a:cs typeface="Arial"/>
              </a:rPr>
              <a:t>at offset +12</a:t>
            </a:r>
          </a:p>
        </p:txBody>
      </p:sp>
      <p:sp>
        <p:nvSpPr>
          <p:cNvPr id="11" name="">
            <a:extLst xmlns:a="http://schemas.openxmlformats.org/drawingml/2006/main">
              <a:ext uri="{FF2B5EF4-FFF2-40B4-BE49-F238E27FC236}">
                <a16:creationId xmlns:a16="http://schemas.microsoft.com/office/drawing/2014/main" id="{A2D0366B-A32F-47C1-ACF4-436DF36713D9}"/>
              </a:ext>
            </a:extLst>
          </p:cNvPr>
          <p:cNvSpPr>
            <a:spLocks xmlns:a="http://schemas.openxmlformats.org/drawingml/2006/main" noGrp="1"/>
          </p:cNvSpPr>
          <p:nvPr/>
        </p:nvSpPr>
        <p:spPr>
          <a:xfrm xmlns:a="http://schemas.openxmlformats.org/drawingml/2006/main">
            <a:off x="7334250" y="2647950"/>
            <a:ext cx="4248150" cy="7810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2" name="">
            <a:extLst xmlns:a="http://schemas.openxmlformats.org/drawingml/2006/main">
              <a:ext uri="{FF2B5EF4-FFF2-40B4-BE49-F238E27FC236}">
                <a16:creationId xmlns:a16="http://schemas.microsoft.com/office/drawing/2014/main" id="{4F167FCF-00CD-4BFB-9ED4-9CDC9A490982}"/>
              </a:ext>
            </a:extLst>
          </p:cNvPr>
          <p:cNvSpPr>
            <a:spLocks xmlns:a="http://schemas.openxmlformats.org/drawingml/2006/main" noGrp="1"/>
          </p:cNvSpPr>
          <p:nvPr/>
        </p:nvSpPr>
        <p:spPr>
          <a:xfrm xmlns:a="http://schemas.openxmlformats.org/drawingml/2006/main">
            <a:off x="7448550" y="2762250"/>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9"/>
                </a:solidFill>
                <a:latin typeface="Arial"/>
                <a:ea typeface="Arial"/>
                <a:cs typeface="Arial"/>
              </a:defRPr>
            </a:pPr>
            <a:r>
              <a:rPr sz="1800" b="1">
                <a:solidFill>
                  <a:srgbClr val="007F79"/>
                </a:solidFill>
                <a:latin typeface="Arial"/>
                <a:ea typeface="Arial"/>
                <a:cs typeface="Arial"/>
              </a:rPr>
              <a:t>Read 48 bytes</a:t>
            </a:r>
          </a:p>
          <a:p xmlns:a="http://schemas.openxmlformats.org/drawingml/2006/main">
            <a:pPr>
              <a:defRPr sz="1800" b="1">
                <a:solidFill>
                  <a:srgbClr val="007F79"/>
                </a:solidFill>
                <a:latin typeface="Arial"/>
                <a:ea typeface="Arial"/>
                <a:cs typeface="Arial"/>
              </a:defRPr>
            </a:pPr>
            <a:r>
              <a:rPr sz="1800" b="1">
                <a:solidFill>
                  <a:srgbClr val="007F79"/>
                </a:solidFill>
                <a:latin typeface="Arial"/>
                <a:ea typeface="Arial"/>
                <a:cs typeface="Arial"/>
              </a:rPr>
              <a:t>at offset +16</a:t>
            </a:r>
          </a:p>
        </p:txBody>
      </p:sp>
      <p:sp>
        <p:nvSpPr>
          <p:cNvPr id="13" name="">
            <a:extLst xmlns:a="http://schemas.openxmlformats.org/drawingml/2006/main">
              <a:ext uri="{FF2B5EF4-FFF2-40B4-BE49-F238E27FC236}">
                <a16:creationId xmlns:a16="http://schemas.microsoft.com/office/drawing/2014/main" id="{FE2A1230-6496-41CA-902C-67E89527B912}"/>
              </a:ext>
            </a:extLst>
          </p:cNvPr>
          <p:cNvSpPr>
            <a:spLocks xmlns:a="http://schemas.openxmlformats.org/drawingml/2006/main" noGrp="1"/>
          </p:cNvSpPr>
          <p:nvPr/>
        </p:nvSpPr>
        <p:spPr>
          <a:xfrm xmlns:a="http://schemas.openxmlformats.org/drawingml/2006/main">
            <a:off x="609600" y="4143375"/>
            <a:ext cx="160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E3E"/>
                </a:solidFill>
                <a:latin typeface="Arial"/>
                <a:ea typeface="Arial"/>
                <a:cs typeface="Arial"/>
              </a:defRPr>
            </a:pPr>
            <a:r>
              <a:rPr sz="2025" b="1">
                <a:solidFill>
                  <a:srgbClr val="142E3E"/>
                </a:solidFill>
                <a:latin typeface="Arial"/>
                <a:ea typeface="Arial"/>
                <a:cs typeface="Arial"/>
              </a:rPr>
              <a:t>Pattern B</a:t>
            </a:r>
          </a:p>
        </p:txBody>
      </p:sp>
      <p:sp>
        <p:nvSpPr>
          <p:cNvPr id="14" name="">
            <a:extLst xmlns:a="http://schemas.openxmlformats.org/drawingml/2006/main">
              <a:ext uri="{FF2B5EF4-FFF2-40B4-BE49-F238E27FC236}">
                <a16:creationId xmlns:a16="http://schemas.microsoft.com/office/drawing/2014/main" id="{74652908-B4DF-46B6-AEF1-A70BBEE56D56}"/>
              </a:ext>
            </a:extLst>
          </p:cNvPr>
          <p:cNvSpPr>
            <a:spLocks xmlns:a="http://schemas.openxmlformats.org/drawingml/2006/main" noGrp="1"/>
          </p:cNvSpPr>
          <p:nvPr/>
        </p:nvSpPr>
        <p:spPr>
          <a:xfrm xmlns:a="http://schemas.openxmlformats.org/drawingml/2006/main">
            <a:off x="2266950" y="3990975"/>
            <a:ext cx="2152650" cy="7810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5" name="">
            <a:extLst xmlns:a="http://schemas.openxmlformats.org/drawingml/2006/main">
              <a:ext uri="{FF2B5EF4-FFF2-40B4-BE49-F238E27FC236}">
                <a16:creationId xmlns:a16="http://schemas.microsoft.com/office/drawing/2014/main" id="{5B908822-8FBA-4EB3-A5DE-6C9B4B7A4EB1}"/>
              </a:ext>
            </a:extLst>
          </p:cNvPr>
          <p:cNvSpPr>
            <a:spLocks xmlns:a="http://schemas.openxmlformats.org/drawingml/2006/main" noGrp="1"/>
          </p:cNvSpPr>
          <p:nvPr/>
        </p:nvSpPr>
        <p:spPr>
          <a:xfrm xmlns:a="http://schemas.openxmlformats.org/drawingml/2006/main">
            <a:off x="2381250" y="4105275"/>
            <a:ext cx="1924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0x11 marker</a:t>
            </a:r>
          </a:p>
        </p:txBody>
      </p:sp>
      <p:sp>
        <p:nvSpPr>
          <p:cNvPr id="16" name="">
            <a:extLst xmlns:a="http://schemas.openxmlformats.org/drawingml/2006/main">
              <a:ext uri="{FF2B5EF4-FFF2-40B4-BE49-F238E27FC236}">
                <a16:creationId xmlns:a16="http://schemas.microsoft.com/office/drawing/2014/main" id="{59ABA93A-10B3-4816-B5C6-E60822BF974E}"/>
              </a:ext>
            </a:extLst>
          </p:cNvPr>
          <p:cNvSpPr>
            <a:spLocks xmlns:a="http://schemas.openxmlformats.org/drawingml/2006/main" noGrp="1"/>
          </p:cNvSpPr>
          <p:nvPr/>
        </p:nvSpPr>
        <p:spPr>
          <a:xfrm xmlns:a="http://schemas.openxmlformats.org/drawingml/2006/main">
            <a:off x="4524375" y="3990975"/>
            <a:ext cx="2695575" cy="7810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7" name="">
            <a:extLst xmlns:a="http://schemas.openxmlformats.org/drawingml/2006/main">
              <a:ext uri="{FF2B5EF4-FFF2-40B4-BE49-F238E27FC236}">
                <a16:creationId xmlns:a16="http://schemas.microsoft.com/office/drawing/2014/main" id="{0F9B55C4-EE4A-4D33-81BB-D33B4208728A}"/>
              </a:ext>
            </a:extLst>
          </p:cNvPr>
          <p:cNvSpPr>
            <a:spLocks xmlns:a="http://schemas.openxmlformats.org/drawingml/2006/main" noGrp="1"/>
          </p:cNvSpPr>
          <p:nvPr/>
        </p:nvSpPr>
        <p:spPr>
          <a:xfrm xmlns:a="http://schemas.openxmlformats.org/drawingml/2006/main">
            <a:off x="4638675" y="4105275"/>
            <a:ext cx="24669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9"/>
                </a:solidFill>
                <a:latin typeface="Arial"/>
                <a:ea typeface="Arial"/>
                <a:cs typeface="Arial"/>
              </a:defRPr>
            </a:pPr>
            <a:r>
              <a:rPr sz="1800" b="1">
                <a:solidFill>
                  <a:srgbClr val="007F79"/>
                </a:solidFill>
                <a:latin typeface="Arial"/>
                <a:ea typeface="Arial"/>
                <a:cs typeface="Arial"/>
              </a:rPr>
              <a:t>Length = 48</a:t>
            </a:r>
          </a:p>
          <a:p xmlns:a="http://schemas.openxmlformats.org/drawingml/2006/main">
            <a:pPr>
              <a:defRPr sz="1800" b="1">
                <a:solidFill>
                  <a:srgbClr val="007F79"/>
                </a:solidFill>
                <a:latin typeface="Arial"/>
                <a:ea typeface="Arial"/>
                <a:cs typeface="Arial"/>
              </a:defRPr>
            </a:pPr>
            <a:r>
              <a:rPr sz="1800" b="1">
                <a:solidFill>
                  <a:srgbClr val="007F79"/>
                </a:solidFill>
                <a:latin typeface="Arial"/>
                <a:ea typeface="Arial"/>
                <a:cs typeface="Arial"/>
              </a:rPr>
              <a:t>at offset +16</a:t>
            </a:r>
          </a:p>
        </p:txBody>
      </p:sp>
      <p:sp>
        <p:nvSpPr>
          <p:cNvPr id="18" name="">
            <a:extLst xmlns:a="http://schemas.openxmlformats.org/drawingml/2006/main">
              <a:ext uri="{FF2B5EF4-FFF2-40B4-BE49-F238E27FC236}">
                <a16:creationId xmlns:a16="http://schemas.microsoft.com/office/drawing/2014/main" id="{B9AD2D1B-B606-4AEE-9EDA-FBACA3032C10}"/>
              </a:ext>
            </a:extLst>
          </p:cNvPr>
          <p:cNvSpPr>
            <a:spLocks xmlns:a="http://schemas.openxmlformats.org/drawingml/2006/main" noGrp="1"/>
          </p:cNvSpPr>
          <p:nvPr/>
        </p:nvSpPr>
        <p:spPr>
          <a:xfrm xmlns:a="http://schemas.openxmlformats.org/drawingml/2006/main">
            <a:off x="7334250" y="3990975"/>
            <a:ext cx="4248150" cy="7810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9" name="">
            <a:extLst xmlns:a="http://schemas.openxmlformats.org/drawingml/2006/main">
              <a:ext uri="{FF2B5EF4-FFF2-40B4-BE49-F238E27FC236}">
                <a16:creationId xmlns:a16="http://schemas.microsoft.com/office/drawing/2014/main" id="{C51BC3FF-201A-417C-AECF-2D271DDA36E6}"/>
              </a:ext>
            </a:extLst>
          </p:cNvPr>
          <p:cNvSpPr>
            <a:spLocks xmlns:a="http://schemas.openxmlformats.org/drawingml/2006/main" noGrp="1"/>
          </p:cNvSpPr>
          <p:nvPr/>
        </p:nvSpPr>
        <p:spPr>
          <a:xfrm xmlns:a="http://schemas.openxmlformats.org/drawingml/2006/main">
            <a:off x="7448550" y="41052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9"/>
                </a:solidFill>
                <a:latin typeface="Arial"/>
                <a:ea typeface="Arial"/>
                <a:cs typeface="Arial"/>
              </a:defRPr>
            </a:pPr>
            <a:r>
              <a:rPr sz="1800" b="1">
                <a:solidFill>
                  <a:srgbClr val="007F79"/>
                </a:solidFill>
                <a:latin typeface="Arial"/>
                <a:ea typeface="Arial"/>
                <a:cs typeface="Arial"/>
              </a:rPr>
              <a:t>Read 48 bytes</a:t>
            </a:r>
          </a:p>
          <a:p xmlns:a="http://schemas.openxmlformats.org/drawingml/2006/main">
            <a:pPr>
              <a:defRPr sz="1800" b="1">
                <a:solidFill>
                  <a:srgbClr val="007F79"/>
                </a:solidFill>
                <a:latin typeface="Arial"/>
                <a:ea typeface="Arial"/>
                <a:cs typeface="Arial"/>
              </a:defRPr>
            </a:pPr>
            <a:r>
              <a:rPr sz="1800" b="1">
                <a:solidFill>
                  <a:srgbClr val="007F79"/>
                </a:solidFill>
                <a:latin typeface="Arial"/>
                <a:ea typeface="Arial"/>
                <a:cs typeface="Arial"/>
              </a:rPr>
              <a:t>at offset +24</a:t>
            </a:r>
          </a:p>
        </p:txBody>
      </p:sp>
      <p:sp>
        <p:nvSpPr>
          <p:cNvPr id="20" name="">
            <a:extLst xmlns:a="http://schemas.openxmlformats.org/drawingml/2006/main">
              <a:ext uri="{FF2B5EF4-FFF2-40B4-BE49-F238E27FC236}">
                <a16:creationId xmlns:a16="http://schemas.microsoft.com/office/drawing/2014/main" id="{D9888C07-7D7A-4F31-8185-EC7DFEEC9435}"/>
              </a:ext>
            </a:extLst>
          </p:cNvPr>
          <p:cNvSpPr>
            <a:spLocks xmlns:a="http://schemas.openxmlformats.org/drawingml/2006/main" noGrp="1"/>
          </p:cNvSpPr>
          <p:nvPr/>
        </p:nvSpPr>
        <p:spPr>
          <a:xfrm xmlns:a="http://schemas.openxmlformats.org/drawingml/2006/main">
            <a:off x="2266950" y="5048250"/>
            <a:ext cx="923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2"/>
                </a:solidFill>
                <a:latin typeface="Arial"/>
                <a:ea typeface="Arial"/>
                <a:cs typeface="Arial"/>
              </a:defRPr>
            </a:pPr>
            <a:r>
              <a:rPr sz="1800" b="0">
                <a:solidFill>
                  <a:srgbClr val="536572"/>
                </a:solidFill>
                <a:latin typeface="Arial"/>
                <a:ea typeface="Arial"/>
                <a:cs typeface="Arial"/>
              </a:rPr>
              <a:t>Offsets are measured from the marker. No pointer lookup or entropy filter.</a:t>
            </a:r>
          </a:p>
        </p:txBody>
      </p:sp>
      <p:sp>
        <p:nvSpPr>
          <p:cNvPr id="21" name="">
            <a:extLst xmlns:a="http://schemas.openxmlformats.org/drawingml/2006/main">
              <a:ext uri="{FF2B5EF4-FFF2-40B4-BE49-F238E27FC236}">
                <a16:creationId xmlns:a16="http://schemas.microsoft.com/office/drawing/2014/main" id="{051B9A6A-3292-4EAD-80D2-7BFF1A268631}"/>
              </a:ext>
            </a:extLst>
          </p:cNvPr>
          <p:cNvSpPr>
            <a:spLocks xmlns:a="http://schemas.openxmlformats.org/drawingml/2006/main" noGrp="1"/>
          </p:cNvSpPr>
          <p:nvPr/>
        </p:nvSpPr>
        <p:spPr>
          <a:xfrm xmlns:a="http://schemas.openxmlformats.org/drawingml/2006/main">
            <a:off x="609600" y="582930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75B17"/>
                </a:solidFill>
                <a:latin typeface="Arial"/>
                <a:ea typeface="Arial"/>
                <a:cs typeface="Arial"/>
              </a:defRPr>
            </a:pPr>
            <a:r>
              <a:rPr sz="1875" b="1">
                <a:solidFill>
                  <a:srgbClr val="A75B17"/>
                </a:solidFill>
                <a:latin typeface="Arial"/>
                <a:ea typeface="Arial"/>
                <a:cs typeface="Arial"/>
              </a:rPr>
              <a:t>We adapted a published master-secret pattern. Its TLS 1.3 performance is ours to test.</a:t>
            </a:r>
          </a:p>
        </p:txBody>
      </p:sp>
    </p:spTree>
    <p:extLst>
      <p:ext uri="{BB962C8B-B14F-4D97-AF65-F5344CB8AC3E}">
        <p14:creationId xmlns:p14="http://schemas.microsoft.com/office/powerpoint/2010/main" val="957680021"/>
      </p:ext>
    </p:extLst>
  </p:cSld>
</p:sld>
</file>

<file path=ppt/slides/slide3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5B76E04-ED8C-4E10-892A-690E6B9779F1}"/>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4. Adapted X-Ray full-snapshot baseline</a:t>
            </a:r>
          </a:p>
        </p:txBody>
      </p:sp>
      <p:sp>
        <p:nvSpPr>
          <p:cNvPr id="2" name="">
            <a:extLst xmlns:a="http://schemas.openxmlformats.org/drawingml/2006/main">
              <a:ext uri="{FF2B5EF4-FFF2-40B4-BE49-F238E27FC236}">
                <a16:creationId xmlns:a16="http://schemas.microsoft.com/office/drawing/2014/main" id="{97BA1806-4C2F-490E-AA82-ACC7FA5390B1}"/>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089C4912-259A-4920-A4BF-54199784EA41}"/>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36</a:t>
            </a:r>
          </a:p>
        </p:txBody>
      </p:sp>
      <p:sp>
        <p:nvSpPr>
          <p:cNvPr id="4" name="">
            <a:extLst xmlns:a="http://schemas.openxmlformats.org/drawingml/2006/main">
              <a:ext uri="{FF2B5EF4-FFF2-40B4-BE49-F238E27FC236}">
                <a16:creationId xmlns:a16="http://schemas.microsoft.com/office/drawing/2014/main" id="{11E55F84-A175-4CF7-A57D-619D4CCFBBE4}"/>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Sources: X-Ray-TLS full-snapshot baseline; comparators.py</a:t>
            </a:r>
          </a:p>
        </p:txBody>
      </p:sp>
      <p:sp>
        <p:nvSpPr>
          <p:cNvPr id="5" name="">
            <a:extLst xmlns:a="http://schemas.openxmlformats.org/drawingml/2006/main">
              <a:ext uri="{FF2B5EF4-FFF2-40B4-BE49-F238E27FC236}">
                <a16:creationId xmlns:a16="http://schemas.microsoft.com/office/drawing/2014/main" id="{B39CF045-00F9-43F0-BACE-AD152EB7BE6A}"/>
              </a:ext>
            </a:extLst>
          </p:cNvPr>
          <p:cNvSpPr>
            <a:spLocks xmlns:a="http://schemas.openxmlformats.org/drawingml/2006/main" noGrp="1"/>
          </p:cNvSpPr>
          <p:nvPr/>
        </p:nvSpPr>
        <p:spPr>
          <a:xfrm xmlns:a="http://schemas.openxmlformats.org/drawingml/2006/main">
            <a:off x="609600" y="1819275"/>
            <a:ext cx="10953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Scan writable memory in 48-byte windows, moving 8 bytes each time.</a:t>
            </a:r>
          </a:p>
        </p:txBody>
      </p:sp>
      <p:sp>
        <p:nvSpPr>
          <p:cNvPr id="6" name="">
            <a:extLst xmlns:a="http://schemas.openxmlformats.org/drawingml/2006/main">
              <a:ext uri="{FF2B5EF4-FFF2-40B4-BE49-F238E27FC236}">
                <a16:creationId xmlns:a16="http://schemas.microsoft.com/office/drawing/2014/main" id="{A87342C0-0FA9-4854-9BC2-2A7F707F2BF1}"/>
              </a:ext>
            </a:extLst>
          </p:cNvPr>
          <p:cNvSpPr>
            <a:spLocks xmlns:a="http://schemas.openxmlformats.org/drawingml/2006/main" noGrp="1"/>
          </p:cNvSpPr>
          <p:nvPr/>
        </p:nvSpPr>
        <p:spPr>
          <a:xfrm xmlns:a="http://schemas.openxmlformats.org/drawingml/2006/main">
            <a:off x="609600" y="2771775"/>
            <a:ext cx="4619625" cy="6381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7" name="">
            <a:extLst xmlns:a="http://schemas.openxmlformats.org/drawingml/2006/main">
              <a:ext uri="{FF2B5EF4-FFF2-40B4-BE49-F238E27FC236}">
                <a16:creationId xmlns:a16="http://schemas.microsoft.com/office/drawing/2014/main" id="{A2E98481-32E9-4BBE-9950-7562AC87E666}"/>
              </a:ext>
            </a:extLst>
          </p:cNvPr>
          <p:cNvSpPr>
            <a:spLocks xmlns:a="http://schemas.openxmlformats.org/drawingml/2006/main" noGrp="1"/>
          </p:cNvSpPr>
          <p:nvPr/>
        </p:nvSpPr>
        <p:spPr>
          <a:xfrm xmlns:a="http://schemas.openxmlformats.org/drawingml/2006/main">
            <a:off x="723900" y="2886075"/>
            <a:ext cx="43910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Window 1: 48 bytes</a:t>
            </a:r>
          </a:p>
        </p:txBody>
      </p:sp>
      <p:sp>
        <p:nvSpPr>
          <p:cNvPr id="8" name="">
            <a:extLst xmlns:a="http://schemas.openxmlformats.org/drawingml/2006/main">
              <a:ext uri="{FF2B5EF4-FFF2-40B4-BE49-F238E27FC236}">
                <a16:creationId xmlns:a16="http://schemas.microsoft.com/office/drawing/2014/main" id="{15C24909-0E40-4AE0-AB8D-D1652978F5DA}"/>
              </a:ext>
            </a:extLst>
          </p:cNvPr>
          <p:cNvSpPr>
            <a:spLocks xmlns:a="http://schemas.openxmlformats.org/drawingml/2006/main" noGrp="1"/>
          </p:cNvSpPr>
          <p:nvPr/>
        </p:nvSpPr>
        <p:spPr>
          <a:xfrm xmlns:a="http://schemas.openxmlformats.org/drawingml/2006/main">
            <a:off x="1362075" y="3543300"/>
            <a:ext cx="4619625" cy="6381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9" name="">
            <a:extLst xmlns:a="http://schemas.openxmlformats.org/drawingml/2006/main">
              <a:ext uri="{FF2B5EF4-FFF2-40B4-BE49-F238E27FC236}">
                <a16:creationId xmlns:a16="http://schemas.microsoft.com/office/drawing/2014/main" id="{841A195F-D4B1-4934-A1E6-4B9CE9C1F04A}"/>
              </a:ext>
            </a:extLst>
          </p:cNvPr>
          <p:cNvSpPr>
            <a:spLocks xmlns:a="http://schemas.openxmlformats.org/drawingml/2006/main" noGrp="1"/>
          </p:cNvSpPr>
          <p:nvPr/>
        </p:nvSpPr>
        <p:spPr>
          <a:xfrm xmlns:a="http://schemas.openxmlformats.org/drawingml/2006/main">
            <a:off x="1476375" y="3657600"/>
            <a:ext cx="43910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Window 2: 48 bytes</a:t>
            </a:r>
          </a:p>
        </p:txBody>
      </p:sp>
      <p:sp>
        <p:nvSpPr>
          <p:cNvPr id="10" name="">
            <a:extLst xmlns:a="http://schemas.openxmlformats.org/drawingml/2006/main">
              <a:ext uri="{FF2B5EF4-FFF2-40B4-BE49-F238E27FC236}">
                <a16:creationId xmlns:a16="http://schemas.microsoft.com/office/drawing/2014/main" id="{374D7509-8731-4C5C-A9CA-E2F5A71B68C7}"/>
              </a:ext>
            </a:extLst>
          </p:cNvPr>
          <p:cNvSpPr>
            <a:spLocks xmlns:a="http://schemas.openxmlformats.org/drawingml/2006/main" noGrp="1"/>
          </p:cNvSpPr>
          <p:nvPr/>
        </p:nvSpPr>
        <p:spPr>
          <a:xfrm xmlns:a="http://schemas.openxmlformats.org/drawingml/2006/main">
            <a:off x="771525" y="3495675"/>
            <a:ext cx="514350"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1CF1493-E771-4B96-B3BC-A4A51A647CD2}"/>
              </a:ext>
            </a:extLst>
          </p:cNvPr>
          <p:cNvSpPr>
            <a:spLocks xmlns:a="http://schemas.openxmlformats.org/drawingml/2006/main" noGrp="1"/>
          </p:cNvSpPr>
          <p:nvPr/>
        </p:nvSpPr>
        <p:spPr>
          <a:xfrm xmlns:a="http://schemas.openxmlformats.org/drawingml/2006/main">
            <a:off x="1114425" y="342900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1814D95-9AA7-4C45-8E90-9E91A28E3ACD}"/>
              </a:ext>
            </a:extLst>
          </p:cNvPr>
          <p:cNvSpPr>
            <a:spLocks xmlns:a="http://schemas.openxmlformats.org/drawingml/2006/main" noGrp="1"/>
          </p:cNvSpPr>
          <p:nvPr/>
        </p:nvSpPr>
        <p:spPr>
          <a:xfrm xmlns:a="http://schemas.openxmlformats.org/drawingml/2006/main">
            <a:off x="6010275" y="3905250"/>
            <a:ext cx="1028700"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996EEE3-F7CF-4650-8775-FA9D7628B5DC}"/>
              </a:ext>
            </a:extLst>
          </p:cNvPr>
          <p:cNvSpPr>
            <a:spLocks xmlns:a="http://schemas.openxmlformats.org/drawingml/2006/main" noGrp="1"/>
          </p:cNvSpPr>
          <p:nvPr/>
        </p:nvSpPr>
        <p:spPr>
          <a:xfrm xmlns:a="http://schemas.openxmlformats.org/drawingml/2006/main">
            <a:off x="6867525" y="383857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5F866C1-97AC-4320-895B-4BF0326C72B7}"/>
              </a:ext>
            </a:extLst>
          </p:cNvPr>
          <p:cNvSpPr>
            <a:spLocks xmlns:a="http://schemas.openxmlformats.org/drawingml/2006/main" noGrp="1"/>
          </p:cNvSpPr>
          <p:nvPr/>
        </p:nvSpPr>
        <p:spPr>
          <a:xfrm xmlns:a="http://schemas.openxmlformats.org/drawingml/2006/main">
            <a:off x="7153275" y="3086100"/>
            <a:ext cx="4429125" cy="110490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5" name="">
            <a:extLst xmlns:a="http://schemas.openxmlformats.org/drawingml/2006/main">
              <a:ext uri="{FF2B5EF4-FFF2-40B4-BE49-F238E27FC236}">
                <a16:creationId xmlns:a16="http://schemas.microsoft.com/office/drawing/2014/main" id="{18314C39-63EF-40E0-A009-517842704EAD}"/>
              </a:ext>
            </a:extLst>
          </p:cNvPr>
          <p:cNvSpPr>
            <a:spLocks xmlns:a="http://schemas.openxmlformats.org/drawingml/2006/main" noGrp="1"/>
          </p:cNvSpPr>
          <p:nvPr/>
        </p:nvSpPr>
        <p:spPr>
          <a:xfrm xmlns:a="http://schemas.openxmlformats.org/drawingml/2006/main">
            <a:off x="7267575" y="3200400"/>
            <a:ext cx="42005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Score hexadecimal text</a:t>
            </a:r>
          </a:p>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Entropy ≥ 3.6 bits/character</a:t>
            </a:r>
          </a:p>
        </p:txBody>
      </p:sp>
      <p:sp>
        <p:nvSpPr>
          <p:cNvPr id="16" name="">
            <a:extLst xmlns:a="http://schemas.openxmlformats.org/drawingml/2006/main">
              <a:ext uri="{FF2B5EF4-FFF2-40B4-BE49-F238E27FC236}">
                <a16:creationId xmlns:a16="http://schemas.microsoft.com/office/drawing/2014/main" id="{707EAE34-18F7-40ED-ABF4-979CFF5B31F5}"/>
              </a:ext>
            </a:extLst>
          </p:cNvPr>
          <p:cNvSpPr>
            <a:spLocks xmlns:a="http://schemas.openxmlformats.org/drawingml/2006/main" noGrp="1"/>
          </p:cNvSpPr>
          <p:nvPr/>
        </p:nvSpPr>
        <p:spPr>
          <a:xfrm xmlns:a="http://schemas.openxmlformats.org/drawingml/2006/main">
            <a:off x="7153275" y="4391025"/>
            <a:ext cx="4429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2"/>
                </a:solidFill>
                <a:latin typeface="Arial"/>
                <a:ea typeface="Arial"/>
                <a:cs typeface="Arial"/>
              </a:defRPr>
            </a:pPr>
            <a:r>
              <a:rPr sz="1875" b="0">
                <a:solidFill>
                  <a:srgbClr val="536572"/>
                </a:solidFill>
                <a:latin typeface="Arial"/>
                <a:ea typeface="Arial"/>
                <a:cs typeface="Arial"/>
              </a:rPr>
              <a:t>Keep the highest-scoring K values</a:t>
            </a:r>
          </a:p>
          <a:p xmlns:a="http://schemas.openxmlformats.org/drawingml/2006/main">
            <a:pPr>
              <a:defRPr sz="1875" b="0">
                <a:solidFill>
                  <a:srgbClr val="536572"/>
                </a:solidFill>
                <a:latin typeface="Arial"/>
                <a:ea typeface="Arial"/>
                <a:cs typeface="Arial"/>
              </a:defRPr>
            </a:pPr>
            <a:r>
              <a:rPr sz="1875" b="0">
                <a:solidFill>
                  <a:srgbClr val="536572"/>
                </a:solidFill>
                <a:latin typeface="Arial"/>
                <a:ea typeface="Arial"/>
                <a:cs typeface="Arial"/>
              </a:rPr>
              <a:t>found within the search budget.</a:t>
            </a:r>
          </a:p>
        </p:txBody>
      </p:sp>
      <p:sp>
        <p:nvSpPr>
          <p:cNvPr id="17" name="">
            <a:extLst xmlns:a="http://schemas.openxmlformats.org/drawingml/2006/main">
              <a:ext uri="{FF2B5EF4-FFF2-40B4-BE49-F238E27FC236}">
                <a16:creationId xmlns:a16="http://schemas.microsoft.com/office/drawing/2014/main" id="{A5932650-D92E-4D42-9D21-F36A4EC88682}"/>
              </a:ext>
            </a:extLst>
          </p:cNvPr>
          <p:cNvSpPr>
            <a:spLocks xmlns:a="http://schemas.openxmlformats.org/drawingml/2006/main" noGrp="1"/>
          </p:cNvSpPr>
          <p:nvPr/>
        </p:nvSpPr>
        <p:spPr>
          <a:xfrm xmlns:a="http://schemas.openxmlformats.org/drawingml/2006/main">
            <a:off x="609600" y="573405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75B17"/>
                </a:solidFill>
                <a:latin typeface="Arial"/>
                <a:ea typeface="Arial"/>
                <a:cs typeface="Arial"/>
              </a:defRPr>
            </a:pPr>
            <a:r>
              <a:rPr sz="1875" b="1">
                <a:solidFill>
                  <a:srgbClr val="A75B17"/>
                </a:solidFill>
                <a:latin typeface="Arial"/>
                <a:ea typeface="Arial"/>
                <a:cs typeface="Arial"/>
              </a:rPr>
              <a:t>This arm does not recreate X-Ray-TLS’s timed before/after memory snapshots.</a:t>
            </a:r>
          </a:p>
        </p:txBody>
      </p:sp>
    </p:spTree>
    <p:extLst>
      <p:ext uri="{BB962C8B-B14F-4D97-AF65-F5344CB8AC3E}">
        <p14:creationId xmlns:p14="http://schemas.microsoft.com/office/powerpoint/2010/main" val="1387563362"/>
      </p:ext>
    </p:extLst>
  </p:cSld>
</p:sld>
</file>

<file path=ppt/slides/slide3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8AA5CD5-4845-4819-A66F-14099B281500}"/>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5. Historical entropy-only search</a:t>
            </a:r>
          </a:p>
        </p:txBody>
      </p:sp>
      <p:sp>
        <p:nvSpPr>
          <p:cNvPr id="2" name="">
            <a:extLst xmlns:a="http://schemas.openxmlformats.org/drawingml/2006/main">
              <a:ext uri="{FF2B5EF4-FFF2-40B4-BE49-F238E27FC236}">
                <a16:creationId xmlns:a16="http://schemas.microsoft.com/office/drawing/2014/main" id="{15B8A8C2-0148-4CE9-A776-6E4ECCCD50F7}"/>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04AE2A67-881E-49B7-B110-AADF2FDFDEA6}"/>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37</a:t>
            </a:r>
          </a:p>
        </p:txBody>
      </p:sp>
      <p:sp>
        <p:nvSpPr>
          <p:cNvPr id="4" name="">
            <a:extLst xmlns:a="http://schemas.openxmlformats.org/drawingml/2006/main">
              <a:ext uri="{FF2B5EF4-FFF2-40B4-BE49-F238E27FC236}">
                <a16:creationId xmlns:a16="http://schemas.microsoft.com/office/drawing/2014/main" id="{81B1A483-AEB1-4D2C-9038-9343F6A855E4}"/>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 blind_tls13/recover.py, entropy_rank()</a:t>
            </a:r>
          </a:p>
        </p:txBody>
      </p:sp>
      <p:sp>
        <p:nvSpPr>
          <p:cNvPr id="5" name="">
            <a:extLst xmlns:a="http://schemas.openxmlformats.org/drawingml/2006/main">
              <a:ext uri="{FF2B5EF4-FFF2-40B4-BE49-F238E27FC236}">
                <a16:creationId xmlns:a16="http://schemas.microsoft.com/office/drawing/2014/main" id="{EC7C2CBD-7417-4206-AFA9-5B1AFE5EEB62}"/>
              </a:ext>
            </a:extLst>
          </p:cNvPr>
          <p:cNvSpPr>
            <a:spLocks xmlns:a="http://schemas.openxmlformats.org/drawingml/2006/main" noGrp="1"/>
          </p:cNvSpPr>
          <p:nvPr/>
        </p:nvSpPr>
        <p:spPr>
          <a:xfrm xmlns:a="http://schemas.openxmlformats.org/drawingml/2006/main">
            <a:off x="609600" y="1819275"/>
            <a:ext cx="10953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Scan captured memory one byte at a time, without an NSS layout clue.</a:t>
            </a:r>
          </a:p>
        </p:txBody>
      </p:sp>
      <p:sp>
        <p:nvSpPr>
          <p:cNvPr id="6" name="">
            <a:extLst xmlns:a="http://schemas.openxmlformats.org/drawingml/2006/main">
              <a:ext uri="{FF2B5EF4-FFF2-40B4-BE49-F238E27FC236}">
                <a16:creationId xmlns:a16="http://schemas.microsoft.com/office/drawing/2014/main" id="{39732505-203A-4B55-B294-828E838C2CBC}"/>
              </a:ext>
            </a:extLst>
          </p:cNvPr>
          <p:cNvSpPr>
            <a:spLocks xmlns:a="http://schemas.openxmlformats.org/drawingml/2006/main" noGrp="1"/>
          </p:cNvSpPr>
          <p:nvPr/>
        </p:nvSpPr>
        <p:spPr>
          <a:xfrm xmlns:a="http://schemas.openxmlformats.org/drawingml/2006/main">
            <a:off x="609600" y="2771775"/>
            <a:ext cx="4619625" cy="6381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7" name="">
            <a:extLst xmlns:a="http://schemas.openxmlformats.org/drawingml/2006/main">
              <a:ext uri="{FF2B5EF4-FFF2-40B4-BE49-F238E27FC236}">
                <a16:creationId xmlns:a16="http://schemas.microsoft.com/office/drawing/2014/main" id="{0C4F7D0B-6839-45D0-BF86-0178495A847C}"/>
              </a:ext>
            </a:extLst>
          </p:cNvPr>
          <p:cNvSpPr>
            <a:spLocks xmlns:a="http://schemas.openxmlformats.org/drawingml/2006/main" noGrp="1"/>
          </p:cNvSpPr>
          <p:nvPr/>
        </p:nvSpPr>
        <p:spPr>
          <a:xfrm xmlns:a="http://schemas.openxmlformats.org/drawingml/2006/main">
            <a:off x="723900" y="2886075"/>
            <a:ext cx="43910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Window 1: 48 bytes</a:t>
            </a:r>
          </a:p>
        </p:txBody>
      </p:sp>
      <p:sp>
        <p:nvSpPr>
          <p:cNvPr id="8" name="">
            <a:extLst xmlns:a="http://schemas.openxmlformats.org/drawingml/2006/main">
              <a:ext uri="{FF2B5EF4-FFF2-40B4-BE49-F238E27FC236}">
                <a16:creationId xmlns:a16="http://schemas.microsoft.com/office/drawing/2014/main" id="{8FBA4749-8964-47B2-B2A7-D2FABC0483D9}"/>
              </a:ext>
            </a:extLst>
          </p:cNvPr>
          <p:cNvSpPr>
            <a:spLocks xmlns:a="http://schemas.openxmlformats.org/drawingml/2006/main" noGrp="1"/>
          </p:cNvSpPr>
          <p:nvPr/>
        </p:nvSpPr>
        <p:spPr>
          <a:xfrm xmlns:a="http://schemas.openxmlformats.org/drawingml/2006/main">
            <a:off x="800100" y="3543300"/>
            <a:ext cx="4619625" cy="638175"/>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9" name="">
            <a:extLst xmlns:a="http://schemas.openxmlformats.org/drawingml/2006/main">
              <a:ext uri="{FF2B5EF4-FFF2-40B4-BE49-F238E27FC236}">
                <a16:creationId xmlns:a16="http://schemas.microsoft.com/office/drawing/2014/main" id="{05A45AC7-DFC4-4828-BB0E-03583D162AF7}"/>
              </a:ext>
            </a:extLst>
          </p:cNvPr>
          <p:cNvSpPr>
            <a:spLocks xmlns:a="http://schemas.openxmlformats.org/drawingml/2006/main" noGrp="1"/>
          </p:cNvSpPr>
          <p:nvPr/>
        </p:nvSpPr>
        <p:spPr>
          <a:xfrm xmlns:a="http://schemas.openxmlformats.org/drawingml/2006/main">
            <a:off x="914400" y="3657600"/>
            <a:ext cx="43910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Window 2: 48 bytes</a:t>
            </a:r>
          </a:p>
        </p:txBody>
      </p:sp>
      <p:sp>
        <p:nvSpPr>
          <p:cNvPr id="10" name="">
            <a:extLst xmlns:a="http://schemas.openxmlformats.org/drawingml/2006/main">
              <a:ext uri="{FF2B5EF4-FFF2-40B4-BE49-F238E27FC236}">
                <a16:creationId xmlns:a16="http://schemas.microsoft.com/office/drawing/2014/main" id="{2DB8309E-0DE3-41FB-B1CE-C2472FF05582}"/>
              </a:ext>
            </a:extLst>
          </p:cNvPr>
          <p:cNvSpPr>
            <a:spLocks xmlns:a="http://schemas.openxmlformats.org/drawingml/2006/main" noGrp="1"/>
          </p:cNvSpPr>
          <p:nvPr/>
        </p:nvSpPr>
        <p:spPr>
          <a:xfrm xmlns:a="http://schemas.openxmlformats.org/drawingml/2006/main">
            <a:off x="5448300" y="3905250"/>
            <a:ext cx="15906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B256C23-99E3-47B8-82CA-95CBFFA77126}"/>
              </a:ext>
            </a:extLst>
          </p:cNvPr>
          <p:cNvSpPr>
            <a:spLocks xmlns:a="http://schemas.openxmlformats.org/drawingml/2006/main" noGrp="1"/>
          </p:cNvSpPr>
          <p:nvPr/>
        </p:nvSpPr>
        <p:spPr>
          <a:xfrm xmlns:a="http://schemas.openxmlformats.org/drawingml/2006/main">
            <a:off x="6867525" y="383857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E4CDC57-4AB8-45C4-B938-F33C5B2878C6}"/>
              </a:ext>
            </a:extLst>
          </p:cNvPr>
          <p:cNvSpPr>
            <a:spLocks xmlns:a="http://schemas.openxmlformats.org/drawingml/2006/main" noGrp="1"/>
          </p:cNvSpPr>
          <p:nvPr/>
        </p:nvSpPr>
        <p:spPr>
          <a:xfrm xmlns:a="http://schemas.openxmlformats.org/drawingml/2006/main">
            <a:off x="7153275" y="2943225"/>
            <a:ext cx="4429125" cy="1428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3" name="">
            <a:extLst xmlns:a="http://schemas.openxmlformats.org/drawingml/2006/main">
              <a:ext uri="{FF2B5EF4-FFF2-40B4-BE49-F238E27FC236}">
                <a16:creationId xmlns:a16="http://schemas.microsoft.com/office/drawing/2014/main" id="{10E24A33-29F7-4CF4-BACE-463675E9F0CA}"/>
              </a:ext>
            </a:extLst>
          </p:cNvPr>
          <p:cNvSpPr>
            <a:spLocks xmlns:a="http://schemas.openxmlformats.org/drawingml/2006/main" noGrp="1"/>
          </p:cNvSpPr>
          <p:nvPr/>
        </p:nvSpPr>
        <p:spPr>
          <a:xfrm xmlns:a="http://schemas.openxmlformats.org/drawingml/2006/main">
            <a:off x="7267575" y="3057525"/>
            <a:ext cx="42005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Score raw bytes</a:t>
            </a:r>
          </a:p>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Entropy ≥ 4 bits/byte</a:t>
            </a:r>
          </a:p>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At most 6 zero bytes</a:t>
            </a:r>
          </a:p>
        </p:txBody>
      </p:sp>
      <p:sp>
        <p:nvSpPr>
          <p:cNvPr id="14" name="">
            <a:extLst xmlns:a="http://schemas.openxmlformats.org/drawingml/2006/main">
              <a:ext uri="{FF2B5EF4-FFF2-40B4-BE49-F238E27FC236}">
                <a16:creationId xmlns:a16="http://schemas.microsoft.com/office/drawing/2014/main" id="{0B1F589A-6BC9-44A5-A603-7C4B6490F31F}"/>
              </a:ext>
            </a:extLst>
          </p:cNvPr>
          <p:cNvSpPr>
            <a:spLocks xmlns:a="http://schemas.openxmlformats.org/drawingml/2006/main" noGrp="1"/>
          </p:cNvSpPr>
          <p:nvPr/>
        </p:nvSpPr>
        <p:spPr>
          <a:xfrm xmlns:a="http://schemas.openxmlformats.org/drawingml/2006/main">
            <a:off x="7153275" y="4572000"/>
            <a:ext cx="4429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2"/>
                </a:solidFill>
                <a:latin typeface="Arial"/>
                <a:ea typeface="Arial"/>
                <a:cs typeface="Arial"/>
              </a:defRPr>
            </a:pPr>
            <a:r>
              <a:rPr sz="1875" b="0">
                <a:solidFill>
                  <a:srgbClr val="536572"/>
                </a:solidFill>
                <a:latin typeface="Arial"/>
                <a:ea typeface="Arial"/>
                <a:cs typeface="Arial"/>
              </a:rPr>
              <a:t>Keep the highest-scoring K values</a:t>
            </a:r>
          </a:p>
          <a:p xmlns:a="http://schemas.openxmlformats.org/drawingml/2006/main">
            <a:pPr>
              <a:defRPr sz="1875" b="0">
                <a:solidFill>
                  <a:srgbClr val="536572"/>
                </a:solidFill>
                <a:latin typeface="Arial"/>
                <a:ea typeface="Arial"/>
                <a:cs typeface="Arial"/>
              </a:defRPr>
            </a:pPr>
            <a:r>
              <a:rPr sz="1875" b="0">
                <a:solidFill>
                  <a:srgbClr val="536572"/>
                </a:solidFill>
                <a:latin typeface="Arial"/>
                <a:ea typeface="Arial"/>
                <a:cs typeface="Arial"/>
              </a:rPr>
              <a:t>found within the search budget.</a:t>
            </a:r>
          </a:p>
        </p:txBody>
      </p:sp>
      <p:sp>
        <p:nvSpPr>
          <p:cNvPr id="15" name="">
            <a:extLst xmlns:a="http://schemas.openxmlformats.org/drawingml/2006/main">
              <a:ext uri="{FF2B5EF4-FFF2-40B4-BE49-F238E27FC236}">
                <a16:creationId xmlns:a16="http://schemas.microsoft.com/office/drawing/2014/main" id="{5BFA872A-40F3-4CC3-B808-4CD98521D45B}"/>
              </a:ext>
            </a:extLst>
          </p:cNvPr>
          <p:cNvSpPr>
            <a:spLocks xmlns:a="http://schemas.openxmlformats.org/drawingml/2006/main" noGrp="1"/>
          </p:cNvSpPr>
          <p:nvPr/>
        </p:nvSpPr>
        <p:spPr>
          <a:xfrm xmlns:a="http://schemas.openxmlformats.org/drawingml/2006/main">
            <a:off x="609600" y="573405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Random-looking bytes are candidates. Authentication must still prove their role.</a:t>
            </a:r>
          </a:p>
        </p:txBody>
      </p:sp>
    </p:spTree>
    <p:extLst>
      <p:ext uri="{BB962C8B-B14F-4D97-AF65-F5344CB8AC3E}">
        <p14:creationId xmlns:p14="http://schemas.microsoft.com/office/powerpoint/2010/main" val="901396411"/>
      </p:ext>
    </p:extLst>
  </p:cSld>
</p:sld>
</file>

<file path=ppt/slides/slide3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0F277E6-FC25-449C-B294-36AE7D1A959A}"/>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Every method faces the same traffic test</a:t>
            </a:r>
          </a:p>
        </p:txBody>
      </p:sp>
      <p:sp>
        <p:nvSpPr>
          <p:cNvPr id="2" name="">
            <a:extLst xmlns:a="http://schemas.openxmlformats.org/drawingml/2006/main">
              <a:ext uri="{FF2B5EF4-FFF2-40B4-BE49-F238E27FC236}">
                <a16:creationId xmlns:a16="http://schemas.microsoft.com/office/drawing/2014/main" id="{26F05AC0-6EC2-4023-9CAF-9059E00BBF62}"/>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98272C0E-D75D-4794-802F-5E841538C8C7}"/>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38</a:t>
            </a:r>
          </a:p>
        </p:txBody>
      </p:sp>
      <p:sp>
        <p:nvSpPr>
          <p:cNvPr id="4" name="">
            <a:extLst xmlns:a="http://schemas.openxmlformats.org/drawingml/2006/main">
              <a:ext uri="{FF2B5EF4-FFF2-40B4-BE49-F238E27FC236}">
                <a16:creationId xmlns:a16="http://schemas.microsoft.com/office/drawing/2014/main" id="{BBC23B70-6DB5-4B94-A5F7-1B4D11BE5DA3}"/>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Sources: recover.py assign(); record_auth.py; isolated evaluator</a:t>
            </a:r>
          </a:p>
        </p:txBody>
      </p:sp>
      <p:sp>
        <p:nvSpPr>
          <p:cNvPr id="5" name="">
            <a:extLst xmlns:a="http://schemas.openxmlformats.org/drawingml/2006/main">
              <a:ext uri="{FF2B5EF4-FFF2-40B4-BE49-F238E27FC236}">
                <a16:creationId xmlns:a16="http://schemas.microsoft.com/office/drawing/2014/main" id="{53131B49-08D6-47F6-9CD9-FC7197A7070B}"/>
              </a:ext>
            </a:extLst>
          </p:cNvPr>
          <p:cNvSpPr>
            <a:spLocks xmlns:a="http://schemas.openxmlformats.org/drawingml/2006/main" noGrp="1"/>
          </p:cNvSpPr>
          <p:nvPr/>
        </p:nvSpPr>
        <p:spPr>
          <a:xfrm xmlns:a="http://schemas.openxmlformats.org/drawingml/2006/main">
            <a:off x="609600" y="2371725"/>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6" name="">
            <a:extLst xmlns:a="http://schemas.openxmlformats.org/drawingml/2006/main">
              <a:ext uri="{FF2B5EF4-FFF2-40B4-BE49-F238E27FC236}">
                <a16:creationId xmlns:a16="http://schemas.microsoft.com/office/drawing/2014/main" id="{42937333-531F-49EC-BEDE-D4F10411953C}"/>
              </a:ext>
            </a:extLst>
          </p:cNvPr>
          <p:cNvSpPr>
            <a:spLocks xmlns:a="http://schemas.openxmlformats.org/drawingml/2006/main" noGrp="1"/>
          </p:cNvSpPr>
          <p:nvPr/>
        </p:nvSpPr>
        <p:spPr>
          <a:xfrm xmlns:a="http://schemas.openxmlformats.org/drawingml/2006/main">
            <a:off x="762000" y="2562225"/>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Candidate</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from any arm</a:t>
            </a:r>
          </a:p>
        </p:txBody>
      </p:sp>
      <p:sp>
        <p:nvSpPr>
          <p:cNvPr id="7" name="">
            <a:extLst xmlns:a="http://schemas.openxmlformats.org/drawingml/2006/main">
              <a:ext uri="{FF2B5EF4-FFF2-40B4-BE49-F238E27FC236}">
                <a16:creationId xmlns:a16="http://schemas.microsoft.com/office/drawing/2014/main" id="{56A5B312-32E0-4DA3-B264-C6A39DC281BE}"/>
              </a:ext>
            </a:extLst>
          </p:cNvPr>
          <p:cNvSpPr>
            <a:spLocks xmlns:a="http://schemas.openxmlformats.org/drawingml/2006/main" noGrp="1"/>
          </p:cNvSpPr>
          <p:nvPr/>
        </p:nvSpPr>
        <p:spPr>
          <a:xfrm xmlns:a="http://schemas.openxmlformats.org/drawingml/2006/main">
            <a:off x="3457575" y="2371725"/>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8" name="">
            <a:extLst xmlns:a="http://schemas.openxmlformats.org/drawingml/2006/main">
              <a:ext uri="{FF2B5EF4-FFF2-40B4-BE49-F238E27FC236}">
                <a16:creationId xmlns:a16="http://schemas.microsoft.com/office/drawing/2014/main" id="{5550B0F6-1753-4624-8E5A-8BEA508C954C}"/>
              </a:ext>
            </a:extLst>
          </p:cNvPr>
          <p:cNvSpPr>
            <a:spLocks xmlns:a="http://schemas.openxmlformats.org/drawingml/2006/main" noGrp="1"/>
          </p:cNvSpPr>
          <p:nvPr/>
        </p:nvSpPr>
        <p:spPr>
          <a:xfrm xmlns:a="http://schemas.openxmlformats.org/drawingml/2006/main">
            <a:off x="3609975" y="2562225"/>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Derive record</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key and IV</a:t>
            </a:r>
          </a:p>
        </p:txBody>
      </p:sp>
      <p:sp>
        <p:nvSpPr>
          <p:cNvPr id="9" name="">
            <a:extLst xmlns:a="http://schemas.openxmlformats.org/drawingml/2006/main">
              <a:ext uri="{FF2B5EF4-FFF2-40B4-BE49-F238E27FC236}">
                <a16:creationId xmlns:a16="http://schemas.microsoft.com/office/drawing/2014/main" id="{66F31812-419E-4D0E-98C5-10DEFC22D067}"/>
              </a:ext>
            </a:extLst>
          </p:cNvPr>
          <p:cNvSpPr>
            <a:spLocks xmlns:a="http://schemas.openxmlformats.org/drawingml/2006/main" noGrp="1"/>
          </p:cNvSpPr>
          <p:nvPr/>
        </p:nvSpPr>
        <p:spPr>
          <a:xfrm xmlns:a="http://schemas.openxmlformats.org/drawingml/2006/main">
            <a:off x="3076575" y="2876550"/>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EDBD8AF-EB51-4C0B-AB70-88A8772F7830}"/>
              </a:ext>
            </a:extLst>
          </p:cNvPr>
          <p:cNvSpPr>
            <a:spLocks xmlns:a="http://schemas.openxmlformats.org/drawingml/2006/main" noGrp="1"/>
          </p:cNvSpPr>
          <p:nvPr/>
        </p:nvSpPr>
        <p:spPr>
          <a:xfrm xmlns:a="http://schemas.openxmlformats.org/drawingml/2006/main">
            <a:off x="3238500" y="280987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01F0454-E34B-46D7-B1FE-4B94D4C6198B}"/>
              </a:ext>
            </a:extLst>
          </p:cNvPr>
          <p:cNvSpPr>
            <a:spLocks xmlns:a="http://schemas.openxmlformats.org/drawingml/2006/main" noGrp="1"/>
          </p:cNvSpPr>
          <p:nvPr/>
        </p:nvSpPr>
        <p:spPr>
          <a:xfrm xmlns:a="http://schemas.openxmlformats.org/drawingml/2006/main">
            <a:off x="6305550" y="2371725"/>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2" name="">
            <a:extLst xmlns:a="http://schemas.openxmlformats.org/drawingml/2006/main">
              <a:ext uri="{FF2B5EF4-FFF2-40B4-BE49-F238E27FC236}">
                <a16:creationId xmlns:a16="http://schemas.microsoft.com/office/drawing/2014/main" id="{FABF53DE-D0BB-47A5-A42A-F88FD8E04CE1}"/>
              </a:ext>
            </a:extLst>
          </p:cNvPr>
          <p:cNvSpPr>
            <a:spLocks xmlns:a="http://schemas.openxmlformats.org/drawingml/2006/main" noGrp="1"/>
          </p:cNvSpPr>
          <p:nvPr/>
        </p:nvSpPr>
        <p:spPr>
          <a:xfrm xmlns:a="http://schemas.openxmlformats.org/drawingml/2006/main">
            <a:off x="6457950" y="2562225"/>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Authenticate</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PCAP records</a:t>
            </a:r>
          </a:p>
        </p:txBody>
      </p:sp>
      <p:sp>
        <p:nvSpPr>
          <p:cNvPr id="13" name="">
            <a:extLst xmlns:a="http://schemas.openxmlformats.org/drawingml/2006/main">
              <a:ext uri="{FF2B5EF4-FFF2-40B4-BE49-F238E27FC236}">
                <a16:creationId xmlns:a16="http://schemas.microsoft.com/office/drawing/2014/main" id="{C3D45043-A029-4FB1-A1D3-D2393A818496}"/>
              </a:ext>
            </a:extLst>
          </p:cNvPr>
          <p:cNvSpPr>
            <a:spLocks xmlns:a="http://schemas.openxmlformats.org/drawingml/2006/main" noGrp="1"/>
          </p:cNvSpPr>
          <p:nvPr/>
        </p:nvSpPr>
        <p:spPr>
          <a:xfrm xmlns:a="http://schemas.openxmlformats.org/drawingml/2006/main">
            <a:off x="5924550" y="2876550"/>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D5A60BC-940A-4516-9FDF-FDF2F7689313}"/>
              </a:ext>
            </a:extLst>
          </p:cNvPr>
          <p:cNvSpPr>
            <a:spLocks xmlns:a="http://schemas.openxmlformats.org/drawingml/2006/main" noGrp="1"/>
          </p:cNvSpPr>
          <p:nvPr/>
        </p:nvSpPr>
        <p:spPr>
          <a:xfrm xmlns:a="http://schemas.openxmlformats.org/drawingml/2006/main">
            <a:off x="6086475" y="280987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2C56612-C425-498E-9B66-0BFB29D4E6AB}"/>
              </a:ext>
            </a:extLst>
          </p:cNvPr>
          <p:cNvSpPr>
            <a:spLocks xmlns:a="http://schemas.openxmlformats.org/drawingml/2006/main" noGrp="1"/>
          </p:cNvSpPr>
          <p:nvPr/>
        </p:nvSpPr>
        <p:spPr>
          <a:xfrm xmlns:a="http://schemas.openxmlformats.org/drawingml/2006/main">
            <a:off x="9153525" y="2371725"/>
            <a:ext cx="2428875"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6" name="">
            <a:extLst xmlns:a="http://schemas.openxmlformats.org/drawingml/2006/main">
              <a:ext uri="{FF2B5EF4-FFF2-40B4-BE49-F238E27FC236}">
                <a16:creationId xmlns:a16="http://schemas.microsoft.com/office/drawing/2014/main" id="{1697CBB6-499D-47AF-9187-CC19A72151AB}"/>
              </a:ext>
            </a:extLst>
          </p:cNvPr>
          <p:cNvSpPr>
            <a:spLocks xmlns:a="http://schemas.openxmlformats.org/drawingml/2006/main" noGrp="1"/>
          </p:cNvSpPr>
          <p:nvPr/>
        </p:nvSpPr>
        <p:spPr>
          <a:xfrm xmlns:a="http://schemas.openxmlformats.org/drawingml/2006/main">
            <a:off x="9305925" y="2562225"/>
            <a:ext cx="2124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Assign flow +</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direction</a:t>
            </a:r>
          </a:p>
        </p:txBody>
      </p:sp>
      <p:sp>
        <p:nvSpPr>
          <p:cNvPr id="17" name="">
            <a:extLst xmlns:a="http://schemas.openxmlformats.org/drawingml/2006/main">
              <a:ext uri="{FF2B5EF4-FFF2-40B4-BE49-F238E27FC236}">
                <a16:creationId xmlns:a16="http://schemas.microsoft.com/office/drawing/2014/main" id="{7EFFE66E-A7BE-415A-B7E5-E8272A8B30BE}"/>
              </a:ext>
            </a:extLst>
          </p:cNvPr>
          <p:cNvSpPr>
            <a:spLocks xmlns:a="http://schemas.openxmlformats.org/drawingml/2006/main" noGrp="1"/>
          </p:cNvSpPr>
          <p:nvPr/>
        </p:nvSpPr>
        <p:spPr>
          <a:xfrm xmlns:a="http://schemas.openxmlformats.org/drawingml/2006/main">
            <a:off x="8772525" y="2876550"/>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324F87D-2D9F-46C7-91E9-56117ED09ADA}"/>
              </a:ext>
            </a:extLst>
          </p:cNvPr>
          <p:cNvSpPr>
            <a:spLocks xmlns:a="http://schemas.openxmlformats.org/drawingml/2006/main" noGrp="1"/>
          </p:cNvSpPr>
          <p:nvPr/>
        </p:nvSpPr>
        <p:spPr>
          <a:xfrm xmlns:a="http://schemas.openxmlformats.org/drawingml/2006/main">
            <a:off x="8934450" y="2809875"/>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B38EB63-2560-42B9-9417-F095761D536E}"/>
              </a:ext>
            </a:extLst>
          </p:cNvPr>
          <p:cNvSpPr>
            <a:spLocks xmlns:a="http://schemas.openxmlformats.org/drawingml/2006/main" noGrp="1"/>
          </p:cNvSpPr>
          <p:nvPr/>
        </p:nvSpPr>
        <p:spPr>
          <a:xfrm xmlns:a="http://schemas.openxmlformats.org/drawingml/2006/main">
            <a:off x="704850" y="3581400"/>
            <a:ext cx="2362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572"/>
                </a:solidFill>
                <a:latin typeface="Arial"/>
                <a:ea typeface="Arial"/>
                <a:cs typeface="Arial"/>
              </a:defRPr>
            </a:pPr>
            <a:r>
              <a:rPr sz="1725" b="0">
                <a:solidFill>
                  <a:srgbClr val="536572"/>
                </a:solidFill>
                <a:latin typeface="Arial"/>
                <a:ea typeface="Arial"/>
                <a:cs typeface="Arial"/>
              </a:rPr>
              <a:t>A possible secret</a:t>
            </a:r>
          </a:p>
        </p:txBody>
      </p:sp>
      <p:sp>
        <p:nvSpPr>
          <p:cNvPr id="20" name="">
            <a:extLst xmlns:a="http://schemas.openxmlformats.org/drawingml/2006/main">
              <a:ext uri="{FF2B5EF4-FFF2-40B4-BE49-F238E27FC236}">
                <a16:creationId xmlns:a16="http://schemas.microsoft.com/office/drawing/2014/main" id="{F6C0C932-AB7B-4897-A970-33FE2A4E4C47}"/>
              </a:ext>
            </a:extLst>
          </p:cNvPr>
          <p:cNvSpPr>
            <a:spLocks xmlns:a="http://schemas.openxmlformats.org/drawingml/2006/main" noGrp="1"/>
          </p:cNvSpPr>
          <p:nvPr/>
        </p:nvSpPr>
        <p:spPr>
          <a:xfrm xmlns:a="http://schemas.openxmlformats.org/drawingml/2006/main">
            <a:off x="3543300" y="3581400"/>
            <a:ext cx="2362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572"/>
                </a:solidFill>
                <a:latin typeface="Arial"/>
                <a:ea typeface="Arial"/>
                <a:cs typeface="Arial"/>
              </a:defRPr>
            </a:pPr>
            <a:r>
              <a:rPr sz="1725" b="0">
                <a:solidFill>
                  <a:srgbClr val="536572"/>
                </a:solidFill>
                <a:latin typeface="Arial"/>
                <a:ea typeface="Arial"/>
                <a:cs typeface="Arial"/>
              </a:rPr>
              <a:t>Protocol rules</a:t>
            </a:r>
          </a:p>
        </p:txBody>
      </p:sp>
      <p:sp>
        <p:nvSpPr>
          <p:cNvPr id="21" name="">
            <a:extLst xmlns:a="http://schemas.openxmlformats.org/drawingml/2006/main">
              <a:ext uri="{FF2B5EF4-FFF2-40B4-BE49-F238E27FC236}">
                <a16:creationId xmlns:a16="http://schemas.microsoft.com/office/drawing/2014/main" id="{9FFFA98B-EE85-4FA9-8C09-ED5ECEDC05BC}"/>
              </a:ext>
            </a:extLst>
          </p:cNvPr>
          <p:cNvSpPr>
            <a:spLocks xmlns:a="http://schemas.openxmlformats.org/drawingml/2006/main" noGrp="1"/>
          </p:cNvSpPr>
          <p:nvPr/>
        </p:nvSpPr>
        <p:spPr>
          <a:xfrm xmlns:a="http://schemas.openxmlformats.org/drawingml/2006/main">
            <a:off x="6362700" y="3581400"/>
            <a:ext cx="2362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572"/>
                </a:solidFill>
                <a:latin typeface="Arial"/>
                <a:ea typeface="Arial"/>
                <a:cs typeface="Arial"/>
              </a:defRPr>
            </a:pPr>
            <a:r>
              <a:rPr sz="1725" b="0">
                <a:solidFill>
                  <a:srgbClr val="536572"/>
                </a:solidFill>
                <a:latin typeface="Arial"/>
                <a:ea typeface="Arial"/>
                <a:cs typeface="Arial"/>
              </a:rPr>
              <a:t>At least 2 records</a:t>
            </a:r>
          </a:p>
        </p:txBody>
      </p:sp>
      <p:sp>
        <p:nvSpPr>
          <p:cNvPr id="22" name="">
            <a:extLst xmlns:a="http://schemas.openxmlformats.org/drawingml/2006/main">
              <a:ext uri="{FF2B5EF4-FFF2-40B4-BE49-F238E27FC236}">
                <a16:creationId xmlns:a16="http://schemas.microsoft.com/office/drawing/2014/main" id="{1C7B7426-B893-437C-88C3-B6BE27FB7D30}"/>
              </a:ext>
            </a:extLst>
          </p:cNvPr>
          <p:cNvSpPr>
            <a:spLocks xmlns:a="http://schemas.openxmlformats.org/drawingml/2006/main" noGrp="1"/>
          </p:cNvSpPr>
          <p:nvPr/>
        </p:nvSpPr>
        <p:spPr>
          <a:xfrm xmlns:a="http://schemas.openxmlformats.org/drawingml/2006/main">
            <a:off x="9191625" y="3581400"/>
            <a:ext cx="2343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572"/>
                </a:solidFill>
                <a:latin typeface="Arial"/>
                <a:ea typeface="Arial"/>
                <a:cs typeface="Arial"/>
              </a:defRPr>
            </a:pPr>
            <a:r>
              <a:rPr sz="1725" b="0">
                <a:solidFill>
                  <a:srgbClr val="536572"/>
                </a:solidFill>
                <a:latin typeface="Arial"/>
                <a:ea typeface="Arial"/>
                <a:cs typeface="Arial"/>
              </a:rPr>
              <a:t>Or say unresolved</a:t>
            </a:r>
          </a:p>
        </p:txBody>
      </p:sp>
      <p:sp>
        <p:nvSpPr>
          <p:cNvPr id="23" name="">
            <a:extLst xmlns:a="http://schemas.openxmlformats.org/drawingml/2006/main">
              <a:ext uri="{FF2B5EF4-FFF2-40B4-BE49-F238E27FC236}">
                <a16:creationId xmlns:a16="http://schemas.microsoft.com/office/drawing/2014/main" id="{FA41A1B9-5154-4EAD-AE84-8D340B0D9180}"/>
              </a:ext>
            </a:extLst>
          </p:cNvPr>
          <p:cNvSpPr>
            <a:spLocks xmlns:a="http://schemas.openxmlformats.org/drawingml/2006/main" noGrp="1"/>
          </p:cNvSpPr>
          <p:nvPr/>
        </p:nvSpPr>
        <p:spPr>
          <a:xfrm xmlns:a="http://schemas.openxmlformats.org/drawingml/2006/main">
            <a:off x="609600" y="4686300"/>
            <a:ext cx="3962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79"/>
                </a:solidFill>
                <a:latin typeface="Arial"/>
                <a:ea typeface="Arial"/>
                <a:cs typeface="Arial"/>
              </a:defRPr>
            </a:pPr>
            <a:r>
              <a:rPr sz="2325" b="1">
                <a:solidFill>
                  <a:srgbClr val="007F79"/>
                </a:solidFill>
                <a:latin typeface="Arial"/>
                <a:ea typeface="Arial"/>
                <a:cs typeface="Arial"/>
              </a:rPr>
              <a:t>Seal the decisions</a:t>
            </a:r>
          </a:p>
        </p:txBody>
      </p:sp>
      <p:sp>
        <p:nvSpPr>
          <p:cNvPr id="24" name="">
            <a:extLst xmlns:a="http://schemas.openxmlformats.org/drawingml/2006/main">
              <a:ext uri="{FF2B5EF4-FFF2-40B4-BE49-F238E27FC236}">
                <a16:creationId xmlns:a16="http://schemas.microsoft.com/office/drawing/2014/main" id="{CB9B6713-9BE9-4F1D-B87E-F2608BE4932D}"/>
              </a:ext>
            </a:extLst>
          </p:cNvPr>
          <p:cNvSpPr>
            <a:spLocks xmlns:a="http://schemas.openxmlformats.org/drawingml/2006/main" noGrp="1"/>
          </p:cNvSpPr>
          <p:nvPr/>
        </p:nvSpPr>
        <p:spPr>
          <a:xfrm xmlns:a="http://schemas.openxmlformats.org/drawingml/2006/main">
            <a:off x="4381500" y="4924425"/>
            <a:ext cx="1162050"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85C2537-6DE2-467B-8465-DB633EB2093B}"/>
              </a:ext>
            </a:extLst>
          </p:cNvPr>
          <p:cNvSpPr>
            <a:spLocks xmlns:a="http://schemas.openxmlformats.org/drawingml/2006/main" noGrp="1"/>
          </p:cNvSpPr>
          <p:nvPr/>
        </p:nvSpPr>
        <p:spPr>
          <a:xfrm xmlns:a="http://schemas.openxmlformats.org/drawingml/2006/main">
            <a:off x="5372100" y="485775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DDE19ED-03F3-4871-9081-C42E97D9BF11}"/>
              </a:ext>
            </a:extLst>
          </p:cNvPr>
          <p:cNvSpPr>
            <a:spLocks xmlns:a="http://schemas.openxmlformats.org/drawingml/2006/main" noGrp="1"/>
          </p:cNvSpPr>
          <p:nvPr/>
        </p:nvSpPr>
        <p:spPr>
          <a:xfrm xmlns:a="http://schemas.openxmlformats.org/drawingml/2006/main">
            <a:off x="5772150" y="4686300"/>
            <a:ext cx="5810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A75B17"/>
                </a:solidFill>
                <a:latin typeface="Arial"/>
                <a:ea typeface="Arial"/>
                <a:cs typeface="Arial"/>
              </a:defRPr>
            </a:pPr>
            <a:r>
              <a:rPr sz="2325" b="1">
                <a:solidFill>
                  <a:srgbClr val="A75B17"/>
                </a:solidFill>
                <a:latin typeface="Arial"/>
                <a:ea typeface="Arial"/>
                <a:cs typeface="Arial"/>
              </a:rPr>
              <a:t>Then compare with the private answers</a:t>
            </a:r>
          </a:p>
        </p:txBody>
      </p:sp>
      <p:sp>
        <p:nvSpPr>
          <p:cNvPr id="27" name="">
            <a:extLst xmlns:a="http://schemas.openxmlformats.org/drawingml/2006/main">
              <a:ext uri="{FF2B5EF4-FFF2-40B4-BE49-F238E27FC236}">
                <a16:creationId xmlns:a16="http://schemas.microsoft.com/office/drawing/2014/main" id="{803A4E60-6B8A-45DB-AAEC-359C40E63B64}"/>
              </a:ext>
            </a:extLst>
          </p:cNvPr>
          <p:cNvSpPr>
            <a:spLocks xmlns:a="http://schemas.openxmlformats.org/drawingml/2006/main" noGrp="1"/>
          </p:cNvSpPr>
          <p:nvPr/>
        </p:nvSpPr>
        <p:spPr>
          <a:xfrm xmlns:a="http://schemas.openxmlformats.org/drawingml/2006/main">
            <a:off x="609600" y="579120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Using the same final test lets us compare candidate discovery fairly.</a:t>
            </a:r>
          </a:p>
        </p:txBody>
      </p:sp>
    </p:spTree>
    <p:extLst>
      <p:ext uri="{BB962C8B-B14F-4D97-AF65-F5344CB8AC3E}">
        <p14:creationId xmlns:p14="http://schemas.microsoft.com/office/powerpoint/2010/main" val="988722619"/>
      </p:ext>
    </p:extLst>
  </p:cSld>
</p:sld>
</file>

<file path=ppt/slides/slide3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408BFB-CC82-42B1-9E1B-2F8FD5D228FE}"/>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New evidence: the primary comparison finished</a:t>
            </a:r>
          </a:p>
        </p:txBody>
      </p:sp>
      <p:sp>
        <p:nvSpPr>
          <p:cNvPr id="2" name="">
            <a:extLst xmlns:a="http://schemas.openxmlformats.org/drawingml/2006/main">
              <a:ext uri="{FF2B5EF4-FFF2-40B4-BE49-F238E27FC236}">
                <a16:creationId xmlns:a16="http://schemas.microsoft.com/office/drawing/2014/main" id="{076C3D8C-9627-48A9-9C65-46C765CAFE6A}"/>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ECF38570-7E33-465E-9632-5B5D13C4ED2F}"/>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39</a:t>
            </a:r>
          </a:p>
        </p:txBody>
      </p:sp>
      <p:sp>
        <p:nvSpPr>
          <p:cNvPr id="4" name="">
            <a:extLst xmlns:a="http://schemas.openxmlformats.org/drawingml/2006/main">
              <a:ext uri="{FF2B5EF4-FFF2-40B4-BE49-F238E27FC236}">
                <a16:creationId xmlns:a16="http://schemas.microsoft.com/office/drawing/2014/main" id="{954AE824-78A5-4015-A795-DF1FA4A43F61}"/>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 TLS13_PRIMARY_COMPARISON_RESULTS.md, recorded 2 October 2026</a:t>
            </a:r>
          </a:p>
        </p:txBody>
      </p:sp>
      <p:graphicFrame>
        <p:nvGraphicFramePr>
          <p:cNvPr id="12" name=""/>
          <p:cNvGraphicFramePr/>
          <p:nvPr/>
        </p:nvGraphicFramePr>
        <p:xfrm>
          <a:off xmlns:a="http://schemas.openxmlformats.org/drawingml/2006/main" x="609600" y="1914525"/>
          <a:ext xmlns:a="http://schemas.openxmlformats.org/drawingml/2006/main" cx="10972800" cy="3409950"/>
        </p:xfrm>
        <a:graphic xmlns:a="http://schemas.openxmlformats.org/drawingml/2006/main">
          <a:graphicData uri="http://schemas.openxmlformats.org/drawingml/2006/table">
            <a:tbl>
              <a:tblPr/>
              <a:tblGrid>
                <a:gridCol w="4057650"/>
                <a:gridCol w="2314575"/>
                <a:gridCol w="2409825"/>
                <a:gridCol w="2190750"/>
              </a:tblGrid>
              <a:tr h="568325">
                <a:tc>
                  <a:txBody>
                    <a:bodyPr/>
                    <a:lstStyle/>
                    <a:p>
                      <a:r>
                        <a:rPr sz="1800" b="1">
                          <a:solidFill>
                            <a:srgbClr val="FFFFFF"/>
                          </a:solidFill>
                          <a:latin typeface="Arial"/>
                          <a:ea typeface="Arial"/>
                          <a:cs typeface="Arial"/>
                        </a:rPr>
                        <a:t>Method</a:t>
                      </a:r>
                    </a:p>
                  </a:txBody>
                  <a:tcPr marL="91440" marR="91440" marT="45720" marB="45720">
                    <a:solidFill>
                      <a:srgbClr val="142E3E"/>
                    </a:solidFill>
                  </a:tcPr>
                </a:tc>
                <a:tc>
                  <a:txBody>
                    <a:bodyPr/>
                    <a:lstStyle/>
                    <a:p>
                      <a:r>
                        <a:rPr sz="1800" b="1">
                          <a:solidFill>
                            <a:srgbClr val="FFFFFF"/>
                          </a:solidFill>
                          <a:latin typeface="Arial"/>
                          <a:ea typeface="Arial"/>
                          <a:cs typeface="Arial"/>
                        </a:rPr>
                        <a:t>Complete positives</a:t>
                      </a:r>
                    </a:p>
                  </a:txBody>
                  <a:tcPr marL="91440" marR="91440" marT="45720" marB="45720">
                    <a:solidFill>
                      <a:srgbClr val="142E3E"/>
                    </a:solidFill>
                  </a:tcPr>
                </a:tc>
                <a:tc>
                  <a:txBody>
                    <a:bodyPr/>
                    <a:lstStyle/>
                    <a:p>
                      <a:r>
                        <a:rPr sz="1800" b="1">
                          <a:solidFill>
                            <a:srgbClr val="FFFFFF"/>
                          </a:solidFill>
                          <a:latin typeface="Arial"/>
                          <a:ea typeface="Arial"/>
                          <a:cs typeface="Arial"/>
                        </a:rPr>
                        <a:t>Correct targets</a:t>
                      </a:r>
                    </a:p>
                  </a:txBody>
                  <a:tcPr marL="91440" marR="91440" marT="45720" marB="45720">
                    <a:solidFill>
                      <a:srgbClr val="142E3E"/>
                    </a:solidFill>
                  </a:tcPr>
                </a:tc>
                <a:tc>
                  <a:txBody>
                    <a:bodyPr/>
                    <a:lstStyle/>
                    <a:p>
                      <a:r>
                        <a:rPr sz="1800" b="1">
                          <a:solidFill>
                            <a:srgbClr val="FFFFFF"/>
                          </a:solidFill>
                          <a:latin typeface="Arial"/>
                          <a:ea typeface="Arial"/>
                          <a:cs typeface="Arial"/>
                        </a:rPr>
                        <a:t>Median time</a:t>
                      </a:r>
                    </a:p>
                  </a:txBody>
                  <a:tcPr marL="91440" marR="91440" marT="45720" marB="45720">
                    <a:solidFill>
                      <a:srgbClr val="142E3E"/>
                    </a:solidFill>
                  </a:tcPr>
                </a:tc>
              </a:tr>
              <a:tr h="568325">
                <a:tc>
                  <a:txBody>
                    <a:bodyPr/>
                    <a:lstStyle/>
                    <a:p>
                      <a:r>
                        <a:rPr sz="1800" b="0">
                          <a:solidFill>
                            <a:srgbClr val="142E3E"/>
                          </a:solidFill>
                          <a:latin typeface="Arial"/>
                          <a:ea typeface="Arial"/>
                          <a:cs typeface="Arial"/>
                        </a:rPr>
                        <a:t>Structure + entropy</a:t>
                      </a:r>
                    </a:p>
                  </a:txBody>
                  <a:tcPr marL="91440" marR="91440" marT="45720" marB="45720">
                    <a:solidFill>
                      <a:srgbClr val="FFFFFF"/>
                    </a:solidFill>
                  </a:tcPr>
                </a:tc>
                <a:tc>
                  <a:txBody>
                    <a:bodyPr/>
                    <a:lstStyle/>
                    <a:p>
                      <a:r>
                        <a:rPr sz="1800" b="0">
                          <a:solidFill>
                            <a:srgbClr val="142E3E"/>
                          </a:solidFill>
                          <a:latin typeface="Arial"/>
                          <a:ea typeface="Arial"/>
                          <a:cs typeface="Arial"/>
                        </a:rPr>
                        <a:t>70 / 70</a:t>
                      </a:r>
                    </a:p>
                  </a:txBody>
                  <a:tcPr marL="91440" marR="91440" marT="45720" marB="45720">
                    <a:solidFill>
                      <a:srgbClr val="FFFFFF"/>
                    </a:solidFill>
                  </a:tcPr>
                </a:tc>
                <a:tc>
                  <a:txBody>
                    <a:bodyPr/>
                    <a:lstStyle/>
                    <a:p>
                      <a:r>
                        <a:rPr sz="1800" b="0">
                          <a:solidFill>
                            <a:srgbClr val="142E3E"/>
                          </a:solidFill>
                          <a:latin typeface="Arial"/>
                          <a:ea typeface="Arial"/>
                          <a:cs typeface="Arial"/>
                        </a:rPr>
                        <a:t>350 / 350</a:t>
                      </a:r>
                    </a:p>
                  </a:txBody>
                  <a:tcPr marL="91440" marR="91440" marT="45720" marB="45720">
                    <a:solidFill>
                      <a:srgbClr val="FFFFFF"/>
                    </a:solidFill>
                  </a:tcPr>
                </a:tc>
                <a:tc>
                  <a:txBody>
                    <a:bodyPr/>
                    <a:lstStyle/>
                    <a:p>
                      <a:r>
                        <a:rPr sz="1800" b="0">
                          <a:solidFill>
                            <a:srgbClr val="142E3E"/>
                          </a:solidFill>
                          <a:latin typeface="Arial"/>
                          <a:ea typeface="Arial"/>
                          <a:cs typeface="Arial"/>
                        </a:rPr>
                        <a:t>22.7 s</a:t>
                      </a:r>
                    </a:p>
                  </a:txBody>
                  <a:tcPr marL="91440" marR="91440" marT="45720" marB="45720">
                    <a:solidFill>
                      <a:srgbClr val="FFFFFF"/>
                    </a:solidFill>
                  </a:tcPr>
                </a:tc>
              </a:tr>
              <a:tr h="568325">
                <a:tc>
                  <a:txBody>
                    <a:bodyPr/>
                    <a:lstStyle/>
                    <a:p>
                      <a:r>
                        <a:rPr sz="1800" b="0">
                          <a:solidFill>
                            <a:srgbClr val="142E3E"/>
                          </a:solidFill>
                          <a:latin typeface="Arial"/>
                          <a:ea typeface="Arial"/>
                          <a:cs typeface="Arial"/>
                        </a:rPr>
                        <a:t>Structure only</a:t>
                      </a:r>
                    </a:p>
                  </a:txBody>
                  <a:tcPr marL="91440" marR="91440" marT="45720" marB="45720">
                    <a:solidFill>
                      <a:srgbClr val="E1EFEC"/>
                    </a:solidFill>
                  </a:tcPr>
                </a:tc>
                <a:tc>
                  <a:txBody>
                    <a:bodyPr/>
                    <a:lstStyle/>
                    <a:p>
                      <a:r>
                        <a:rPr sz="1800" b="0">
                          <a:solidFill>
                            <a:srgbClr val="142E3E"/>
                          </a:solidFill>
                          <a:latin typeface="Arial"/>
                          <a:ea typeface="Arial"/>
                          <a:cs typeface="Arial"/>
                        </a:rPr>
                        <a:t>70 / 70</a:t>
                      </a:r>
                    </a:p>
                  </a:txBody>
                  <a:tcPr marL="91440" marR="91440" marT="45720" marB="45720">
                    <a:solidFill>
                      <a:srgbClr val="E1EFEC"/>
                    </a:solidFill>
                  </a:tcPr>
                </a:tc>
                <a:tc>
                  <a:txBody>
                    <a:bodyPr/>
                    <a:lstStyle/>
                    <a:p>
                      <a:r>
                        <a:rPr sz="1800" b="0">
                          <a:solidFill>
                            <a:srgbClr val="142E3E"/>
                          </a:solidFill>
                          <a:latin typeface="Arial"/>
                          <a:ea typeface="Arial"/>
                          <a:cs typeface="Arial"/>
                        </a:rPr>
                        <a:t>350 / 350</a:t>
                      </a:r>
                    </a:p>
                  </a:txBody>
                  <a:tcPr marL="91440" marR="91440" marT="45720" marB="45720">
                    <a:solidFill>
                      <a:srgbClr val="E1EFEC"/>
                    </a:solidFill>
                  </a:tcPr>
                </a:tc>
                <a:tc>
                  <a:txBody>
                    <a:bodyPr/>
                    <a:lstStyle/>
                    <a:p>
                      <a:r>
                        <a:rPr sz="1800" b="0">
                          <a:solidFill>
                            <a:srgbClr val="142E3E"/>
                          </a:solidFill>
                          <a:latin typeface="Arial"/>
                          <a:ea typeface="Arial"/>
                          <a:cs typeface="Arial"/>
                        </a:rPr>
                        <a:t>17.3 s</a:t>
                      </a:r>
                    </a:p>
                  </a:txBody>
                  <a:tcPr marL="91440" marR="91440" marT="45720" marB="45720">
                    <a:solidFill>
                      <a:srgbClr val="E1EFEC"/>
                    </a:solidFill>
                  </a:tcPr>
                </a:tc>
              </a:tr>
              <a:tr h="568325">
                <a:tc>
                  <a:txBody>
                    <a:bodyPr/>
                    <a:lstStyle/>
                    <a:p>
                      <a:r>
                        <a:rPr sz="1800" b="0">
                          <a:solidFill>
                            <a:srgbClr val="142E3E"/>
                          </a:solidFill>
                          <a:latin typeface="Arial"/>
                          <a:ea typeface="Arial"/>
                          <a:cs typeface="Arial"/>
                        </a:rPr>
                        <a:t>Anderson adaptation</a:t>
                      </a:r>
                    </a:p>
                  </a:txBody>
                  <a:tcPr marL="91440" marR="91440" marT="45720" marB="45720">
                    <a:solidFill>
                      <a:srgbClr val="FFFFFF"/>
                    </a:solidFill>
                  </a:tcPr>
                </a:tc>
                <a:tc>
                  <a:txBody>
                    <a:bodyPr/>
                    <a:lstStyle/>
                    <a:p>
                      <a:r>
                        <a:rPr sz="1800" b="0">
                          <a:solidFill>
                            <a:srgbClr val="142E3E"/>
                          </a:solidFill>
                          <a:latin typeface="Arial"/>
                          <a:ea typeface="Arial"/>
                          <a:cs typeface="Arial"/>
                        </a:rPr>
                        <a:t>69 / 70</a:t>
                      </a:r>
                    </a:p>
                  </a:txBody>
                  <a:tcPr marL="91440" marR="91440" marT="45720" marB="45720">
                    <a:solidFill>
                      <a:srgbClr val="FFFFFF"/>
                    </a:solidFill>
                  </a:tcPr>
                </a:tc>
                <a:tc>
                  <a:txBody>
                    <a:bodyPr/>
                    <a:lstStyle/>
                    <a:p>
                      <a:r>
                        <a:rPr sz="1800" b="0">
                          <a:solidFill>
                            <a:srgbClr val="142E3E"/>
                          </a:solidFill>
                          <a:latin typeface="Arial"/>
                          <a:ea typeface="Arial"/>
                          <a:cs typeface="Arial"/>
                        </a:rPr>
                        <a:t>347 / 350</a:t>
                      </a:r>
                    </a:p>
                  </a:txBody>
                  <a:tcPr marL="91440" marR="91440" marT="45720" marB="45720">
                    <a:solidFill>
                      <a:srgbClr val="FFFFFF"/>
                    </a:solidFill>
                  </a:tcPr>
                </a:tc>
                <a:tc>
                  <a:txBody>
                    <a:bodyPr/>
                    <a:lstStyle/>
                    <a:p>
                      <a:r>
                        <a:rPr sz="1800" b="0">
                          <a:solidFill>
                            <a:srgbClr val="142E3E"/>
                          </a:solidFill>
                          <a:latin typeface="Arial"/>
                          <a:ea typeface="Arial"/>
                          <a:cs typeface="Arial"/>
                        </a:rPr>
                        <a:t>20.3 s</a:t>
                      </a:r>
                    </a:p>
                  </a:txBody>
                  <a:tcPr marL="91440" marR="91440" marT="45720" marB="45720">
                    <a:solidFill>
                      <a:srgbClr val="FFFFFF"/>
                    </a:solidFill>
                  </a:tcPr>
                </a:tc>
              </a:tr>
              <a:tr h="568325">
                <a:tc>
                  <a:txBody>
                    <a:bodyPr/>
                    <a:lstStyle/>
                    <a:p>
                      <a:r>
                        <a:rPr sz="1800" b="0">
                          <a:solidFill>
                            <a:srgbClr val="142E3E"/>
                          </a:solidFill>
                          <a:latin typeface="Arial"/>
                          <a:ea typeface="Arial"/>
                          <a:cs typeface="Arial"/>
                        </a:rPr>
                        <a:t>Historical entropy only</a:t>
                      </a:r>
                    </a:p>
                  </a:txBody>
                  <a:tcPr marL="91440" marR="91440" marT="45720" marB="45720">
                    <a:solidFill>
                      <a:srgbClr val="E1EFEC"/>
                    </a:solidFill>
                  </a:tcPr>
                </a:tc>
                <a:tc>
                  <a:txBody>
                    <a:bodyPr/>
                    <a:lstStyle/>
                    <a:p>
                      <a:r>
                        <a:rPr sz="1800" b="0">
                          <a:solidFill>
                            <a:srgbClr val="142E3E"/>
                          </a:solidFill>
                          <a:latin typeface="Arial"/>
                          <a:ea typeface="Arial"/>
                          <a:cs typeface="Arial"/>
                        </a:rPr>
                        <a:t>0 / 70</a:t>
                      </a:r>
                    </a:p>
                  </a:txBody>
                  <a:tcPr marL="91440" marR="91440" marT="45720" marB="45720">
                    <a:solidFill>
                      <a:srgbClr val="E1EFEC"/>
                    </a:solidFill>
                  </a:tcPr>
                </a:tc>
                <a:tc>
                  <a:txBody>
                    <a:bodyPr/>
                    <a:lstStyle/>
                    <a:p>
                      <a:r>
                        <a:rPr sz="1800" b="0">
                          <a:solidFill>
                            <a:srgbClr val="142E3E"/>
                          </a:solidFill>
                          <a:latin typeface="Arial"/>
                          <a:ea typeface="Arial"/>
                          <a:cs typeface="Arial"/>
                        </a:rPr>
                        <a:t>1 / 350</a:t>
                      </a:r>
                    </a:p>
                  </a:txBody>
                  <a:tcPr marL="91440" marR="91440" marT="45720" marB="45720">
                    <a:solidFill>
                      <a:srgbClr val="E1EFEC"/>
                    </a:solidFill>
                  </a:tcPr>
                </a:tc>
                <a:tc>
                  <a:txBody>
                    <a:bodyPr/>
                    <a:lstStyle/>
                    <a:p>
                      <a:r>
                        <a:rPr sz="1800" b="0">
                          <a:solidFill>
                            <a:srgbClr val="142E3E"/>
                          </a:solidFill>
                          <a:latin typeface="Arial"/>
                          <a:ea typeface="Arial"/>
                          <a:cs typeface="Arial"/>
                        </a:rPr>
                        <a:t>187.7 s</a:t>
                      </a:r>
                    </a:p>
                  </a:txBody>
                  <a:tcPr marL="91440" marR="91440" marT="45720" marB="45720">
                    <a:solidFill>
                      <a:srgbClr val="E1EFEC"/>
                    </a:solidFill>
                  </a:tcPr>
                </a:tc>
              </a:tr>
              <a:tr h="568325">
                <a:tc>
                  <a:txBody>
                    <a:bodyPr/>
                    <a:lstStyle/>
                    <a:p>
                      <a:r>
                        <a:rPr sz="1800" b="0">
                          <a:solidFill>
                            <a:srgbClr val="142E3E"/>
                          </a:solidFill>
                          <a:latin typeface="Arial"/>
                          <a:ea typeface="Arial"/>
                          <a:cs typeface="Arial"/>
                        </a:rPr>
                        <a:t>X-Ray baseline adaptation</a:t>
                      </a:r>
                    </a:p>
                  </a:txBody>
                  <a:tcPr marL="91440" marR="91440" marT="45720" marB="45720">
                    <a:solidFill>
                      <a:srgbClr val="FFFFFF"/>
                    </a:solidFill>
                  </a:tcPr>
                </a:tc>
                <a:tc>
                  <a:txBody>
                    <a:bodyPr/>
                    <a:lstStyle/>
                    <a:p>
                      <a:r>
                        <a:rPr sz="1800" b="0">
                          <a:solidFill>
                            <a:srgbClr val="142E3E"/>
                          </a:solidFill>
                          <a:latin typeface="Arial"/>
                          <a:ea typeface="Arial"/>
                          <a:cs typeface="Arial"/>
                        </a:rPr>
                        <a:t>0 / 70</a:t>
                      </a:r>
                    </a:p>
                  </a:txBody>
                  <a:tcPr marL="91440" marR="91440" marT="45720" marB="45720">
                    <a:solidFill>
                      <a:srgbClr val="FFFFFF"/>
                    </a:solidFill>
                  </a:tcPr>
                </a:tc>
                <a:tc>
                  <a:txBody>
                    <a:bodyPr/>
                    <a:lstStyle/>
                    <a:p>
                      <a:r>
                        <a:rPr sz="1800" b="0">
                          <a:solidFill>
                            <a:srgbClr val="142E3E"/>
                          </a:solidFill>
                          <a:latin typeface="Arial"/>
                          <a:ea typeface="Arial"/>
                          <a:cs typeface="Arial"/>
                        </a:rPr>
                        <a:t>0 / 350</a:t>
                      </a:r>
                    </a:p>
                  </a:txBody>
                  <a:tcPr marL="91440" marR="91440" marT="45720" marB="45720">
                    <a:solidFill>
                      <a:srgbClr val="FFFFFF"/>
                    </a:solidFill>
                  </a:tcPr>
                </a:tc>
                <a:tc>
                  <a:txBody>
                    <a:bodyPr/>
                    <a:lstStyle/>
                    <a:p>
                      <a:r>
                        <a:rPr sz="1800" b="0">
                          <a:solidFill>
                            <a:srgbClr val="142E3E"/>
                          </a:solidFill>
                          <a:latin typeface="Arial"/>
                          <a:ea typeface="Arial"/>
                          <a:cs typeface="Arial"/>
                        </a:rPr>
                        <a:t>187.4 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0702239-93EE-40F3-97AB-8E982194716B}"/>
              </a:ext>
            </a:extLst>
          </p:cNvPr>
          <p:cNvSpPr>
            <a:spLocks xmlns:a="http://schemas.openxmlformats.org/drawingml/2006/main" noGrp="1"/>
          </p:cNvSpPr>
          <p:nvPr/>
        </p:nvSpPr>
        <p:spPr>
          <a:xfrm xmlns:a="http://schemas.openxmlformats.org/drawingml/2006/main">
            <a:off x="609600" y="5505450"/>
            <a:ext cx="10810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7F79"/>
                </a:solidFill>
                <a:latin typeface="Arial"/>
                <a:ea typeface="Arial"/>
                <a:cs typeface="Arial"/>
              </a:defRPr>
            </a:pPr>
            <a:r>
              <a:rPr sz="1950" b="1">
                <a:solidFill>
                  <a:srgbClr val="007F79"/>
                </a:solidFill>
                <a:latin typeface="Arial"/>
                <a:ea typeface="Arial"/>
                <a:cs typeface="Arial"/>
              </a:rPr>
              <a:t>Zero false assignments in all arms. Same 100 retained cases, 180 seconds, K = 100.</a:t>
            </a:r>
          </a:p>
        </p:txBody>
      </p:sp>
      <p:sp>
        <p:nvSpPr>
          <p:cNvPr id="7" name="">
            <a:extLst xmlns:a="http://schemas.openxmlformats.org/drawingml/2006/main">
              <a:ext uri="{FF2B5EF4-FFF2-40B4-BE49-F238E27FC236}">
                <a16:creationId xmlns:a16="http://schemas.microsoft.com/office/drawing/2014/main" id="{B5333257-0587-4B66-AF98-A5FFFD084907}"/>
              </a:ext>
            </a:extLst>
          </p:cNvPr>
          <p:cNvSpPr>
            <a:spLocks xmlns:a="http://schemas.openxmlformats.org/drawingml/2006/main" noGrp="1"/>
          </p:cNvSpPr>
          <p:nvPr/>
        </p:nvSpPr>
        <p:spPr>
          <a:xfrm xmlns:a="http://schemas.openxmlformats.org/drawingml/2006/main">
            <a:off x="609600" y="5953125"/>
            <a:ext cx="10810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572"/>
                </a:solidFill>
                <a:latin typeface="Arial"/>
                <a:ea typeface="Arial"/>
                <a:cs typeface="Arial"/>
              </a:defRPr>
            </a:pPr>
            <a:r>
              <a:rPr sz="1575" b="0">
                <a:solidFill>
                  <a:srgbClr val="536572"/>
                </a:solidFill>
                <a:latin typeface="Arial"/>
                <a:ea typeface="Arial"/>
                <a:cs typeface="Arial"/>
              </a:rPr>
              <a:t>Time is median positive-case wall time, including assignment.</a:t>
            </a:r>
          </a:p>
        </p:txBody>
      </p:sp>
    </p:spTree>
    <p:extLst>
      <p:ext uri="{BB962C8B-B14F-4D97-AF65-F5344CB8AC3E}">
        <p14:creationId xmlns:p14="http://schemas.microsoft.com/office/powerpoint/2010/main" val="1431142835"/>
      </p:ext>
    </p:extLst>
  </p:cSld>
</p:sld>
</file>

<file path=ppt/slides/slide4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F970A5-1683-421D-B282-844D9C274016}"/>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How the budget grid works</a:t>
            </a:r>
          </a:p>
        </p:txBody>
      </p:sp>
      <p:sp>
        <p:nvSpPr>
          <p:cNvPr id="2" name="">
            <a:extLst xmlns:a="http://schemas.openxmlformats.org/drawingml/2006/main">
              <a:ext uri="{FF2B5EF4-FFF2-40B4-BE49-F238E27FC236}">
                <a16:creationId xmlns:a16="http://schemas.microsoft.com/office/drawing/2014/main" id="{8ADDA77C-5E38-473B-BD1D-19416068E0BE}"/>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1C462D60-F1CD-4C99-BF3C-10280771A566}"/>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40</a:t>
            </a:r>
          </a:p>
        </p:txBody>
      </p:sp>
      <p:sp>
        <p:nvSpPr>
          <p:cNvPr id="4" name="">
            <a:extLst xmlns:a="http://schemas.openxmlformats.org/drawingml/2006/main">
              <a:ext uri="{FF2B5EF4-FFF2-40B4-BE49-F238E27FC236}">
                <a16:creationId xmlns:a16="http://schemas.microsoft.com/office/drawing/2014/main" id="{3024608D-4FAE-4A3E-B5AD-AC3FC5EE1299}"/>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 sensitivity manifest and controller; grid started, full results pending</a:t>
            </a:r>
          </a:p>
        </p:txBody>
      </p:sp>
      <p:sp>
        <p:nvSpPr>
          <p:cNvPr id="5" name="">
            <a:extLst xmlns:a="http://schemas.openxmlformats.org/drawingml/2006/main">
              <a:ext uri="{FF2B5EF4-FFF2-40B4-BE49-F238E27FC236}">
                <a16:creationId xmlns:a16="http://schemas.microsoft.com/office/drawing/2014/main" id="{1BA511BA-AF77-453E-BB38-F6D0B426F009}"/>
              </a:ext>
            </a:extLst>
          </p:cNvPr>
          <p:cNvSpPr>
            <a:spLocks xmlns:a="http://schemas.openxmlformats.org/drawingml/2006/main" noGrp="1"/>
          </p:cNvSpPr>
          <p:nvPr/>
        </p:nvSpPr>
        <p:spPr>
          <a:xfrm xmlns:a="http://schemas.openxmlformats.org/drawingml/2006/main">
            <a:off x="609600" y="1809750"/>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79"/>
                </a:solidFill>
                <a:latin typeface="Arial"/>
                <a:ea typeface="Arial"/>
                <a:cs typeface="Arial"/>
              </a:defRPr>
            </a:pPr>
            <a:r>
              <a:rPr sz="2100" b="1">
                <a:solidFill>
                  <a:srgbClr val="007F79"/>
                </a:solidFill>
                <a:latin typeface="Arial"/>
                <a:ea typeface="Arial"/>
                <a:cs typeface="Arial"/>
              </a:rPr>
              <a:t>Search time controls how long we look. K limits candidates sent to validation.</a:t>
            </a:r>
          </a:p>
        </p:txBody>
      </p:sp>
      <p:graphicFrame>
        <p:nvGraphicFramePr>
          <p:cNvPr id="14" name=""/>
          <p:cNvGraphicFramePr/>
          <p:nvPr/>
        </p:nvGraphicFramePr>
        <p:xfrm>
          <a:off xmlns:a="http://schemas.openxmlformats.org/drawingml/2006/main" x="609600" y="2771775"/>
          <a:ext xmlns:a="http://schemas.openxmlformats.org/drawingml/2006/main" cx="10972800" cy="2552700"/>
        </p:xfrm>
        <a:graphic xmlns:a="http://schemas.openxmlformats.org/drawingml/2006/main">
          <a:graphicData uri="http://schemas.openxmlformats.org/drawingml/2006/table">
            <a:tbl>
              <a:tblPr/>
              <a:tblGrid>
                <a:gridCol w="3028950"/>
                <a:gridCol w="2647950"/>
                <a:gridCol w="2647950"/>
                <a:gridCol w="2647950"/>
              </a:tblGrid>
              <a:tr h="638175">
                <a:tc>
                  <a:txBody>
                    <a:bodyPr/>
                    <a:lstStyle/>
                    <a:p>
                      <a:r>
                        <a:rPr sz="1875" b="1">
                          <a:solidFill>
                            <a:srgbClr val="FFFFFF"/>
                          </a:solidFill>
                          <a:latin typeface="Arial"/>
                          <a:ea typeface="Arial"/>
                          <a:cs typeface="Arial"/>
                        </a:rPr>
                        <a:t>Search time</a:t>
                      </a:r>
                    </a:p>
                  </a:txBody>
                  <a:tcPr marL="91440" marR="91440" marT="45720" marB="45720">
                    <a:solidFill>
                      <a:srgbClr val="142E3E"/>
                    </a:solidFill>
                  </a:tcPr>
                </a:tc>
                <a:tc>
                  <a:txBody>
                    <a:bodyPr/>
                    <a:lstStyle/>
                    <a:p>
                      <a:r>
                        <a:rPr sz="1875" b="1">
                          <a:solidFill>
                            <a:srgbClr val="FFFFFF"/>
                          </a:solidFill>
                          <a:latin typeface="Arial"/>
                          <a:ea typeface="Arial"/>
                          <a:cs typeface="Arial"/>
                        </a:rPr>
                        <a:t>K = 25</a:t>
                      </a:r>
                    </a:p>
                  </a:txBody>
                  <a:tcPr marL="91440" marR="91440" marT="45720" marB="45720">
                    <a:solidFill>
                      <a:srgbClr val="142E3E"/>
                    </a:solidFill>
                  </a:tcPr>
                </a:tc>
                <a:tc>
                  <a:txBody>
                    <a:bodyPr/>
                    <a:lstStyle/>
                    <a:p>
                      <a:r>
                        <a:rPr sz="1875" b="1">
                          <a:solidFill>
                            <a:srgbClr val="FFFFFF"/>
                          </a:solidFill>
                          <a:latin typeface="Arial"/>
                          <a:ea typeface="Arial"/>
                          <a:cs typeface="Arial"/>
                        </a:rPr>
                        <a:t>K = 100</a:t>
                      </a:r>
                    </a:p>
                  </a:txBody>
                  <a:tcPr marL="91440" marR="91440" marT="45720" marB="45720">
                    <a:solidFill>
                      <a:srgbClr val="142E3E"/>
                    </a:solidFill>
                  </a:tcPr>
                </a:tc>
                <a:tc>
                  <a:txBody>
                    <a:bodyPr/>
                    <a:lstStyle/>
                    <a:p>
                      <a:r>
                        <a:rPr sz="1875" b="1">
                          <a:solidFill>
                            <a:srgbClr val="FFFFFF"/>
                          </a:solidFill>
                          <a:latin typeface="Arial"/>
                          <a:ea typeface="Arial"/>
                          <a:cs typeface="Arial"/>
                        </a:rPr>
                        <a:t>K = 1000</a:t>
                      </a:r>
                    </a:p>
                  </a:txBody>
                  <a:tcPr marL="91440" marR="91440" marT="45720" marB="45720">
                    <a:solidFill>
                      <a:srgbClr val="142E3E"/>
                    </a:solidFill>
                  </a:tcPr>
                </a:tc>
              </a:tr>
              <a:tr h="638175">
                <a:tc>
                  <a:txBody>
                    <a:bodyPr/>
                    <a:lstStyle/>
                    <a:p>
                      <a:r>
                        <a:rPr sz="1875" b="0">
                          <a:solidFill>
                            <a:srgbClr val="142E3E"/>
                          </a:solidFill>
                          <a:latin typeface="Arial"/>
                          <a:ea typeface="Arial"/>
                          <a:cs typeface="Arial"/>
                        </a:rPr>
                        <a:t>30 seconds</a:t>
                      </a:r>
                    </a:p>
                  </a:txBody>
                  <a:tcPr marL="91440" marR="91440" marT="45720" marB="45720">
                    <a:solidFill>
                      <a:srgbClr val="FFFFFF"/>
                    </a:solidFill>
                  </a:tcPr>
                </a:tc>
                <a:tc>
                  <a:txBody>
                    <a:bodyPr/>
                    <a:lstStyle/>
                    <a:p>
                      <a:r>
                        <a:rPr sz="1875" b="0">
                          <a:solidFill>
                            <a:srgbClr val="142E3E"/>
                          </a:solidFill>
                          <a:latin typeface="Arial"/>
                          <a:ea typeface="Arial"/>
                          <a:cs typeface="Arial"/>
                        </a:rPr>
                        <a:t>30 s / 25</a:t>
                      </a:r>
                    </a:p>
                  </a:txBody>
                  <a:tcPr marL="91440" marR="91440" marT="45720" marB="45720">
                    <a:solidFill>
                      <a:srgbClr val="FFFFFF"/>
                    </a:solidFill>
                  </a:tcPr>
                </a:tc>
                <a:tc>
                  <a:txBody>
                    <a:bodyPr/>
                    <a:lstStyle/>
                    <a:p>
                      <a:r>
                        <a:rPr sz="1875" b="0">
                          <a:solidFill>
                            <a:srgbClr val="142E3E"/>
                          </a:solidFill>
                          <a:latin typeface="Arial"/>
                          <a:ea typeface="Arial"/>
                          <a:cs typeface="Arial"/>
                        </a:rPr>
                        <a:t>30 s / 100</a:t>
                      </a:r>
                    </a:p>
                  </a:txBody>
                  <a:tcPr marL="91440" marR="91440" marT="45720" marB="45720">
                    <a:solidFill>
                      <a:srgbClr val="FFFFFF"/>
                    </a:solidFill>
                  </a:tcPr>
                </a:tc>
                <a:tc>
                  <a:txBody>
                    <a:bodyPr/>
                    <a:lstStyle/>
                    <a:p>
                      <a:r>
                        <a:rPr sz="1875" b="0">
                          <a:solidFill>
                            <a:srgbClr val="142E3E"/>
                          </a:solidFill>
                          <a:latin typeface="Arial"/>
                          <a:ea typeface="Arial"/>
                          <a:cs typeface="Arial"/>
                        </a:rPr>
                        <a:t>30 s / 1000</a:t>
                      </a:r>
                    </a:p>
                  </a:txBody>
                  <a:tcPr marL="91440" marR="91440" marT="45720" marB="45720">
                    <a:solidFill>
                      <a:srgbClr val="FFFFFF"/>
                    </a:solidFill>
                  </a:tcPr>
                </a:tc>
              </a:tr>
              <a:tr h="638175">
                <a:tc>
                  <a:txBody>
                    <a:bodyPr/>
                    <a:lstStyle/>
                    <a:p>
                      <a:r>
                        <a:rPr sz="1875" b="0">
                          <a:solidFill>
                            <a:srgbClr val="142E3E"/>
                          </a:solidFill>
                          <a:latin typeface="Arial"/>
                          <a:ea typeface="Arial"/>
                          <a:cs typeface="Arial"/>
                        </a:rPr>
                        <a:t>180 seconds</a:t>
                      </a:r>
                    </a:p>
                  </a:txBody>
                  <a:tcPr marL="91440" marR="91440" marT="45720" marB="45720">
                    <a:solidFill>
                      <a:srgbClr val="E1EFEC"/>
                    </a:solidFill>
                  </a:tcPr>
                </a:tc>
                <a:tc>
                  <a:txBody>
                    <a:bodyPr/>
                    <a:lstStyle/>
                    <a:p>
                      <a:r>
                        <a:rPr sz="1875" b="0">
                          <a:solidFill>
                            <a:srgbClr val="142E3E"/>
                          </a:solidFill>
                          <a:latin typeface="Arial"/>
                          <a:ea typeface="Arial"/>
                          <a:cs typeface="Arial"/>
                        </a:rPr>
                        <a:t>180 s / 25</a:t>
                      </a:r>
                    </a:p>
                  </a:txBody>
                  <a:tcPr marL="91440" marR="91440" marT="45720" marB="45720">
                    <a:solidFill>
                      <a:srgbClr val="E1EFEC"/>
                    </a:solidFill>
                  </a:tcPr>
                </a:tc>
                <a:tc>
                  <a:txBody>
                    <a:bodyPr/>
                    <a:lstStyle/>
                    <a:p>
                      <a:r>
                        <a:rPr sz="1875" b="1">
                          <a:solidFill>
                            <a:srgbClr val="142E3E"/>
                          </a:solidFill>
                          <a:latin typeface="Arial"/>
                          <a:ea typeface="Arial"/>
                          <a:cs typeface="Arial"/>
                        </a:rPr>
                        <a:t>PRIMARY</a:t>
                      </a:r>
                    </a:p>
                    <a:p>
                      <a:r>
                        <a:rPr sz="1875" b="1">
                          <a:solidFill>
                            <a:srgbClr val="142E3E"/>
                          </a:solidFill>
                          <a:latin typeface="Arial"/>
                          <a:ea typeface="Arial"/>
                          <a:cs typeface="Arial"/>
                        </a:rPr>
                        <a:t>180 s / 100</a:t>
                      </a:r>
                    </a:p>
                  </a:txBody>
                  <a:tcPr marL="91440" marR="91440" marT="45720" marB="45720">
                    <a:solidFill>
                      <a:srgbClr val="B9DCD6"/>
                    </a:solidFill>
                  </a:tcPr>
                </a:tc>
                <a:tc>
                  <a:txBody>
                    <a:bodyPr/>
                    <a:lstStyle/>
                    <a:p>
                      <a:r>
                        <a:rPr sz="1875" b="0">
                          <a:solidFill>
                            <a:srgbClr val="142E3E"/>
                          </a:solidFill>
                          <a:latin typeface="Arial"/>
                          <a:ea typeface="Arial"/>
                          <a:cs typeface="Arial"/>
                        </a:rPr>
                        <a:t>180 s / 1000</a:t>
                      </a:r>
                    </a:p>
                  </a:txBody>
                  <a:tcPr marL="91440" marR="91440" marT="45720" marB="45720">
                    <a:solidFill>
                      <a:srgbClr val="E1EFEC"/>
                    </a:solidFill>
                  </a:tcPr>
                </a:tc>
              </a:tr>
              <a:tr h="638175">
                <a:tc>
                  <a:txBody>
                    <a:bodyPr/>
                    <a:lstStyle/>
                    <a:p>
                      <a:r>
                        <a:rPr sz="1875" b="0">
                          <a:solidFill>
                            <a:srgbClr val="142E3E"/>
                          </a:solidFill>
                          <a:latin typeface="Arial"/>
                          <a:ea typeface="Arial"/>
                          <a:cs typeface="Arial"/>
                        </a:rPr>
                        <a:t>600 seconds</a:t>
                      </a:r>
                    </a:p>
                  </a:txBody>
                  <a:tcPr marL="91440" marR="91440" marT="45720" marB="45720">
                    <a:solidFill>
                      <a:srgbClr val="FFFFFF"/>
                    </a:solidFill>
                  </a:tcPr>
                </a:tc>
                <a:tc>
                  <a:txBody>
                    <a:bodyPr/>
                    <a:lstStyle/>
                    <a:p>
                      <a:r>
                        <a:rPr sz="1875" b="0">
                          <a:solidFill>
                            <a:srgbClr val="142E3E"/>
                          </a:solidFill>
                          <a:latin typeface="Arial"/>
                          <a:ea typeface="Arial"/>
                          <a:cs typeface="Arial"/>
                        </a:rPr>
                        <a:t>600 s / 25</a:t>
                      </a:r>
                    </a:p>
                  </a:txBody>
                  <a:tcPr marL="91440" marR="91440" marT="45720" marB="45720">
                    <a:solidFill>
                      <a:srgbClr val="FFFFFF"/>
                    </a:solidFill>
                  </a:tcPr>
                </a:tc>
                <a:tc>
                  <a:txBody>
                    <a:bodyPr/>
                    <a:lstStyle/>
                    <a:p>
                      <a:r>
                        <a:rPr sz="1875" b="0">
                          <a:solidFill>
                            <a:srgbClr val="142E3E"/>
                          </a:solidFill>
                          <a:latin typeface="Arial"/>
                          <a:ea typeface="Arial"/>
                          <a:cs typeface="Arial"/>
                        </a:rPr>
                        <a:t>600 s / 100</a:t>
                      </a:r>
                    </a:p>
                  </a:txBody>
                  <a:tcPr marL="91440" marR="91440" marT="45720" marB="45720">
                    <a:solidFill>
                      <a:srgbClr val="FFFFFF"/>
                    </a:solidFill>
                  </a:tcPr>
                </a:tc>
                <a:tc>
                  <a:txBody>
                    <a:bodyPr/>
                    <a:lstStyle/>
                    <a:p>
                      <a:r>
                        <a:rPr sz="1875" b="0">
                          <a:solidFill>
                            <a:srgbClr val="142E3E"/>
                          </a:solidFill>
                          <a:latin typeface="Arial"/>
                          <a:ea typeface="Arial"/>
                          <a:cs typeface="Arial"/>
                        </a:rPr>
                        <a:t>600 s / 1000</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649637B-2558-4F2B-8861-5B36E2F0EB26}"/>
              </a:ext>
            </a:extLst>
          </p:cNvPr>
          <p:cNvSpPr>
            <a:spLocks xmlns:a="http://schemas.openxmlformats.org/drawingml/2006/main" noGrp="1"/>
          </p:cNvSpPr>
          <p:nvPr/>
        </p:nvSpPr>
        <p:spPr>
          <a:xfrm xmlns:a="http://schemas.openxmlformats.org/drawingml/2006/main">
            <a:off x="609600" y="55054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20 cases × 9 settings × 5 methods = 900 method runs in the declared grid</a:t>
            </a:r>
          </a:p>
        </p:txBody>
      </p:sp>
      <p:sp>
        <p:nvSpPr>
          <p:cNvPr id="8" name="">
            <a:extLst xmlns:a="http://schemas.openxmlformats.org/drawingml/2006/main">
              <a:ext uri="{FF2B5EF4-FFF2-40B4-BE49-F238E27FC236}">
                <a16:creationId xmlns:a16="http://schemas.microsoft.com/office/drawing/2014/main" id="{11C71D1F-0B2D-494C-A8A2-7C64E4F017FA}"/>
              </a:ext>
            </a:extLst>
          </p:cNvPr>
          <p:cNvSpPr>
            <a:spLocks xmlns:a="http://schemas.openxmlformats.org/drawingml/2006/main" noGrp="1"/>
          </p:cNvSpPr>
          <p:nvPr/>
        </p:nvSpPr>
        <p:spPr>
          <a:xfrm xmlns:a="http://schemas.openxmlformats.org/drawingml/2006/main">
            <a:off x="609600" y="5953125"/>
            <a:ext cx="1090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572"/>
                </a:solidFill>
                <a:latin typeface="Arial"/>
                <a:ea typeface="Arial"/>
                <a:cs typeface="Arial"/>
              </a:defRPr>
            </a:pPr>
            <a:r>
              <a:rPr sz="1575" b="0">
                <a:solidFill>
                  <a:srgbClr val="536572"/>
                </a:solidFill>
                <a:latin typeface="Arial"/>
                <a:ea typeface="Arial"/>
                <a:cs typeface="Arial"/>
              </a:rPr>
              <a:t>The same 20 cases are reused. Record authentication gets a separate 300-second budget.</a:t>
            </a:r>
          </a:p>
        </p:txBody>
      </p:sp>
    </p:spTree>
    <p:extLst>
      <p:ext uri="{BB962C8B-B14F-4D97-AF65-F5344CB8AC3E}">
        <p14:creationId xmlns:p14="http://schemas.microsoft.com/office/powerpoint/2010/main" val="157670861"/>
      </p:ext>
    </p:extLst>
  </p:cSld>
</p:sld>
</file>

<file path=ppt/slides/slide4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6C8915F-5B7B-473D-A7A1-E6C3E8B05CDB}"/>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What we need to learn next</a:t>
            </a:r>
          </a:p>
        </p:txBody>
      </p:sp>
      <p:sp>
        <p:nvSpPr>
          <p:cNvPr id="2" name="">
            <a:extLst xmlns:a="http://schemas.openxmlformats.org/drawingml/2006/main">
              <a:ext uri="{FF2B5EF4-FFF2-40B4-BE49-F238E27FC236}">
                <a16:creationId xmlns:a16="http://schemas.microsoft.com/office/drawing/2014/main" id="{A143524F-0DB1-4F7C-A4F6-15A5B846813D}"/>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F050F8C9-2AB0-4266-81D5-A2133C06BC7C}"/>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41</a:t>
            </a:r>
          </a:p>
        </p:txBody>
      </p:sp>
      <p:sp>
        <p:nvSpPr>
          <p:cNvPr id="4" name="">
            <a:extLst xmlns:a="http://schemas.openxmlformats.org/drawingml/2006/main">
              <a:ext uri="{FF2B5EF4-FFF2-40B4-BE49-F238E27FC236}">
                <a16:creationId xmlns:a16="http://schemas.microsoft.com/office/drawing/2014/main" id="{72C53206-4BE2-4DE0-BC4F-85F1E820690F}"/>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Research goal after the retained-case primary comparison</a:t>
            </a:r>
          </a:p>
        </p:txBody>
      </p:sp>
      <p:sp>
        <p:nvSpPr>
          <p:cNvPr id="5" name="">
            <a:extLst xmlns:a="http://schemas.openxmlformats.org/drawingml/2006/main">
              <a:ext uri="{FF2B5EF4-FFF2-40B4-BE49-F238E27FC236}">
                <a16:creationId xmlns:a16="http://schemas.microsoft.com/office/drawing/2014/main" id="{3CF889B8-A002-4BD8-A796-6251CFB6A10D}"/>
              </a:ext>
            </a:extLst>
          </p:cNvPr>
          <p:cNvSpPr>
            <a:spLocks xmlns:a="http://schemas.openxmlformats.org/drawingml/2006/main" noGrp="1"/>
          </p:cNvSpPr>
          <p:nvPr/>
        </p:nvSpPr>
        <p:spPr>
          <a:xfrm xmlns:a="http://schemas.openxmlformats.org/drawingml/2006/main">
            <a:off x="609600" y="2247900"/>
            <a:ext cx="337820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6" name="">
            <a:extLst xmlns:a="http://schemas.openxmlformats.org/drawingml/2006/main">
              <a:ext uri="{FF2B5EF4-FFF2-40B4-BE49-F238E27FC236}">
                <a16:creationId xmlns:a16="http://schemas.microsoft.com/office/drawing/2014/main" id="{B0AB7940-AB52-4673-97BB-292CA717B3AC}"/>
              </a:ext>
            </a:extLst>
          </p:cNvPr>
          <p:cNvSpPr>
            <a:spLocks xmlns:a="http://schemas.openxmlformats.org/drawingml/2006/main" noGrp="1"/>
          </p:cNvSpPr>
          <p:nvPr/>
        </p:nvSpPr>
        <p:spPr>
          <a:xfrm xmlns:a="http://schemas.openxmlformats.org/drawingml/2006/main">
            <a:off x="762000" y="2438400"/>
            <a:ext cx="3073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Current finding</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Both structures 70/70</a:t>
            </a:r>
          </a:p>
        </p:txBody>
      </p:sp>
      <p:sp>
        <p:nvSpPr>
          <p:cNvPr id="7" name="">
            <a:extLst xmlns:a="http://schemas.openxmlformats.org/drawingml/2006/main">
              <a:ext uri="{FF2B5EF4-FFF2-40B4-BE49-F238E27FC236}">
                <a16:creationId xmlns:a16="http://schemas.microsoft.com/office/drawing/2014/main" id="{ACC30A8B-DACE-466B-BEBD-A15823B3E73F}"/>
              </a:ext>
            </a:extLst>
          </p:cNvPr>
          <p:cNvSpPr>
            <a:spLocks xmlns:a="http://schemas.openxmlformats.org/drawingml/2006/main" noGrp="1"/>
          </p:cNvSpPr>
          <p:nvPr/>
        </p:nvSpPr>
        <p:spPr>
          <a:xfrm xmlns:a="http://schemas.openxmlformats.org/drawingml/2006/main">
            <a:off x="4406900" y="2247900"/>
            <a:ext cx="337820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8" name="">
            <a:extLst xmlns:a="http://schemas.openxmlformats.org/drawingml/2006/main">
              <a:ext uri="{FF2B5EF4-FFF2-40B4-BE49-F238E27FC236}">
                <a16:creationId xmlns:a16="http://schemas.microsoft.com/office/drawing/2014/main" id="{1324FBA7-8C20-4BA0-8D3B-76C71076BAEC}"/>
              </a:ext>
            </a:extLst>
          </p:cNvPr>
          <p:cNvSpPr>
            <a:spLocks xmlns:a="http://schemas.openxmlformats.org/drawingml/2006/main" noGrp="1"/>
          </p:cNvSpPr>
          <p:nvPr/>
        </p:nvSpPr>
        <p:spPr>
          <a:xfrm xmlns:a="http://schemas.openxmlformats.org/drawingml/2006/main">
            <a:off x="4559300" y="2438400"/>
            <a:ext cx="3073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Budget analysis</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Explain the cost</a:t>
            </a:r>
          </a:p>
        </p:txBody>
      </p:sp>
      <p:sp>
        <p:nvSpPr>
          <p:cNvPr id="9" name="">
            <a:extLst xmlns:a="http://schemas.openxmlformats.org/drawingml/2006/main">
              <a:ext uri="{FF2B5EF4-FFF2-40B4-BE49-F238E27FC236}">
                <a16:creationId xmlns:a16="http://schemas.microsoft.com/office/drawing/2014/main" id="{311F8187-B9DA-4F23-A6DB-5CB54F1EA659}"/>
              </a:ext>
            </a:extLst>
          </p:cNvPr>
          <p:cNvSpPr>
            <a:spLocks xmlns:a="http://schemas.openxmlformats.org/drawingml/2006/main" noGrp="1"/>
          </p:cNvSpPr>
          <p:nvPr/>
        </p:nvSpPr>
        <p:spPr>
          <a:xfrm xmlns:a="http://schemas.openxmlformats.org/drawingml/2006/main">
            <a:off x="4025900" y="2752725"/>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181CE59-B2E4-41CC-BD45-BAD97986CDE3}"/>
              </a:ext>
            </a:extLst>
          </p:cNvPr>
          <p:cNvSpPr>
            <a:spLocks xmlns:a="http://schemas.openxmlformats.org/drawingml/2006/main" noGrp="1"/>
          </p:cNvSpPr>
          <p:nvPr/>
        </p:nvSpPr>
        <p:spPr>
          <a:xfrm xmlns:a="http://schemas.openxmlformats.org/drawingml/2006/main">
            <a:off x="4187825" y="268605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4130ACD-94F9-4ABC-8880-D95024A73976}"/>
              </a:ext>
            </a:extLst>
          </p:cNvPr>
          <p:cNvSpPr>
            <a:spLocks xmlns:a="http://schemas.openxmlformats.org/drawingml/2006/main" noGrp="1"/>
          </p:cNvSpPr>
          <p:nvPr/>
        </p:nvSpPr>
        <p:spPr>
          <a:xfrm xmlns:a="http://schemas.openxmlformats.org/drawingml/2006/main">
            <a:off x="8204200" y="2247900"/>
            <a:ext cx="3378200" cy="1047750"/>
          </a:xfrm>
          <a:prstGeom xmlns:a="http://schemas.openxmlformats.org/drawingml/2006/main" prst="rect">
            <a:avLst/>
          </a:prstGeom>
          <a:solidFill xmlns:a="http://schemas.openxmlformats.org/drawingml/2006/main">
            <a:srgbClr val="E1EFEC"/>
          </a:solidFill>
          <a:ln xmlns:a="http://schemas.openxmlformats.org/drawingml/2006/main" w="28575">
            <a:solidFill>
              <a:srgbClr val="007F79"/>
            </a:solidFill>
          </a:ln>
        </p:spPr>
      </p:sp>
      <p:sp>
        <p:nvSpPr>
          <p:cNvPr id="12" name="">
            <a:extLst xmlns:a="http://schemas.openxmlformats.org/drawingml/2006/main">
              <a:ext uri="{FF2B5EF4-FFF2-40B4-BE49-F238E27FC236}">
                <a16:creationId xmlns:a16="http://schemas.microsoft.com/office/drawing/2014/main" id="{48395683-B250-4B05-B57F-19E39139988D}"/>
              </a:ext>
            </a:extLst>
          </p:cNvPr>
          <p:cNvSpPr>
            <a:spLocks xmlns:a="http://schemas.openxmlformats.org/drawingml/2006/main" noGrp="1"/>
          </p:cNvSpPr>
          <p:nvPr/>
        </p:nvSpPr>
        <p:spPr>
          <a:xfrm xmlns:a="http://schemas.openxmlformats.org/drawingml/2006/main">
            <a:off x="8356600" y="2438400"/>
            <a:ext cx="3073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Transfer + fresh cases</a:t>
            </a:r>
          </a:p>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Test the limit</a:t>
            </a:r>
          </a:p>
        </p:txBody>
      </p:sp>
      <p:sp>
        <p:nvSpPr>
          <p:cNvPr id="13" name="">
            <a:extLst xmlns:a="http://schemas.openxmlformats.org/drawingml/2006/main">
              <a:ext uri="{FF2B5EF4-FFF2-40B4-BE49-F238E27FC236}">
                <a16:creationId xmlns:a16="http://schemas.microsoft.com/office/drawing/2014/main" id="{26CFBA10-6068-472E-8F88-E4B676BEA403}"/>
              </a:ext>
            </a:extLst>
          </p:cNvPr>
          <p:cNvSpPr>
            <a:spLocks xmlns:a="http://schemas.openxmlformats.org/drawingml/2006/main" noGrp="1"/>
          </p:cNvSpPr>
          <p:nvPr/>
        </p:nvSpPr>
        <p:spPr>
          <a:xfrm xmlns:a="http://schemas.openxmlformats.org/drawingml/2006/main">
            <a:off x="7823200" y="2752725"/>
            <a:ext cx="333375" cy="38100"/>
          </a:xfrm>
          <a:prstGeom xmlns:a="http://schemas.openxmlformats.org/drawingml/2006/main" prst="rect">
            <a:avLst/>
          </a:prstGeom>
          <a:solidFill xmlns:a="http://schemas.openxmlformats.org/drawingml/2006/main">
            <a:srgbClr val="007F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3A99F0C-1C02-4313-A16F-9E3D1CD41CB7}"/>
              </a:ext>
            </a:extLst>
          </p:cNvPr>
          <p:cNvSpPr>
            <a:spLocks xmlns:a="http://schemas.openxmlformats.org/drawingml/2006/main" noGrp="1"/>
          </p:cNvSpPr>
          <p:nvPr/>
        </p:nvSpPr>
        <p:spPr>
          <a:xfrm xmlns:a="http://schemas.openxmlformats.org/drawingml/2006/main">
            <a:off x="7985125" y="2686050"/>
            <a:ext cx="190500" cy="171450"/>
          </a:xfrm>
          <a:prstGeom xmlns:a="http://schemas.openxmlformats.org/drawingml/2006/main" prst="rightArrow">
            <a:avLst/>
          </a:prstGeom>
          <a:solidFill xmlns:a="http://schemas.openxmlformats.org/drawingml/2006/main">
            <a:srgbClr val="007F7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14B8354-0CE9-4E69-B174-E735FAB0FF0A}"/>
              </a:ext>
            </a:extLst>
          </p:cNvPr>
          <p:cNvSpPr>
            <a:spLocks xmlns:a="http://schemas.openxmlformats.org/drawingml/2006/main" noGrp="1"/>
          </p:cNvSpPr>
          <p:nvPr/>
        </p:nvSpPr>
        <p:spPr>
          <a:xfrm xmlns:a="http://schemas.openxmlformats.org/drawingml/2006/main">
            <a:off x="609600" y="39909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F79"/>
                </a:solidFill>
                <a:latin typeface="Arial"/>
                <a:ea typeface="Arial"/>
                <a:cs typeface="Arial"/>
              </a:defRPr>
            </a:pPr>
            <a:r>
              <a:rPr sz="2850" b="1">
                <a:solidFill>
                  <a:srgbClr val="007F79"/>
                </a:solidFill>
                <a:latin typeface="Arial"/>
                <a:ea typeface="Arial"/>
                <a:cs typeface="Arial"/>
              </a:rPr>
              <a:t>A useful outcome can be a simpler method.</a:t>
            </a:r>
          </a:p>
        </p:txBody>
      </p:sp>
      <p:sp>
        <p:nvSpPr>
          <p:cNvPr id="16" name="">
            <a:extLst xmlns:a="http://schemas.openxmlformats.org/drawingml/2006/main">
              <a:ext uri="{FF2B5EF4-FFF2-40B4-BE49-F238E27FC236}">
                <a16:creationId xmlns:a16="http://schemas.microsoft.com/office/drawing/2014/main" id="{02CEE80A-B822-4200-AC21-5F29692D5FAF}"/>
              </a:ext>
            </a:extLst>
          </p:cNvPr>
          <p:cNvSpPr>
            <a:spLocks xmlns:a="http://schemas.openxmlformats.org/drawingml/2006/main" noGrp="1"/>
          </p:cNvSpPr>
          <p:nvPr/>
        </p:nvSpPr>
        <p:spPr>
          <a:xfrm xmlns:a="http://schemas.openxmlformats.org/drawingml/2006/main">
            <a:off x="609600" y="4829175"/>
            <a:ext cx="106489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3E"/>
                </a:solidFill>
                <a:latin typeface="Arial"/>
                <a:ea typeface="Arial"/>
                <a:cs typeface="Arial"/>
              </a:defRPr>
            </a:pPr>
            <a:r>
              <a:rPr sz="2250" b="0">
                <a:solidFill>
                  <a:srgbClr val="142E3E"/>
                </a:solidFill>
                <a:latin typeface="Arial"/>
                <a:ea typeface="Arial"/>
                <a:cs typeface="Arial"/>
              </a:rPr>
              <a:t>Keep a filter only if the evidence shows a benefit.</a:t>
            </a:r>
          </a:p>
          <a:p xmlns:a="http://schemas.openxmlformats.org/drawingml/2006/main">
            <a:pPr>
              <a:defRPr sz="2250" b="0">
                <a:solidFill>
                  <a:srgbClr val="142E3E"/>
                </a:solidFill>
                <a:latin typeface="Arial"/>
                <a:ea typeface="Arial"/>
                <a:cs typeface="Arial"/>
              </a:defRPr>
            </a:pPr>
            <a:r>
              <a:rPr sz="2250" b="0">
                <a:solidFill>
                  <a:srgbClr val="142E3E"/>
                </a:solidFill>
                <a:latin typeface="Arial"/>
                <a:ea typeface="Arial"/>
                <a:cs typeface="Arial"/>
              </a:rPr>
              <a:t>Report where recovery works, where it fails, and when it abstains.</a:t>
            </a:r>
          </a:p>
        </p:txBody>
      </p:sp>
    </p:spTree>
    <p:extLst>
      <p:ext uri="{BB962C8B-B14F-4D97-AF65-F5344CB8AC3E}">
        <p14:creationId xmlns:p14="http://schemas.microsoft.com/office/powerpoint/2010/main" val="1143564335"/>
      </p:ext>
    </p:extLst>
  </p:cSld>
</p:sld>
</file>

<file path=ppt/slides/slide4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818BF4D-5A22-4505-9465-A7ADEFC03B11}"/>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The next phases test generalization</a:t>
            </a:r>
          </a:p>
        </p:txBody>
      </p:sp>
      <p:sp>
        <p:nvSpPr>
          <p:cNvPr id="2" name="">
            <a:extLst xmlns:a="http://schemas.openxmlformats.org/drawingml/2006/main">
              <a:ext uri="{FF2B5EF4-FFF2-40B4-BE49-F238E27FC236}">
                <a16:creationId xmlns:a16="http://schemas.microsoft.com/office/drawing/2014/main" id="{FD0704C3-6AE6-4DE1-86F8-CCD9DEABCD4B}"/>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5CDB34A4-ED93-4682-89BD-BE884B57837C}"/>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42</a:t>
            </a:r>
          </a:p>
        </p:txBody>
      </p:sp>
      <p:sp>
        <p:nvSpPr>
          <p:cNvPr id="4" name="">
            <a:extLst xmlns:a="http://schemas.openxmlformats.org/drawingml/2006/main">
              <a:ext uri="{FF2B5EF4-FFF2-40B4-BE49-F238E27FC236}">
                <a16:creationId xmlns:a16="http://schemas.microsoft.com/office/drawing/2014/main" id="{4F0E0903-32F6-44D4-B701-E12E5CD021E7}"/>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 isolated validation plan and unseen-build manifest</a:t>
            </a:r>
          </a:p>
        </p:txBody>
      </p:sp>
      <p:sp>
        <p:nvSpPr>
          <p:cNvPr id="5" name="">
            <a:extLst xmlns:a="http://schemas.openxmlformats.org/drawingml/2006/main">
              <a:ext uri="{FF2B5EF4-FFF2-40B4-BE49-F238E27FC236}">
                <a16:creationId xmlns:a16="http://schemas.microsoft.com/office/drawing/2014/main" id="{2FCF1BFB-2834-488C-AB2B-D74F09863DE7}"/>
              </a:ext>
            </a:extLst>
          </p:cNvPr>
          <p:cNvSpPr>
            <a:spLocks xmlns:a="http://schemas.openxmlformats.org/drawingml/2006/main" noGrp="1"/>
          </p:cNvSpPr>
          <p:nvPr/>
        </p:nvSpPr>
        <p:spPr>
          <a:xfrm xmlns:a="http://schemas.openxmlformats.org/drawingml/2006/main">
            <a:off x="609600" y="2009775"/>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New builds</a:t>
            </a:r>
          </a:p>
        </p:txBody>
      </p:sp>
      <p:sp>
        <p:nvSpPr>
          <p:cNvPr id="6" name="">
            <a:extLst xmlns:a="http://schemas.openxmlformats.org/drawingml/2006/main">
              <a:ext uri="{FF2B5EF4-FFF2-40B4-BE49-F238E27FC236}">
                <a16:creationId xmlns:a16="http://schemas.microsoft.com/office/drawing/2014/main" id="{FE190B7D-C523-48FB-B807-72CD3274EF01}"/>
              </a:ext>
            </a:extLst>
          </p:cNvPr>
          <p:cNvSpPr>
            <a:spLocks xmlns:a="http://schemas.openxmlformats.org/drawingml/2006/main" noGrp="1"/>
          </p:cNvSpPr>
          <p:nvPr/>
        </p:nvSpPr>
        <p:spPr>
          <a:xfrm xmlns:a="http://schemas.openxmlformats.org/drawingml/2006/main">
            <a:off x="609600" y="2571750"/>
            <a:ext cx="5095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3E"/>
                </a:solidFill>
                <a:latin typeface="Arial"/>
                <a:ea typeface="Arial"/>
                <a:cs typeface="Arial"/>
              </a:defRPr>
            </a:pPr>
            <a:r>
              <a:rPr sz="2025" b="0">
                <a:solidFill>
                  <a:srgbClr val="142E3E"/>
                </a:solidFill>
                <a:latin typeface="Arial"/>
                <a:ea typeface="Arial"/>
                <a:cs typeface="Arial"/>
              </a:rPr>
              <a:t>40 planned cases across Firefox 135.0.1 and 137.0.2. Fixed rules, explicit failure accounting.</a:t>
            </a:r>
          </a:p>
        </p:txBody>
      </p:sp>
      <p:sp>
        <p:nvSpPr>
          <p:cNvPr id="7" name="">
            <a:extLst xmlns:a="http://schemas.openxmlformats.org/drawingml/2006/main">
              <a:ext uri="{FF2B5EF4-FFF2-40B4-BE49-F238E27FC236}">
                <a16:creationId xmlns:a16="http://schemas.microsoft.com/office/drawing/2014/main" id="{DFBE228D-7E60-4C9D-985B-1D4AB9C6E284}"/>
              </a:ext>
            </a:extLst>
          </p:cNvPr>
          <p:cNvSpPr>
            <a:spLocks xmlns:a="http://schemas.openxmlformats.org/drawingml/2006/main" noGrp="1"/>
          </p:cNvSpPr>
          <p:nvPr/>
        </p:nvSpPr>
        <p:spPr>
          <a:xfrm xmlns:a="http://schemas.openxmlformats.org/drawingml/2006/main">
            <a:off x="6419850" y="2009775"/>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Fresh cases</a:t>
            </a:r>
          </a:p>
        </p:txBody>
      </p:sp>
      <p:sp>
        <p:nvSpPr>
          <p:cNvPr id="8" name="">
            <a:extLst xmlns:a="http://schemas.openxmlformats.org/drawingml/2006/main">
              <a:ext uri="{FF2B5EF4-FFF2-40B4-BE49-F238E27FC236}">
                <a16:creationId xmlns:a16="http://schemas.microsoft.com/office/drawing/2014/main" id="{7DC34A5D-085D-40B0-A49A-7FE439AC3657}"/>
              </a:ext>
            </a:extLst>
          </p:cNvPr>
          <p:cNvSpPr>
            <a:spLocks xmlns:a="http://schemas.openxmlformats.org/drawingml/2006/main" noGrp="1"/>
          </p:cNvSpPr>
          <p:nvPr/>
        </p:nvSpPr>
        <p:spPr>
          <a:xfrm xmlns:a="http://schemas.openxmlformats.org/drawingml/2006/main">
            <a:off x="6419850" y="2571750"/>
            <a:ext cx="5095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3E"/>
                </a:solidFill>
                <a:latin typeface="Arial"/>
                <a:ea typeface="Arial"/>
                <a:cs typeface="Arial"/>
              </a:defRPr>
            </a:pPr>
            <a:r>
              <a:rPr sz="2025" b="0">
                <a:solidFill>
                  <a:srgbClr val="142E3E"/>
                </a:solidFill>
                <a:latin typeface="Arial"/>
                <a:ea typeface="Arial"/>
                <a:cs typeface="Arial"/>
              </a:rPr>
              <a:t>100 proposed new cases: 70 positives and 30 controls. Freeze the design before generating secrets.</a:t>
            </a:r>
          </a:p>
        </p:txBody>
      </p:sp>
      <p:sp>
        <p:nvSpPr>
          <p:cNvPr id="9" name="">
            <a:extLst xmlns:a="http://schemas.openxmlformats.org/drawingml/2006/main">
              <a:ext uri="{FF2B5EF4-FFF2-40B4-BE49-F238E27FC236}">
                <a16:creationId xmlns:a16="http://schemas.microsoft.com/office/drawing/2014/main" id="{3FB16BD0-8946-4315-B5BA-4DB76449805B}"/>
              </a:ext>
            </a:extLst>
          </p:cNvPr>
          <p:cNvSpPr>
            <a:spLocks xmlns:a="http://schemas.openxmlformats.org/drawingml/2006/main" noGrp="1"/>
          </p:cNvSpPr>
          <p:nvPr/>
        </p:nvSpPr>
        <p:spPr>
          <a:xfrm xmlns:a="http://schemas.openxmlformats.org/drawingml/2006/main">
            <a:off x="609600" y="4143375"/>
            <a:ext cx="1085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79"/>
                </a:solidFill>
                <a:latin typeface="Arial"/>
                <a:ea typeface="Arial"/>
                <a:cs typeface="Arial"/>
              </a:defRPr>
            </a:pPr>
            <a:r>
              <a:rPr sz="2325" b="1">
                <a:solidFill>
                  <a:srgbClr val="007F79"/>
                </a:solidFill>
                <a:latin typeface="Arial"/>
                <a:ea typeface="Arial"/>
                <a:cs typeface="Arial"/>
              </a:rPr>
              <a:t>Independent verification and final claims</a:t>
            </a:r>
          </a:p>
        </p:txBody>
      </p:sp>
      <p:sp>
        <p:nvSpPr>
          <p:cNvPr id="10" name="">
            <a:extLst xmlns:a="http://schemas.openxmlformats.org/drawingml/2006/main">
              <a:ext uri="{FF2B5EF4-FFF2-40B4-BE49-F238E27FC236}">
                <a16:creationId xmlns:a16="http://schemas.microsoft.com/office/drawing/2014/main" id="{F23213FA-BC2B-48E9-BD25-023C46886730}"/>
              </a:ext>
            </a:extLst>
          </p:cNvPr>
          <p:cNvSpPr>
            <a:spLocks xmlns:a="http://schemas.openxmlformats.org/drawingml/2006/main" noGrp="1"/>
          </p:cNvSpPr>
          <p:nvPr/>
        </p:nvSpPr>
        <p:spPr>
          <a:xfrm xmlns:a="http://schemas.openxmlformats.org/drawingml/2006/main">
            <a:off x="609600" y="4819650"/>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3E"/>
                </a:solidFill>
                <a:latin typeface="Arial"/>
                <a:ea typeface="Arial"/>
                <a:cs typeface="Arial"/>
              </a:defRPr>
            </a:pPr>
            <a:r>
              <a:rPr sz="2175" b="0">
                <a:solidFill>
                  <a:srgbClr val="142E3E"/>
                </a:solidFill>
                <a:latin typeface="Arial"/>
                <a:ea typeface="Arial"/>
                <a:cs typeface="Arial"/>
              </a:rPr>
              <a:t>Expand beyond the one successful decoding check. Tie each contribution claim to a specific result and its limits.</a:t>
            </a:r>
          </a:p>
        </p:txBody>
      </p:sp>
    </p:spTree>
    <p:extLst>
      <p:ext uri="{BB962C8B-B14F-4D97-AF65-F5344CB8AC3E}">
        <p14:creationId xmlns:p14="http://schemas.microsoft.com/office/powerpoint/2010/main" val="505161894"/>
      </p:ext>
    </p:extLst>
  </p:cSld>
</p:sld>
</file>

<file path=ppt/slides/slide4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11F35EE-F8F4-45C7-BE4A-2ADFF5A626C8}"/>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What we can honestly say today</a:t>
            </a:r>
          </a:p>
        </p:txBody>
      </p:sp>
      <p:sp>
        <p:nvSpPr>
          <p:cNvPr id="2" name="">
            <a:extLst xmlns:a="http://schemas.openxmlformats.org/drawingml/2006/main">
              <a:ext uri="{FF2B5EF4-FFF2-40B4-BE49-F238E27FC236}">
                <a16:creationId xmlns:a16="http://schemas.microsoft.com/office/drawing/2014/main" id="{3EA75A20-280B-4D2A-AD23-C5A52722712F}"/>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14E4A6E2-D1EC-4323-AED0-76BFB2BD0F52}"/>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43</a:t>
            </a:r>
          </a:p>
        </p:txBody>
      </p:sp>
      <p:sp>
        <p:nvSpPr>
          <p:cNvPr id="4" name="">
            <a:extLst xmlns:a="http://schemas.openxmlformats.org/drawingml/2006/main">
              <a:ext uri="{FF2B5EF4-FFF2-40B4-BE49-F238E27FC236}">
                <a16:creationId xmlns:a16="http://schemas.microsoft.com/office/drawing/2014/main" id="{E2972531-16B4-47E8-A1F1-58C188F08709}"/>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Sources: completed result reports, primary comparison and validation plan</a:t>
            </a:r>
          </a:p>
        </p:txBody>
      </p:sp>
      <p:sp>
        <p:nvSpPr>
          <p:cNvPr id="5" name="">
            <a:extLst xmlns:a="http://schemas.openxmlformats.org/drawingml/2006/main">
              <a:ext uri="{FF2B5EF4-FFF2-40B4-BE49-F238E27FC236}">
                <a16:creationId xmlns:a16="http://schemas.microsoft.com/office/drawing/2014/main" id="{C75A6046-7653-4027-9292-328C18F721BA}"/>
              </a:ext>
            </a:extLst>
          </p:cNvPr>
          <p:cNvSpPr>
            <a:spLocks xmlns:a="http://schemas.openxmlformats.org/drawingml/2006/main" noGrp="1"/>
          </p:cNvSpPr>
          <p:nvPr/>
        </p:nvSpPr>
        <p:spPr>
          <a:xfrm xmlns:a="http://schemas.openxmlformats.org/drawingml/2006/main">
            <a:off x="609600" y="20859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Demonstrated</a:t>
            </a:r>
          </a:p>
        </p:txBody>
      </p:sp>
      <p:sp>
        <p:nvSpPr>
          <p:cNvPr id="6" name="">
            <a:extLst xmlns:a="http://schemas.openxmlformats.org/drawingml/2006/main">
              <a:ext uri="{FF2B5EF4-FFF2-40B4-BE49-F238E27FC236}">
                <a16:creationId xmlns:a16="http://schemas.microsoft.com/office/drawing/2014/main" id="{A295490D-B743-419F-8868-E29483A3F5BE}"/>
              </a:ext>
            </a:extLst>
          </p:cNvPr>
          <p:cNvSpPr>
            <a:spLocks xmlns:a="http://schemas.openxmlformats.org/drawingml/2006/main" noGrp="1"/>
          </p:cNvSpPr>
          <p:nvPr/>
        </p:nvSpPr>
        <p:spPr>
          <a:xfrm xmlns:a="http://schemas.openxmlformats.org/drawingml/2006/main">
            <a:off x="609600" y="2647950"/>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3E"/>
                </a:solidFill>
                <a:latin typeface="Arial"/>
                <a:ea typeface="Arial"/>
                <a:cs typeface="Arial"/>
              </a:defRPr>
            </a:pPr>
            <a:r>
              <a:rPr sz="2025" b="0">
                <a:solidFill>
                  <a:srgbClr val="142E3E"/>
                </a:solidFill>
                <a:latin typeface="Arial"/>
                <a:ea typeface="Arial"/>
                <a:cs typeface="Arial"/>
              </a:rPr>
              <a:t>Blind recovery, correct abstention, an audited replay and a completed five-arm comparison.</a:t>
            </a:r>
          </a:p>
        </p:txBody>
      </p:sp>
      <p:sp>
        <p:nvSpPr>
          <p:cNvPr id="7" name="">
            <a:extLst xmlns:a="http://schemas.openxmlformats.org/drawingml/2006/main">
              <a:ext uri="{FF2B5EF4-FFF2-40B4-BE49-F238E27FC236}">
                <a16:creationId xmlns:a16="http://schemas.microsoft.com/office/drawing/2014/main" id="{ADD1923A-EE6E-461E-AC83-D6DE8A64C1D8}"/>
              </a:ext>
            </a:extLst>
          </p:cNvPr>
          <p:cNvSpPr>
            <a:spLocks xmlns:a="http://schemas.openxmlformats.org/drawingml/2006/main" noGrp="1"/>
          </p:cNvSpPr>
          <p:nvPr/>
        </p:nvSpPr>
        <p:spPr>
          <a:xfrm xmlns:a="http://schemas.openxmlformats.org/drawingml/2006/main">
            <a:off x="6400800" y="2085975"/>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75B17"/>
                </a:solidFill>
                <a:latin typeface="Arial"/>
                <a:ea typeface="Arial"/>
                <a:cs typeface="Arial"/>
              </a:defRPr>
            </a:pPr>
            <a:r>
              <a:rPr sz="2175" b="1">
                <a:solidFill>
                  <a:srgbClr val="A75B17"/>
                </a:solidFill>
                <a:latin typeface="Arial"/>
                <a:ea typeface="Arial"/>
                <a:cs typeface="Arial"/>
              </a:rPr>
              <a:t>Still being tested</a:t>
            </a:r>
          </a:p>
        </p:txBody>
      </p:sp>
      <p:sp>
        <p:nvSpPr>
          <p:cNvPr id="8" name="">
            <a:extLst xmlns:a="http://schemas.openxmlformats.org/drawingml/2006/main">
              <a:ext uri="{FF2B5EF4-FFF2-40B4-BE49-F238E27FC236}">
                <a16:creationId xmlns:a16="http://schemas.microsoft.com/office/drawing/2014/main" id="{1B54975F-A87D-490D-BDFE-24BC8888CE8C}"/>
              </a:ext>
            </a:extLst>
          </p:cNvPr>
          <p:cNvSpPr>
            <a:spLocks xmlns:a="http://schemas.openxmlformats.org/drawingml/2006/main" noGrp="1"/>
          </p:cNvSpPr>
          <p:nvPr/>
        </p:nvSpPr>
        <p:spPr>
          <a:xfrm xmlns:a="http://schemas.openxmlformats.org/drawingml/2006/main">
            <a:off x="6400800" y="2647950"/>
            <a:ext cx="5095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3E"/>
                </a:solidFill>
                <a:latin typeface="Arial"/>
                <a:ea typeface="Arial"/>
                <a:cs typeface="Arial"/>
              </a:defRPr>
            </a:pPr>
            <a:r>
              <a:rPr sz="2025" b="0">
                <a:solidFill>
                  <a:srgbClr val="142E3E"/>
                </a:solidFill>
                <a:latin typeface="Arial"/>
                <a:ea typeface="Arial"/>
                <a:cs typeface="Arial"/>
              </a:rPr>
              <a:t>Cost sensitivity, unseen builds, fresh confirmation and the final novelty claim.</a:t>
            </a:r>
          </a:p>
        </p:txBody>
      </p:sp>
      <p:sp>
        <p:nvSpPr>
          <p:cNvPr id="9" name="">
            <a:extLst xmlns:a="http://schemas.openxmlformats.org/drawingml/2006/main">
              <a:ext uri="{FF2B5EF4-FFF2-40B4-BE49-F238E27FC236}">
                <a16:creationId xmlns:a16="http://schemas.microsoft.com/office/drawing/2014/main" id="{8D472C86-F846-4477-B609-4FAA6988B405}"/>
              </a:ext>
            </a:extLst>
          </p:cNvPr>
          <p:cNvSpPr>
            <a:spLocks xmlns:a="http://schemas.openxmlformats.org/drawingml/2006/main" noGrp="1"/>
          </p:cNvSpPr>
          <p:nvPr/>
        </p:nvSpPr>
        <p:spPr>
          <a:xfrm xmlns:a="http://schemas.openxmlformats.org/drawingml/2006/main">
            <a:off x="609600" y="4552950"/>
            <a:ext cx="108394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07F79"/>
                </a:solidFill>
                <a:latin typeface="Arial"/>
                <a:ea typeface="Arial"/>
                <a:cs typeface="Arial"/>
              </a:defRPr>
            </a:pPr>
            <a:r>
              <a:rPr sz="2775" b="1">
                <a:solidFill>
                  <a:srgbClr val="007F79"/>
                </a:solidFill>
                <a:latin typeface="Arial"/>
                <a:ea typeface="Arial"/>
                <a:cs typeface="Arial"/>
              </a:rPr>
              <a:t>The contribution is becoming a carefully bounded recovery and evaluation method.</a:t>
            </a:r>
          </a:p>
        </p:txBody>
      </p:sp>
    </p:spTree>
    <p:extLst>
      <p:ext uri="{BB962C8B-B14F-4D97-AF65-F5344CB8AC3E}">
        <p14:creationId xmlns:p14="http://schemas.microsoft.com/office/powerpoint/2010/main" val="1042271175"/>
      </p:ext>
    </p:extLst>
  </p:cSld>
</p:sld>
</file>

<file path=ppt/slides/slide4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170603-057D-46F0-8302-BB5BBCC2C97F}"/>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The papers behind the decisions</a:t>
            </a:r>
          </a:p>
        </p:txBody>
      </p:sp>
      <p:sp>
        <p:nvSpPr>
          <p:cNvPr id="2" name="">
            <a:extLst xmlns:a="http://schemas.openxmlformats.org/drawingml/2006/main">
              <a:ext uri="{FF2B5EF4-FFF2-40B4-BE49-F238E27FC236}">
                <a16:creationId xmlns:a16="http://schemas.microsoft.com/office/drawing/2014/main" id="{E56C4C42-A582-4C3D-9ABB-1747A25D0D61}"/>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EB451B0E-995C-4E56-BBE4-89F8006943BA}"/>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44</a:t>
            </a:r>
          </a:p>
        </p:txBody>
      </p:sp>
      <p:sp>
        <p:nvSpPr>
          <p:cNvPr id="4" name="">
            <a:extLst xmlns:a="http://schemas.openxmlformats.org/drawingml/2006/main">
              <a:ext uri="{FF2B5EF4-FFF2-40B4-BE49-F238E27FC236}">
                <a16:creationId xmlns:a16="http://schemas.microsoft.com/office/drawing/2014/main" id="{0E2AAF7F-4BA1-4B9E-8A72-F5711A37D1B1}"/>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Full citations and local evidence paths are also in the speaker notes</a:t>
            </a:r>
          </a:p>
        </p:txBody>
      </p:sp>
      <p:graphicFrame>
        <p:nvGraphicFramePr>
          <p:cNvPr id="10" name=""/>
          <p:cNvGraphicFramePr/>
          <p:nvPr/>
        </p:nvGraphicFramePr>
        <p:xfrm>
          <a:off xmlns:a="http://schemas.openxmlformats.org/drawingml/2006/main" x="609600" y="1990725"/>
          <a:ext xmlns:a="http://schemas.openxmlformats.org/drawingml/2006/main" cx="10972800" cy="3609975"/>
        </p:xfrm>
        <a:graphic xmlns:a="http://schemas.openxmlformats.org/drawingml/2006/main">
          <a:graphicData uri="http://schemas.openxmlformats.org/drawingml/2006/table">
            <a:tbl>
              <a:tblPr/>
              <a:tblGrid>
                <a:gridCol w="5143500"/>
                <a:gridCol w="5829300"/>
              </a:tblGrid>
              <a:tr h="721995">
                <a:tc>
                  <a:txBody>
                    <a:bodyPr/>
                    <a:lstStyle/>
                    <a:p>
                      <a:r>
                        <a:rPr sz="1875" b="1">
                          <a:solidFill>
                            <a:srgbClr val="FFFFFF"/>
                          </a:solidFill>
                          <a:latin typeface="Arial"/>
                          <a:ea typeface="Arial"/>
                          <a:cs typeface="Arial"/>
                        </a:rPr>
                        <a:t>Reading</a:t>
                      </a:r>
                    </a:p>
                  </a:txBody>
                  <a:tcPr marL="91440" marR="91440" marT="45720" marB="45720">
                    <a:solidFill>
                      <a:srgbClr val="142E3E"/>
                    </a:solidFill>
                  </a:tcPr>
                </a:tc>
                <a:tc>
                  <a:txBody>
                    <a:bodyPr/>
                    <a:lstStyle/>
                    <a:p>
                      <a:r>
                        <a:rPr sz="1875" b="1">
                          <a:solidFill>
                            <a:srgbClr val="FFFFFF"/>
                          </a:solidFill>
                          <a:latin typeface="Arial"/>
                          <a:ea typeface="Arial"/>
                          <a:cs typeface="Arial"/>
                        </a:rPr>
                        <a:t>Why it mattered</a:t>
                      </a:r>
                    </a:p>
                  </a:txBody>
                  <a:tcPr marL="91440" marR="91440" marT="45720" marB="45720">
                    <a:solidFill>
                      <a:srgbClr val="142E3E"/>
                    </a:solidFill>
                  </a:tcPr>
                </a:tc>
              </a:tr>
              <a:tr h="721995">
                <a:tc>
                  <a:txBody>
                    <a:bodyPr/>
                    <a:lstStyle/>
                    <a:p>
                      <a:r>
                        <a:rPr sz="1875" b="0">
                          <a:solidFill>
                            <a:srgbClr val="142E3E"/>
                          </a:solidFill>
                          <a:latin typeface="Arial"/>
                          <a:ea typeface="Arial"/>
                          <a:cs typeface="Arial"/>
                        </a:rPr>
                        <a:t>Baier et al., 2024</a:t>
                      </a:r>
                    </a:p>
                    <a:p>
                      <a:r>
                        <a:rPr sz="1875" b="0">
                          <a:solidFill>
                            <a:srgbClr val="142E3E"/>
                          </a:solidFill>
                          <a:latin typeface="Arial"/>
                          <a:ea typeface="Arial"/>
                          <a:cs typeface="Arial"/>
                        </a:rPr>
                        <a:t>TLS memory survey</a:t>
                      </a:r>
                    </a:p>
                  </a:txBody>
                  <a:tcPr marL="91440" marR="91440" marT="45720" marB="45720">
                    <a:solidFill>
                      <a:srgbClr val="FFFFFF"/>
                    </a:solidFill>
                  </a:tcPr>
                </a:tc>
                <a:tc>
                  <a:txBody>
                    <a:bodyPr/>
                    <a:lstStyle/>
                    <a:p>
                      <a:r>
                        <a:rPr sz="1875" b="0">
                          <a:solidFill>
                            <a:srgbClr val="142E3E"/>
                          </a:solidFill>
                          <a:latin typeface="Arial"/>
                          <a:ea typeface="Arial"/>
                          <a:cs typeface="Arial"/>
                        </a:rPr>
                        <a:t>Helped map established methods and limitations</a:t>
                      </a:r>
                    </a:p>
                  </a:txBody>
                  <a:tcPr marL="91440" marR="91440" marT="45720" marB="45720">
                    <a:solidFill>
                      <a:srgbClr val="FFFFFF"/>
                    </a:solidFill>
                  </a:tcPr>
                </a:tc>
              </a:tr>
              <a:tr h="721995">
                <a:tc>
                  <a:txBody>
                    <a:bodyPr/>
                    <a:lstStyle/>
                    <a:p>
                      <a:r>
                        <a:rPr sz="1875" b="0">
                          <a:solidFill>
                            <a:srgbClr val="142E3E"/>
                          </a:solidFill>
                          <a:latin typeface="Arial"/>
                          <a:ea typeface="Arial"/>
                          <a:cs typeface="Arial"/>
                        </a:rPr>
                        <a:t>Moriconi et al., 2024</a:t>
                      </a:r>
                    </a:p>
                    <a:p>
                      <a:r>
                        <a:rPr sz="1875" b="0">
                          <a:solidFill>
                            <a:srgbClr val="142E3E"/>
                          </a:solidFill>
                          <a:latin typeface="Arial"/>
                          <a:ea typeface="Arial"/>
                          <a:cs typeface="Arial"/>
                        </a:rPr>
                        <a:t>X-Ray-TLS</a:t>
                      </a:r>
                    </a:p>
                  </a:txBody>
                  <a:tcPr marL="91440" marR="91440" marT="45720" marB="45720">
                    <a:solidFill>
                      <a:srgbClr val="E1EFEC"/>
                    </a:solidFill>
                  </a:tcPr>
                </a:tc>
                <a:tc>
                  <a:txBody>
                    <a:bodyPr/>
                    <a:lstStyle/>
                    <a:p>
                      <a:r>
                        <a:rPr sz="1875" b="0">
                          <a:solidFill>
                            <a:srgbClr val="142E3E"/>
                          </a:solidFill>
                          <a:latin typeface="Arial"/>
                          <a:ea typeface="Arial"/>
                          <a:cs typeface="Arial"/>
                        </a:rPr>
                        <a:t>Made snapshot timing and input differences explicit</a:t>
                      </a:r>
                    </a:p>
                  </a:txBody>
                  <a:tcPr marL="91440" marR="91440" marT="45720" marB="45720">
                    <a:solidFill>
                      <a:srgbClr val="E1EFEC"/>
                    </a:solidFill>
                  </a:tcPr>
                </a:tc>
              </a:tr>
              <a:tr h="721995">
                <a:tc>
                  <a:txBody>
                    <a:bodyPr/>
                    <a:lstStyle/>
                    <a:p>
                      <a:r>
                        <a:rPr sz="1875" b="0">
                          <a:solidFill>
                            <a:srgbClr val="142E3E"/>
                          </a:solidFill>
                          <a:latin typeface="Arial"/>
                          <a:ea typeface="Arial"/>
                          <a:cs typeface="Arial"/>
                        </a:rPr>
                        <a:t>Baier &amp; Lambertz, 2025</a:t>
                      </a:r>
                    </a:p>
                    <a:p>
                      <a:r>
                        <a:rPr sz="1875" b="0">
                          <a:solidFill>
                            <a:srgbClr val="142E3E"/>
                          </a:solidFill>
                          <a:latin typeface="Arial"/>
                          <a:ea typeface="Arial"/>
                          <a:cs typeface="Arial"/>
                        </a:rPr>
                        <a:t>TLSKeyHunter</a:t>
                      </a:r>
                    </a:p>
                  </a:txBody>
                  <a:tcPr marL="91440" marR="91440" marT="45720" marB="45720">
                    <a:solidFill>
                      <a:srgbClr val="FFFFFF"/>
                    </a:solidFill>
                  </a:tcPr>
                </a:tc>
                <a:tc>
                  <a:txBody>
                    <a:bodyPr/>
                    <a:lstStyle/>
                    <a:p>
                      <a:r>
                        <a:rPr sz="1875" b="0">
                          <a:solidFill>
                            <a:srgbClr val="142E3E"/>
                          </a:solidFill>
                          <a:latin typeface="Arial"/>
                          <a:ea typeface="Arial"/>
                          <a:cs typeface="Arial"/>
                        </a:rPr>
                        <a:t>Provided the original framework and attribution</a:t>
                      </a:r>
                    </a:p>
                  </a:txBody>
                  <a:tcPr marL="91440" marR="91440" marT="45720" marB="45720">
                    <a:solidFill>
                      <a:srgbClr val="FFFFFF"/>
                    </a:solidFill>
                  </a:tcPr>
                </a:tc>
              </a:tr>
              <a:tr h="721995">
                <a:tc>
                  <a:txBody>
                    <a:bodyPr/>
                    <a:lstStyle/>
                    <a:p>
                      <a:r>
                        <a:rPr sz="1875" b="0">
                          <a:solidFill>
                            <a:srgbClr val="142E3E"/>
                          </a:solidFill>
                          <a:latin typeface="Arial"/>
                          <a:ea typeface="Arial"/>
                          <a:cs typeface="Arial"/>
                        </a:rPr>
                        <a:t>Baier &amp; Lengersdorff, 2026</a:t>
                      </a:r>
                    </a:p>
                    <a:p>
                      <a:r>
                        <a:rPr sz="1875" b="0">
                          <a:solidFill>
                            <a:srgbClr val="142E3E"/>
                          </a:solidFill>
                          <a:latin typeface="Arial"/>
                          <a:ea typeface="Arial"/>
                          <a:cs typeface="Arial"/>
                        </a:rPr>
                        <a:t>Keys in Flux</a:t>
                      </a:r>
                    </a:p>
                  </a:txBody>
                  <a:tcPr marL="91440" marR="91440" marT="45720" marB="45720">
                    <a:solidFill>
                      <a:srgbClr val="E1EFEC"/>
                    </a:solidFill>
                  </a:tcPr>
                </a:tc>
                <a:tc>
                  <a:txBody>
                    <a:bodyPr/>
                    <a:lstStyle/>
                    <a:p>
                      <a:r>
                        <a:rPr sz="1875" b="0">
                          <a:solidFill>
                            <a:srgbClr val="142E3E"/>
                          </a:solidFill>
                          <a:latin typeface="Arial"/>
                          <a:ea typeface="Arial"/>
                          <a:cs typeface="Arial"/>
                        </a:rPr>
                        <a:t>Showed why one implementation cannot represent all</a:t>
                      </a:r>
                    </a:p>
                  </a:txBody>
                  <a:tcPr marL="91440" marR="91440" marT="45720" marB="45720">
                    <a:solidFill>
                      <a:srgbClr val="E1EFEC"/>
                    </a:solidFill>
                  </a:tcPr>
                </a:tc>
              </a:tr>
            </a:tbl>
          </a:graphicData>
        </a:graphic>
      </p:graphicFrame>
    </p:spTree>
    <p:extLst>
      <p:ext uri="{BB962C8B-B14F-4D97-AF65-F5344CB8AC3E}">
        <p14:creationId xmlns:p14="http://schemas.microsoft.com/office/powerpoint/2010/main" val="1784270739"/>
      </p:ext>
    </p:extLst>
  </p:cSld>
</p:sld>
</file>

<file path=ppt/slides/slide4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93219D-ED95-4FD6-9898-0FDF1EE79C6F}"/>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E3E"/>
                </a:solidFill>
                <a:latin typeface="Arial"/>
                <a:ea typeface="Arial"/>
                <a:cs typeface="Arial"/>
              </a:defRPr>
            </a:pPr>
            <a:r>
              <a:rPr sz="3300" b="1">
                <a:solidFill>
                  <a:srgbClr val="142E3E"/>
                </a:solidFill>
                <a:latin typeface="Arial"/>
                <a:ea typeface="Arial"/>
                <a:cs typeface="Arial"/>
              </a:rPr>
              <a:t>Evidence map and counting rules</a:t>
            </a:r>
          </a:p>
        </p:txBody>
      </p:sp>
      <p:sp>
        <p:nvSpPr>
          <p:cNvPr id="2" name="">
            <a:extLst xmlns:a="http://schemas.openxmlformats.org/drawingml/2006/main">
              <a:ext uri="{FF2B5EF4-FFF2-40B4-BE49-F238E27FC236}">
                <a16:creationId xmlns:a16="http://schemas.microsoft.com/office/drawing/2014/main" id="{9ED2220E-811A-412A-9D9E-505642EE3F23}"/>
              </a:ext>
            </a:extLst>
          </p:cNvPr>
          <p:cNvSpPr>
            <a:spLocks xmlns:a="http://schemas.openxmlformats.org/drawingml/2006/main" noGrp="1"/>
          </p:cNvSpPr>
          <p:nvPr/>
        </p:nvSpPr>
        <p:spPr>
          <a:xfrm xmlns:a="http://schemas.openxmlformats.org/drawingml/2006/main">
            <a:off x="609600" y="1504950"/>
            <a:ext cx="10972800" cy="0"/>
          </a:xfrm>
          <a:prstGeom xmlns:a="http://schemas.openxmlformats.org/drawingml/2006/main" prst="line">
            <a:avLst/>
          </a:prstGeom>
          <a:noFill xmlns:a="http://schemas.openxmlformats.org/drawingml/2006/main"/>
          <a:ln xmlns:a="http://schemas.openxmlformats.org/drawingml/2006/main" w="19050">
            <a:solidFill>
              <a:srgbClr val="CDD7D8"/>
            </a:solidFill>
          </a:ln>
        </p:spPr>
      </p:sp>
      <p:sp>
        <p:nvSpPr>
          <p:cNvPr id="3" name="">
            <a:extLst xmlns:a="http://schemas.openxmlformats.org/drawingml/2006/main">
              <a:ext uri="{FF2B5EF4-FFF2-40B4-BE49-F238E27FC236}">
                <a16:creationId xmlns:a16="http://schemas.microsoft.com/office/drawing/2014/main" id="{D2000E31-5CC0-4315-A11E-1D9D3E1453F4}"/>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572"/>
                </a:solidFill>
                <a:latin typeface="Arial"/>
                <a:ea typeface="Arial"/>
                <a:cs typeface="Arial"/>
              </a:defRPr>
            </a:pPr>
            <a:r>
              <a:rPr sz="1125" b="0">
                <a:solidFill>
                  <a:srgbClr val="536572"/>
                </a:solidFill>
                <a:latin typeface="Arial"/>
                <a:ea typeface="Arial"/>
                <a:cs typeface="Arial"/>
              </a:rPr>
              <a:t>45</a:t>
            </a:r>
          </a:p>
        </p:txBody>
      </p:sp>
      <p:sp>
        <p:nvSpPr>
          <p:cNvPr id="4" name="">
            <a:extLst xmlns:a="http://schemas.openxmlformats.org/drawingml/2006/main">
              <a:ext uri="{FF2B5EF4-FFF2-40B4-BE49-F238E27FC236}">
                <a16:creationId xmlns:a16="http://schemas.microsoft.com/office/drawing/2014/main" id="{08071B18-D90E-44D4-885F-7BEE55939F2A}"/>
              </a:ext>
            </a:extLst>
          </p:cNvPr>
          <p:cNvSpPr>
            <a:spLocks xmlns:a="http://schemas.openxmlformats.org/drawingml/2006/main" noGrp="1"/>
          </p:cNvSpPr>
          <p:nvPr/>
        </p:nvSpPr>
        <p:spPr>
          <a:xfrm xmlns:a="http://schemas.openxmlformats.org/drawingml/2006/main">
            <a:off x="609600" y="63246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572"/>
                </a:solidFill>
                <a:latin typeface="Arial"/>
                <a:ea typeface="Arial"/>
                <a:cs typeface="Arial"/>
              </a:defRPr>
            </a:pPr>
            <a:r>
              <a:rPr sz="1050" b="0">
                <a:solidFill>
                  <a:srgbClr val="536572"/>
                </a:solidFill>
                <a:latin typeface="Arial"/>
                <a:ea typeface="Arial"/>
                <a:cs typeface="Arial"/>
              </a:rPr>
              <a:t>Local workspace: TLS Key Thesis / tls13-extended-validation</a:t>
            </a:r>
          </a:p>
        </p:txBody>
      </p:sp>
      <p:graphicFrame>
        <p:nvGraphicFramePr>
          <p:cNvPr id="11" name=""/>
          <p:cNvGraphicFramePr/>
          <p:nvPr/>
        </p:nvGraphicFramePr>
        <p:xfrm>
          <a:off xmlns:a="http://schemas.openxmlformats.org/drawingml/2006/main" x="609600" y="2019300"/>
          <a:ext xmlns:a="http://schemas.openxmlformats.org/drawingml/2006/main" cx="10972800" cy="3190875"/>
        </p:xfrm>
        <a:graphic xmlns:a="http://schemas.openxmlformats.org/drawingml/2006/main">
          <a:graphicData uri="http://schemas.openxmlformats.org/drawingml/2006/table">
            <a:tbl>
              <a:tblPr/>
              <a:tblGrid>
                <a:gridCol w="5286375"/>
                <a:gridCol w="5686425"/>
              </a:tblGrid>
              <a:tr h="638175">
                <a:tc>
                  <a:txBody>
                    <a:bodyPr/>
                    <a:lstStyle/>
                    <a:p>
                      <a:r>
                        <a:rPr sz="1800" b="1">
                          <a:solidFill>
                            <a:srgbClr val="FFFFFF"/>
                          </a:solidFill>
                          <a:latin typeface="Arial"/>
                          <a:ea typeface="Arial"/>
                          <a:cs typeface="Arial"/>
                        </a:rPr>
                        <a:t>Record</a:t>
                      </a:r>
                    </a:p>
                  </a:txBody>
                  <a:tcPr marL="91440" marR="91440" marT="45720" marB="45720">
                    <a:solidFill>
                      <a:srgbClr val="142E3E"/>
                    </a:solidFill>
                  </a:tcPr>
                </a:tc>
                <a:tc>
                  <a:txBody>
                    <a:bodyPr/>
                    <a:lstStyle/>
                    <a:p>
                      <a:r>
                        <a:rPr sz="1800" b="1">
                          <a:solidFill>
                            <a:srgbClr val="FFFFFF"/>
                          </a:solidFill>
                          <a:latin typeface="Arial"/>
                          <a:ea typeface="Arial"/>
                          <a:cs typeface="Arial"/>
                        </a:rPr>
                        <a:t>Question it answers</a:t>
                      </a:r>
                    </a:p>
                  </a:txBody>
                  <a:tcPr marL="91440" marR="91440" marT="45720" marB="45720">
                    <a:solidFill>
                      <a:srgbClr val="142E3E"/>
                    </a:solidFill>
                  </a:tcPr>
                </a:tc>
              </a:tr>
              <a:tr h="638175">
                <a:tc>
                  <a:txBody>
                    <a:bodyPr/>
                    <a:lstStyle/>
                    <a:p>
                      <a:r>
                        <a:rPr sz="1800" b="0">
                          <a:solidFill>
                            <a:srgbClr val="142E3E"/>
                          </a:solidFill>
                          <a:latin typeface="Arial"/>
                          <a:ea typeface="Arial"/>
                          <a:cs typeface="Arial"/>
                        </a:rPr>
                        <a:t>REPEATABILITY_RESULTS</a:t>
                      </a:r>
                    </a:p>
                  </a:txBody>
                  <a:tcPr marL="91440" marR="91440" marT="45720" marB="45720">
                    <a:solidFill>
                      <a:srgbClr val="FFFFFF"/>
                    </a:solidFill>
                  </a:tcPr>
                </a:tc>
                <a:tc>
                  <a:txBody>
                    <a:bodyPr/>
                    <a:lstStyle/>
                    <a:p>
                      <a:r>
                        <a:rPr sz="1800" b="0">
                          <a:solidFill>
                            <a:srgbClr val="142E3E"/>
                          </a:solidFill>
                          <a:latin typeface="Arial"/>
                          <a:ea typeface="Arial"/>
                          <a:cs typeface="Arial"/>
                        </a:rPr>
                        <a:t>Could fresh TLS 1.2 sessions repeat the result?</a:t>
                      </a:r>
                    </a:p>
                  </a:txBody>
                  <a:tcPr marL="91440" marR="91440" marT="45720" marB="45720">
                    <a:solidFill>
                      <a:srgbClr val="FFFFFF"/>
                    </a:solidFill>
                  </a:tcPr>
                </a:tc>
              </a:tr>
              <a:tr h="638175">
                <a:tc>
                  <a:txBody>
                    <a:bodyPr/>
                    <a:lstStyle/>
                    <a:p>
                      <a:r>
                        <a:rPr sz="1800" b="0">
                          <a:solidFill>
                            <a:srgbClr val="142E3E"/>
                          </a:solidFill>
                          <a:latin typeface="Arial"/>
                          <a:ea typeface="Arial"/>
                          <a:cs typeface="Arial"/>
                        </a:rPr>
                        <a:t>TLS13_EXTENDED_RESULTS</a:t>
                      </a:r>
                    </a:p>
                  </a:txBody>
                  <a:tcPr marL="91440" marR="91440" marT="45720" marB="45720">
                    <a:solidFill>
                      <a:srgbClr val="E1EFEC"/>
                    </a:solidFill>
                  </a:tcPr>
                </a:tc>
                <a:tc>
                  <a:txBody>
                    <a:bodyPr/>
                    <a:lstStyle/>
                    <a:p>
                      <a:r>
                        <a:rPr sz="1800" b="0">
                          <a:solidFill>
                            <a:srgbClr val="142E3E"/>
                          </a:solidFill>
                          <a:latin typeface="Arial"/>
                          <a:ea typeface="Arial"/>
                          <a:cs typeface="Arial"/>
                        </a:rPr>
                        <a:t>Could five controlled TLS 1.3 scenarios repeat?</a:t>
                      </a:r>
                    </a:p>
                  </a:txBody>
                  <a:tcPr marL="91440" marR="91440" marT="45720" marB="45720">
                    <a:solidFill>
                      <a:srgbClr val="E1EFEC"/>
                    </a:solidFill>
                  </a:tcPr>
                </a:tc>
              </a:tr>
              <a:tr h="638175">
                <a:tc>
                  <a:txBody>
                    <a:bodyPr/>
                    <a:lstStyle/>
                    <a:p>
                      <a:r>
                        <a:rPr sz="1800" b="0">
                          <a:solidFill>
                            <a:srgbClr val="142E3E"/>
                          </a:solidFill>
                          <a:latin typeface="Arial"/>
                          <a:ea typeface="Arial"/>
                          <a:cs typeface="Arial"/>
                        </a:rPr>
                        <a:t>TLS13_BLIND_STUDY_RESULTS</a:t>
                      </a:r>
                    </a:p>
                  </a:txBody>
                  <a:tcPr marL="91440" marR="91440" marT="45720" marB="45720">
                    <a:solidFill>
                      <a:srgbClr val="FFFFFF"/>
                    </a:solidFill>
                  </a:tcPr>
                </a:tc>
                <a:tc>
                  <a:txBody>
                    <a:bodyPr/>
                    <a:lstStyle/>
                    <a:p>
                      <a:r>
                        <a:rPr sz="1800" b="0">
                          <a:solidFill>
                            <a:srgbClr val="142E3E"/>
                          </a:solidFill>
                          <a:latin typeface="Arial"/>
                          <a:ea typeface="Arial"/>
                          <a:cs typeface="Arial"/>
                        </a:rPr>
                        <a:t>Could recovery work without known messages?</a:t>
                      </a:r>
                    </a:p>
                  </a:txBody>
                  <a:tcPr marL="91440" marR="91440" marT="45720" marB="45720">
                    <a:solidFill>
                      <a:srgbClr val="FFFFFF"/>
                    </a:solidFill>
                  </a:tcPr>
                </a:tc>
              </a:tr>
              <a:tr h="638175">
                <a:tc>
                  <a:txBody>
                    <a:bodyPr/>
                    <a:lstStyle/>
                    <a:p>
                      <a:r>
                        <a:rPr sz="1800" b="0">
                          <a:solidFill>
                            <a:srgbClr val="142E3E"/>
                          </a:solidFill>
                          <a:latin typeface="Arial"/>
                          <a:ea typeface="Arial"/>
                          <a:cs typeface="Arial"/>
                        </a:rPr>
                        <a:t>TLS13_ISOLATED_VALIDATION_PLAN</a:t>
                      </a:r>
                    </a:p>
                  </a:txBody>
                  <a:tcPr marL="91440" marR="91440" marT="45720" marB="45720">
                    <a:solidFill>
                      <a:srgbClr val="E1EFEC"/>
                    </a:solidFill>
                  </a:tcPr>
                </a:tc>
                <a:tc>
                  <a:txBody>
                    <a:bodyPr/>
                    <a:lstStyle/>
                    <a:p>
                      <a:r>
                        <a:rPr sz="1800" b="0">
                          <a:solidFill>
                            <a:srgbClr val="142E3E"/>
                          </a:solidFill>
                          <a:latin typeface="Arial"/>
                          <a:ea typeface="Arial"/>
                          <a:cs typeface="Arial"/>
                        </a:rPr>
                        <a:t>What is complete, running and still planned?</a:t>
                      </a:r>
                    </a:p>
                  </a:txBody>
                  <a:tcPr marL="91440" marR="91440" marT="45720" marB="45720">
                    <a:solidFill>
                      <a:srgbClr val="E1EFEC"/>
                    </a:solidFill>
                  </a:tcPr>
                </a:tc>
              </a:tr>
            </a:tbl>
          </a:graphicData>
        </a:graphic>
      </p:graphicFrame>
      <p:sp>
        <p:nvSpPr>
          <p:cNvPr id="6" name="">
            <a:extLst xmlns:a="http://schemas.openxmlformats.org/drawingml/2006/main">
              <a:ext uri="{FF2B5EF4-FFF2-40B4-BE49-F238E27FC236}">
                <a16:creationId xmlns:a16="http://schemas.microsoft.com/office/drawing/2014/main" id="{76EA5AEE-5C0E-4AD5-87D9-2EC1DA0B740A}"/>
              </a:ext>
            </a:extLst>
          </p:cNvPr>
          <p:cNvSpPr>
            <a:spLocks xmlns:a="http://schemas.openxmlformats.org/drawingml/2006/main" noGrp="1"/>
          </p:cNvSpPr>
          <p:nvPr/>
        </p:nvSpPr>
        <p:spPr>
          <a:xfrm xmlns:a="http://schemas.openxmlformats.org/drawingml/2006/main">
            <a:off x="609600" y="554355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Separate studies stay separate. Replay is reuse of data. Pilots stay outside final samples.</a:t>
            </a:r>
          </a:p>
        </p:txBody>
      </p:sp>
    </p:spTree>
    <p:extLst>
      <p:ext uri="{BB962C8B-B14F-4D97-AF65-F5344CB8AC3E}">
        <p14:creationId xmlns:p14="http://schemas.microsoft.com/office/powerpoint/2010/main" val="17500212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2026-10-03T02:49:51.1290000Z</dcterms:created>
  <dcterms:modified xsi:type="dcterms:W3CDTF">2026-10-03T02:49:51.1290000Z</dcterms:modified>
</coreProperties>
</file>